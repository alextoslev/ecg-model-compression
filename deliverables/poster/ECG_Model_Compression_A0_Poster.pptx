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102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3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N  Normal</c:v>
          </c:tx>
          <c:spPr>
            <a:ln w="38100">
              <a:solidFill>
                <a:srgbClr val="102A4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8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  <c:pt idx="96">
                <c:v>96</c:v>
              </c:pt>
              <c:pt idx="97">
                <c:v>97</c:v>
              </c:pt>
              <c:pt idx="98">
                <c:v>98</c:v>
              </c:pt>
              <c:pt idx="99">
                <c:v>99</c:v>
              </c:pt>
              <c:pt idx="100">
                <c:v>100</c:v>
              </c:pt>
              <c:pt idx="101">
                <c:v>101</c:v>
              </c:pt>
              <c:pt idx="102">
                <c:v>102</c:v>
              </c:pt>
              <c:pt idx="103">
                <c:v>103</c:v>
              </c:pt>
              <c:pt idx="104">
                <c:v>104</c:v>
              </c:pt>
              <c:pt idx="105">
                <c:v>105</c:v>
              </c:pt>
              <c:pt idx="106">
                <c:v>106</c:v>
              </c:pt>
              <c:pt idx="107">
                <c:v>107</c:v>
              </c:pt>
              <c:pt idx="108">
                <c:v>108</c:v>
              </c:pt>
              <c:pt idx="109">
                <c:v>109</c:v>
              </c:pt>
              <c:pt idx="110">
                <c:v>110</c:v>
              </c:pt>
              <c:pt idx="111">
                <c:v>111</c:v>
              </c:pt>
              <c:pt idx="112">
                <c:v>112</c:v>
              </c:pt>
              <c:pt idx="113">
                <c:v>113</c:v>
              </c:pt>
              <c:pt idx="114">
                <c:v>114</c:v>
              </c:pt>
              <c:pt idx="115">
                <c:v>115</c:v>
              </c:pt>
              <c:pt idx="116">
                <c:v>116</c:v>
              </c:pt>
              <c:pt idx="117">
                <c:v>117</c:v>
              </c:pt>
              <c:pt idx="118">
                <c:v>118</c:v>
              </c:pt>
              <c:pt idx="119">
                <c:v>119</c:v>
              </c:pt>
              <c:pt idx="120">
                <c:v>120</c:v>
              </c:pt>
              <c:pt idx="121">
                <c:v>121</c:v>
              </c:pt>
              <c:pt idx="122">
                <c:v>122</c:v>
              </c:pt>
              <c:pt idx="123">
                <c:v>123</c:v>
              </c:pt>
              <c:pt idx="124">
                <c:v>124</c:v>
              </c:pt>
              <c:pt idx="125">
                <c:v>125</c:v>
              </c:pt>
              <c:pt idx="126">
                <c:v>126</c:v>
              </c:pt>
              <c:pt idx="127">
                <c:v>127</c:v>
              </c:pt>
              <c:pt idx="128">
                <c:v>128</c:v>
              </c:pt>
              <c:pt idx="129">
                <c:v>129</c:v>
              </c:pt>
              <c:pt idx="130">
                <c:v>130</c:v>
              </c:pt>
              <c:pt idx="131">
                <c:v>131</c:v>
              </c:pt>
              <c:pt idx="132">
                <c:v>132</c:v>
              </c:pt>
              <c:pt idx="133">
                <c:v>133</c:v>
              </c:pt>
              <c:pt idx="134">
                <c:v>134</c:v>
              </c:pt>
              <c:pt idx="135">
                <c:v>135</c:v>
              </c:pt>
              <c:pt idx="136">
                <c:v>136</c:v>
              </c:pt>
              <c:pt idx="137">
                <c:v>137</c:v>
              </c:pt>
              <c:pt idx="138">
                <c:v>138</c:v>
              </c:pt>
              <c:pt idx="139">
                <c:v>139</c:v>
              </c:pt>
              <c:pt idx="140">
                <c:v>140</c:v>
              </c:pt>
              <c:pt idx="141">
                <c:v>141</c:v>
              </c:pt>
              <c:pt idx="142">
                <c:v>142</c:v>
              </c:pt>
              <c:pt idx="143">
                <c:v>143</c:v>
              </c:pt>
              <c:pt idx="144">
                <c:v>144</c:v>
              </c:pt>
              <c:pt idx="145">
                <c:v>145</c:v>
              </c:pt>
              <c:pt idx="146">
                <c:v>146</c:v>
              </c:pt>
              <c:pt idx="147">
                <c:v>147</c:v>
              </c:pt>
              <c:pt idx="148">
                <c:v>148</c:v>
              </c:pt>
              <c:pt idx="149">
                <c:v>149</c:v>
              </c:pt>
              <c:pt idx="150">
                <c:v>150</c:v>
              </c:pt>
              <c:pt idx="151">
                <c:v>151</c:v>
              </c:pt>
              <c:pt idx="152">
                <c:v>152</c:v>
              </c:pt>
              <c:pt idx="153">
                <c:v>153</c:v>
              </c:pt>
              <c:pt idx="154">
                <c:v>154</c:v>
              </c:pt>
              <c:pt idx="155">
                <c:v>155</c:v>
              </c:pt>
              <c:pt idx="156">
                <c:v>156</c:v>
              </c:pt>
              <c:pt idx="157">
                <c:v>157</c:v>
              </c:pt>
              <c:pt idx="158">
                <c:v>158</c:v>
              </c:pt>
              <c:pt idx="159">
                <c:v>159</c:v>
              </c:pt>
              <c:pt idx="160">
                <c:v>160</c:v>
              </c:pt>
              <c:pt idx="161">
                <c:v>161</c:v>
              </c:pt>
              <c:pt idx="162">
                <c:v>162</c:v>
              </c:pt>
              <c:pt idx="163">
                <c:v>163</c:v>
              </c:pt>
              <c:pt idx="164">
                <c:v>164</c:v>
              </c:pt>
              <c:pt idx="165">
                <c:v>165</c:v>
              </c:pt>
              <c:pt idx="166">
                <c:v>166</c:v>
              </c:pt>
              <c:pt idx="167">
                <c:v>167</c:v>
              </c:pt>
              <c:pt idx="168">
                <c:v>168</c:v>
              </c:pt>
              <c:pt idx="169">
                <c:v>169</c:v>
              </c:pt>
              <c:pt idx="170">
                <c:v>170</c:v>
              </c:pt>
              <c:pt idx="171">
                <c:v>171</c:v>
              </c:pt>
              <c:pt idx="172">
                <c:v>172</c:v>
              </c:pt>
              <c:pt idx="173">
                <c:v>173</c:v>
              </c:pt>
              <c:pt idx="174">
                <c:v>174</c:v>
              </c:pt>
              <c:pt idx="175">
                <c:v>175</c:v>
              </c:pt>
              <c:pt idx="176">
                <c:v>176</c:v>
              </c:pt>
              <c:pt idx="177">
                <c:v>177</c:v>
              </c:pt>
              <c:pt idx="178">
                <c:v>178</c:v>
              </c:pt>
              <c:pt idx="179">
                <c:v>179</c:v>
              </c:pt>
              <c:pt idx="180">
                <c:v>180</c:v>
              </c:pt>
              <c:pt idx="181">
                <c:v>181</c:v>
              </c:pt>
              <c:pt idx="182">
                <c:v>182</c:v>
              </c:pt>
              <c:pt idx="183">
                <c:v>183</c:v>
              </c:pt>
              <c:pt idx="184">
                <c:v>184</c:v>
              </c:pt>
              <c:pt idx="185">
                <c:v>185</c:v>
              </c:pt>
              <c:pt idx="186">
                <c:v>186</c:v>
              </c:pt>
            </c:numLit>
          </c:cat>
          <c:val>
            <c:numLit>
              <c:formatCode>General</c:formatCode>
              <c:ptCount val="187"/>
              <c:pt idx="0">
                <c:v>5</c:v>
              </c:pt>
              <c:pt idx="1">
                <c:v>4.7582644820213318</c:v>
              </c:pt>
              <c:pt idx="2">
                <c:v>4.1115702465176582</c:v>
              </c:pt>
              <c:pt idx="3">
                <c:v>4</c:v>
              </c:pt>
              <c:pt idx="4">
                <c:v>4.08057851344347</c:v>
              </c:pt>
              <c:pt idx="5">
                <c:v>4.0785124003887177</c:v>
              </c:pt>
              <c:pt idx="6">
                <c:v>4.0661156997084618</c:v>
              </c:pt>
              <c:pt idx="7">
                <c:v>4.0495867766439915</c:v>
              </c:pt>
              <c:pt idx="8">
                <c:v>4.0475206598639488</c:v>
              </c:pt>
              <c:pt idx="9">
                <c:v>4.0351239666342735</c:v>
              </c:pt>
              <c:pt idx="10">
                <c:v>4.0309917349368334</c:v>
              </c:pt>
              <c:pt idx="11">
                <c:v>4.0289256200194359</c:v>
              </c:pt>
              <c:pt idx="12">
                <c:v>4.0351239666342735</c:v>
              </c:pt>
              <c:pt idx="13">
                <c:v>4.0268595032393932</c:v>
              </c:pt>
              <c:pt idx="14">
                <c:v>4.0392562001943588</c:v>
              </c:pt>
              <c:pt idx="15">
                <c:v>4.0351239666342735</c:v>
              </c:pt>
              <c:pt idx="16">
                <c:v>4.0433884300291538</c:v>
              </c:pt>
              <c:pt idx="17">
                <c:v>4.0475206598639488</c:v>
              </c:pt>
              <c:pt idx="18">
                <c:v>4.0537190064787865</c:v>
              </c:pt>
              <c:pt idx="19">
                <c:v>4.0537190064787865</c:v>
              </c:pt>
              <c:pt idx="20">
                <c:v>4.0702479332685471</c:v>
              </c:pt>
              <c:pt idx="21">
                <c:v>4.0723140463232994</c:v>
              </c:pt>
              <c:pt idx="22">
                <c:v>4.0847107470035553</c:v>
              </c:pt>
              <c:pt idx="23">
                <c:v>4.0971074402332306</c:v>
              </c:pt>
              <c:pt idx="24">
                <c:v>4.1219008266925812</c:v>
              </c:pt>
              <c:pt idx="25">
                <c:v>4.1322313994169235</c:v>
              </c:pt>
              <c:pt idx="26">
                <c:v>4.1694214940071106</c:v>
              </c:pt>
              <c:pt idx="27">
                <c:v>4.1962809860706329</c:v>
              </c:pt>
              <c:pt idx="28">
                <c:v>4.2148760259151459</c:v>
              </c:pt>
              <c:pt idx="29">
                <c:v>4.2355371862649918</c:v>
              </c:pt>
              <c:pt idx="30">
                <c:v>4.2541322410106659</c:v>
              </c:pt>
              <c:pt idx="31">
                <c:v>4.264462798833847</c:v>
              </c:pt>
              <c:pt idx="32">
                <c:v>4.2851239740848541</c:v>
              </c:pt>
              <c:pt idx="33">
                <c:v>4.2727272808551788</c:v>
              </c:pt>
              <c:pt idx="34">
                <c:v>4.2665289342403412</c:v>
              </c:pt>
              <c:pt idx="35">
                <c:v>4.2396694272756577</c:v>
              </c:pt>
              <c:pt idx="36">
                <c:v>4.2148760259151459</c:v>
              </c:pt>
              <c:pt idx="37">
                <c:v>4.1735537201166153</c:v>
              </c:pt>
              <c:pt idx="38">
                <c:v>4.1570248007774353</c:v>
              </c:pt>
              <c:pt idx="39">
                <c:v>4.1239669397473335</c:v>
              </c:pt>
              <c:pt idx="40">
                <c:v>4.1219008266925812</c:v>
              </c:pt>
              <c:pt idx="41">
                <c:v>4.1074380129575729</c:v>
              </c:pt>
              <c:pt idx="42">
                <c:v>4.1053718999028206</c:v>
              </c:pt>
              <c:pt idx="43">
                <c:v>4.0971074402332306</c:v>
              </c:pt>
              <c:pt idx="44">
                <c:v>4.1053718999028206</c:v>
              </c:pt>
              <c:pt idx="45">
                <c:v>4.0991735532879829</c:v>
              </c:pt>
              <c:pt idx="46">
                <c:v>4.1053718999028206</c:v>
              </c:pt>
              <c:pt idx="47">
                <c:v>4.0991735532879829</c:v>
              </c:pt>
              <c:pt idx="48">
                <c:v>4.1074380129575729</c:v>
              </c:pt>
              <c:pt idx="49">
                <c:v>4.1074380129575729</c:v>
              </c:pt>
              <c:pt idx="50">
                <c:v>4.1157024800777435</c:v>
              </c:pt>
              <c:pt idx="51">
                <c:v>4.1115702465176582</c:v>
              </c:pt>
              <c:pt idx="52">
                <c:v>4.1219008266925812</c:v>
              </c:pt>
              <c:pt idx="53">
                <c:v>4.1115702465176582</c:v>
              </c:pt>
              <c:pt idx="54">
                <c:v>4.1198347136378288</c:v>
              </c:pt>
              <c:pt idx="55">
                <c:v>4.1115702465176582</c:v>
              </c:pt>
              <c:pt idx="56">
                <c:v>4.1136363670229912</c:v>
              </c:pt>
              <c:pt idx="57">
                <c:v>4.1115702465176582</c:v>
              </c:pt>
              <c:pt idx="58">
                <c:v>4.1219008266925812</c:v>
              </c:pt>
              <c:pt idx="59">
                <c:v>4.1053718999028206</c:v>
              </c:pt>
              <c:pt idx="60">
                <c:v>4.1074380129575729</c:v>
              </c:pt>
              <c:pt idx="61">
                <c:v>4.1012396663427353</c:v>
              </c:pt>
              <c:pt idx="62">
                <c:v>4.1012396663427353</c:v>
              </c:pt>
              <c:pt idx="63">
                <c:v>4.0867768600583076</c:v>
              </c:pt>
              <c:pt idx="64">
                <c:v>4.0929752066731453</c:v>
              </c:pt>
              <c:pt idx="65">
                <c:v>4.0847107470035553</c:v>
              </c:pt>
              <c:pt idx="66">
                <c:v>4.0826446264982224</c:v>
              </c:pt>
              <c:pt idx="67">
                <c:v>4.0785124003887177</c:v>
              </c:pt>
              <c:pt idx="68">
                <c:v>4.0785124003887177</c:v>
              </c:pt>
              <c:pt idx="69">
                <c:v>4.0702479332685471</c:v>
              </c:pt>
              <c:pt idx="70">
                <c:v>4.0764462798833847</c:v>
              </c:pt>
              <c:pt idx="71">
                <c:v>4.0681818202137947</c:v>
              </c:pt>
              <c:pt idx="72">
                <c:v>4.0785124003887177</c:v>
              </c:pt>
              <c:pt idx="73">
                <c:v>4.0702479332685471</c:v>
              </c:pt>
              <c:pt idx="74">
                <c:v>4.0681818202137947</c:v>
              </c:pt>
              <c:pt idx="75">
                <c:v>4.0681818202137947</c:v>
              </c:pt>
              <c:pt idx="76">
                <c:v>4.0743801668286324</c:v>
              </c:pt>
              <c:pt idx="77">
                <c:v>4.0723140463232994</c:v>
              </c:pt>
              <c:pt idx="78">
                <c:v>4.0909090936183929</c:v>
              </c:pt>
              <c:pt idx="79">
                <c:v>4.1012396663427353</c:v>
              </c:pt>
              <c:pt idx="80">
                <c:v>4.1074380129575729</c:v>
              </c:pt>
              <c:pt idx="81">
                <c:v>4.1053718999028206</c:v>
              </c:pt>
              <c:pt idx="82">
                <c:v>4.1219008266925812</c:v>
              </c:pt>
              <c:pt idx="83">
                <c:v>4.1157024800777435</c:v>
              </c:pt>
              <c:pt idx="84">
                <c:v>4.1095041334629059</c:v>
              </c:pt>
              <c:pt idx="85">
                <c:v>4.0971074402332306</c:v>
              </c:pt>
              <c:pt idx="86">
                <c:v>4.1033057868480682</c:v>
              </c:pt>
              <c:pt idx="87">
                <c:v>4.0971074402332306</c:v>
              </c:pt>
              <c:pt idx="88">
                <c:v>4.0867768600583076</c:v>
              </c:pt>
              <c:pt idx="89">
                <c:v>4.0723140463232994</c:v>
              </c:pt>
              <c:pt idx="90">
                <c:v>4.0702479332685471</c:v>
              </c:pt>
              <c:pt idx="91">
                <c:v>4.0537190064787865</c:v>
              </c:pt>
              <c:pt idx="92">
                <c:v>4.0578512400388718</c:v>
              </c:pt>
              <c:pt idx="93">
                <c:v>4.0495867766439915</c:v>
              </c:pt>
              <c:pt idx="94">
                <c:v>4.0578512400388718</c:v>
              </c:pt>
              <c:pt idx="95">
                <c:v>4.0516528934240341</c:v>
              </c:pt>
              <c:pt idx="96">
                <c:v>4.0557851232588291</c:v>
              </c:pt>
              <c:pt idx="97">
                <c:v>4.0537190064787865</c:v>
              </c:pt>
              <c:pt idx="98">
                <c:v>4.0537190064787865</c:v>
              </c:pt>
              <c:pt idx="99">
                <c:v>4</c:v>
              </c:pt>
              <c:pt idx="100">
                <c:v>4.0123966941609979</c:v>
              </c:pt>
              <c:pt idx="101">
                <c:v>4.1880165338516235</c:v>
              </c:pt>
              <c:pt idx="102">
                <c:v>4.6818181872367859</c:v>
              </c:pt>
              <c:pt idx="103">
                <c:v>4.9752066135406494</c:v>
              </c:pt>
              <c:pt idx="104">
                <c:v>4.6157024502754211</c:v>
              </c:pt>
              <c:pt idx="105">
                <c:v>4.0413223132491112</c:v>
              </c:pt>
              <c:pt idx="106">
                <c:v>4.0123966941609979</c:v>
              </c:pt>
              <c:pt idx="107">
                <c:v>4.0867768600583076</c:v>
              </c:pt>
              <c:pt idx="108">
                <c:v>4.0661156997084618</c:v>
              </c:pt>
              <c:pt idx="109">
                <c:v>4.0661156997084618</c:v>
              </c:pt>
              <c:pt idx="110">
                <c:v>4.0516528934240341</c:v>
              </c:pt>
              <c:pt idx="111">
                <c:v>4.0392562001943588</c:v>
              </c:pt>
              <c:pt idx="112">
                <c:v>4.0433884300291538</c:v>
              </c:pt>
              <c:pt idx="113">
                <c:v>4.0330578498542309</c:v>
              </c:pt>
              <c:pt idx="114">
                <c:v>4.0413223132491112</c:v>
              </c:pt>
              <c:pt idx="115">
                <c:v>4.0351239666342735</c:v>
              </c:pt>
              <c:pt idx="116">
                <c:v>4.0454545468091965</c:v>
              </c:pt>
              <c:pt idx="117">
                <c:v>4.0413223132491112</c:v>
              </c:pt>
              <c:pt idx="118">
                <c:v>4.0454545468091965</c:v>
              </c:pt>
              <c:pt idx="119">
                <c:v>4.0433884300291538</c:v>
              </c:pt>
              <c:pt idx="120">
                <c:v>4.0495867766439915</c:v>
              </c:pt>
              <c:pt idx="121">
                <c:v>4.0475206598639488</c:v>
              </c:pt>
              <c:pt idx="122">
                <c:v>4.0640495866537094</c:v>
              </c:pt>
              <c:pt idx="123">
                <c:v>4.0681818202137947</c:v>
              </c:pt>
              <c:pt idx="124">
                <c:v>4</c:v>
              </c:pt>
              <c:pt idx="125">
                <c:v>4</c:v>
              </c:pt>
              <c:pt idx="126">
                <c:v>4</c:v>
              </c:pt>
              <c:pt idx="127">
                <c:v>4</c:v>
              </c:pt>
              <c:pt idx="128">
                <c:v>4</c:v>
              </c:pt>
              <c:pt idx="129">
                <c:v>4</c:v>
              </c:pt>
              <c:pt idx="130">
                <c:v>4</c:v>
              </c:pt>
              <c:pt idx="131">
                <c:v>4</c:v>
              </c:pt>
              <c:pt idx="132">
                <c:v>4</c:v>
              </c:pt>
              <c:pt idx="133">
                <c:v>4</c:v>
              </c:pt>
              <c:pt idx="134">
                <c:v>4</c:v>
              </c:pt>
              <c:pt idx="135">
                <c:v>4</c:v>
              </c:pt>
              <c:pt idx="136">
                <c:v>4</c:v>
              </c:pt>
              <c:pt idx="137">
                <c:v>4</c:v>
              </c:pt>
              <c:pt idx="138">
                <c:v>4</c:v>
              </c:pt>
              <c:pt idx="139">
                <c:v>4</c:v>
              </c:pt>
              <c:pt idx="140">
                <c:v>4</c:v>
              </c:pt>
              <c:pt idx="141">
                <c:v>4</c:v>
              </c:pt>
              <c:pt idx="142">
                <c:v>4</c:v>
              </c:pt>
              <c:pt idx="143">
                <c:v>4</c:v>
              </c:pt>
              <c:pt idx="144">
                <c:v>4</c:v>
              </c:pt>
              <c:pt idx="145">
                <c:v>4</c:v>
              </c:pt>
              <c:pt idx="146">
                <c:v>4</c:v>
              </c:pt>
              <c:pt idx="147">
                <c:v>4</c:v>
              </c:pt>
              <c:pt idx="148">
                <c:v>4</c:v>
              </c:pt>
              <c:pt idx="149">
                <c:v>4</c:v>
              </c:pt>
              <c:pt idx="150">
                <c:v>4</c:v>
              </c:pt>
              <c:pt idx="151">
                <c:v>4</c:v>
              </c:pt>
              <c:pt idx="152">
                <c:v>4</c:v>
              </c:pt>
              <c:pt idx="153">
                <c:v>4</c:v>
              </c:pt>
              <c:pt idx="154">
                <c:v>4</c:v>
              </c:pt>
              <c:pt idx="155">
                <c:v>4</c:v>
              </c:pt>
              <c:pt idx="156">
                <c:v>4</c:v>
              </c:pt>
              <c:pt idx="157">
                <c:v>4</c:v>
              </c:pt>
              <c:pt idx="158">
                <c:v>4</c:v>
              </c:pt>
              <c:pt idx="159">
                <c:v>4</c:v>
              </c:pt>
              <c:pt idx="160">
                <c:v>4</c:v>
              </c:pt>
              <c:pt idx="161">
                <c:v>4</c:v>
              </c:pt>
              <c:pt idx="162">
                <c:v>4</c:v>
              </c:pt>
              <c:pt idx="163">
                <c:v>4</c:v>
              </c:pt>
              <c:pt idx="164">
                <c:v>4</c:v>
              </c:pt>
              <c:pt idx="165">
                <c:v>4</c:v>
              </c:pt>
              <c:pt idx="166">
                <c:v>4</c:v>
              </c:pt>
              <c:pt idx="167">
                <c:v>4</c:v>
              </c:pt>
              <c:pt idx="168">
                <c:v>4</c:v>
              </c:pt>
              <c:pt idx="169">
                <c:v>4</c:v>
              </c:pt>
              <c:pt idx="170">
                <c:v>4</c:v>
              </c:pt>
              <c:pt idx="171">
                <c:v>4</c:v>
              </c:pt>
              <c:pt idx="172">
                <c:v>4</c:v>
              </c:pt>
              <c:pt idx="173">
                <c:v>4</c:v>
              </c:pt>
              <c:pt idx="174">
                <c:v>4</c:v>
              </c:pt>
              <c:pt idx="175">
                <c:v>4</c:v>
              </c:pt>
              <c:pt idx="176">
                <c:v>4</c:v>
              </c:pt>
              <c:pt idx="177">
                <c:v>4</c:v>
              </c:pt>
              <c:pt idx="178">
                <c:v>4</c:v>
              </c:pt>
              <c:pt idx="179">
                <c:v>4</c:v>
              </c:pt>
              <c:pt idx="180">
                <c:v>4</c:v>
              </c:pt>
              <c:pt idx="181">
                <c:v>4</c:v>
              </c:pt>
              <c:pt idx="182">
                <c:v>4</c:v>
              </c:pt>
              <c:pt idx="183">
                <c:v>4</c:v>
              </c:pt>
              <c:pt idx="184">
                <c:v>4</c:v>
              </c:pt>
              <c:pt idx="185">
                <c:v>4</c:v>
              </c:pt>
              <c:pt idx="186">
                <c:v>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CFD-474C-BAD0-79B6CFE7472B}"/>
            </c:ext>
          </c:extLst>
        </c:ser>
        <c:ser>
          <c:idx val="1"/>
          <c:order val="1"/>
          <c:tx>
            <c:v>S  Supraventricular</c:v>
          </c:tx>
          <c:spPr>
            <a:ln w="38100">
              <a:solidFill>
                <a:srgbClr val="0F766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8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  <c:pt idx="96">
                <c:v>96</c:v>
              </c:pt>
              <c:pt idx="97">
                <c:v>97</c:v>
              </c:pt>
              <c:pt idx="98">
                <c:v>98</c:v>
              </c:pt>
              <c:pt idx="99">
                <c:v>99</c:v>
              </c:pt>
              <c:pt idx="100">
                <c:v>100</c:v>
              </c:pt>
              <c:pt idx="101">
                <c:v>101</c:v>
              </c:pt>
              <c:pt idx="102">
                <c:v>102</c:v>
              </c:pt>
              <c:pt idx="103">
                <c:v>103</c:v>
              </c:pt>
              <c:pt idx="104">
                <c:v>104</c:v>
              </c:pt>
              <c:pt idx="105">
                <c:v>105</c:v>
              </c:pt>
              <c:pt idx="106">
                <c:v>106</c:v>
              </c:pt>
              <c:pt idx="107">
                <c:v>107</c:v>
              </c:pt>
              <c:pt idx="108">
                <c:v>108</c:v>
              </c:pt>
              <c:pt idx="109">
                <c:v>109</c:v>
              </c:pt>
              <c:pt idx="110">
                <c:v>110</c:v>
              </c:pt>
              <c:pt idx="111">
                <c:v>111</c:v>
              </c:pt>
              <c:pt idx="112">
                <c:v>112</c:v>
              </c:pt>
              <c:pt idx="113">
                <c:v>113</c:v>
              </c:pt>
              <c:pt idx="114">
                <c:v>114</c:v>
              </c:pt>
              <c:pt idx="115">
                <c:v>115</c:v>
              </c:pt>
              <c:pt idx="116">
                <c:v>116</c:v>
              </c:pt>
              <c:pt idx="117">
                <c:v>117</c:v>
              </c:pt>
              <c:pt idx="118">
                <c:v>118</c:v>
              </c:pt>
              <c:pt idx="119">
                <c:v>119</c:v>
              </c:pt>
              <c:pt idx="120">
                <c:v>120</c:v>
              </c:pt>
              <c:pt idx="121">
                <c:v>121</c:v>
              </c:pt>
              <c:pt idx="122">
                <c:v>122</c:v>
              </c:pt>
              <c:pt idx="123">
                <c:v>123</c:v>
              </c:pt>
              <c:pt idx="124">
                <c:v>124</c:v>
              </c:pt>
              <c:pt idx="125">
                <c:v>125</c:v>
              </c:pt>
              <c:pt idx="126">
                <c:v>126</c:v>
              </c:pt>
              <c:pt idx="127">
                <c:v>127</c:v>
              </c:pt>
              <c:pt idx="128">
                <c:v>128</c:v>
              </c:pt>
              <c:pt idx="129">
                <c:v>129</c:v>
              </c:pt>
              <c:pt idx="130">
                <c:v>130</c:v>
              </c:pt>
              <c:pt idx="131">
                <c:v>131</c:v>
              </c:pt>
              <c:pt idx="132">
                <c:v>132</c:v>
              </c:pt>
              <c:pt idx="133">
                <c:v>133</c:v>
              </c:pt>
              <c:pt idx="134">
                <c:v>134</c:v>
              </c:pt>
              <c:pt idx="135">
                <c:v>135</c:v>
              </c:pt>
              <c:pt idx="136">
                <c:v>136</c:v>
              </c:pt>
              <c:pt idx="137">
                <c:v>137</c:v>
              </c:pt>
              <c:pt idx="138">
                <c:v>138</c:v>
              </c:pt>
              <c:pt idx="139">
                <c:v>139</c:v>
              </c:pt>
              <c:pt idx="140">
                <c:v>140</c:v>
              </c:pt>
              <c:pt idx="141">
                <c:v>141</c:v>
              </c:pt>
              <c:pt idx="142">
                <c:v>142</c:v>
              </c:pt>
              <c:pt idx="143">
                <c:v>143</c:v>
              </c:pt>
              <c:pt idx="144">
                <c:v>144</c:v>
              </c:pt>
              <c:pt idx="145">
                <c:v>145</c:v>
              </c:pt>
              <c:pt idx="146">
                <c:v>146</c:v>
              </c:pt>
              <c:pt idx="147">
                <c:v>147</c:v>
              </c:pt>
              <c:pt idx="148">
                <c:v>148</c:v>
              </c:pt>
              <c:pt idx="149">
                <c:v>149</c:v>
              </c:pt>
              <c:pt idx="150">
                <c:v>150</c:v>
              </c:pt>
              <c:pt idx="151">
                <c:v>151</c:v>
              </c:pt>
              <c:pt idx="152">
                <c:v>152</c:v>
              </c:pt>
              <c:pt idx="153">
                <c:v>153</c:v>
              </c:pt>
              <c:pt idx="154">
                <c:v>154</c:v>
              </c:pt>
              <c:pt idx="155">
                <c:v>155</c:v>
              </c:pt>
              <c:pt idx="156">
                <c:v>156</c:v>
              </c:pt>
              <c:pt idx="157">
                <c:v>157</c:v>
              </c:pt>
              <c:pt idx="158">
                <c:v>158</c:v>
              </c:pt>
              <c:pt idx="159">
                <c:v>159</c:v>
              </c:pt>
              <c:pt idx="160">
                <c:v>160</c:v>
              </c:pt>
              <c:pt idx="161">
                <c:v>161</c:v>
              </c:pt>
              <c:pt idx="162">
                <c:v>162</c:v>
              </c:pt>
              <c:pt idx="163">
                <c:v>163</c:v>
              </c:pt>
              <c:pt idx="164">
                <c:v>164</c:v>
              </c:pt>
              <c:pt idx="165">
                <c:v>165</c:v>
              </c:pt>
              <c:pt idx="166">
                <c:v>166</c:v>
              </c:pt>
              <c:pt idx="167">
                <c:v>167</c:v>
              </c:pt>
              <c:pt idx="168">
                <c:v>168</c:v>
              </c:pt>
              <c:pt idx="169">
                <c:v>169</c:v>
              </c:pt>
              <c:pt idx="170">
                <c:v>170</c:v>
              </c:pt>
              <c:pt idx="171">
                <c:v>171</c:v>
              </c:pt>
              <c:pt idx="172">
                <c:v>172</c:v>
              </c:pt>
              <c:pt idx="173">
                <c:v>173</c:v>
              </c:pt>
              <c:pt idx="174">
                <c:v>174</c:v>
              </c:pt>
              <c:pt idx="175">
                <c:v>175</c:v>
              </c:pt>
              <c:pt idx="176">
                <c:v>176</c:v>
              </c:pt>
              <c:pt idx="177">
                <c:v>177</c:v>
              </c:pt>
              <c:pt idx="178">
                <c:v>178</c:v>
              </c:pt>
              <c:pt idx="179">
                <c:v>179</c:v>
              </c:pt>
              <c:pt idx="180">
                <c:v>180</c:v>
              </c:pt>
              <c:pt idx="181">
                <c:v>181</c:v>
              </c:pt>
              <c:pt idx="182">
                <c:v>182</c:v>
              </c:pt>
              <c:pt idx="183">
                <c:v>183</c:v>
              </c:pt>
              <c:pt idx="184">
                <c:v>184</c:v>
              </c:pt>
              <c:pt idx="185">
                <c:v>185</c:v>
              </c:pt>
              <c:pt idx="186">
                <c:v>186</c:v>
              </c:pt>
            </c:numLit>
          </c:cat>
          <c:val>
            <c:numLit>
              <c:formatCode>General</c:formatCode>
              <c:ptCount val="187"/>
              <c:pt idx="0">
                <c:v>4</c:v>
              </c:pt>
              <c:pt idx="1">
                <c:v>3.7589820623397827</c:v>
              </c:pt>
              <c:pt idx="2">
                <c:v>3.473053902387619</c:v>
              </c:pt>
              <c:pt idx="3">
                <c:v>3.193113774061203</c:v>
              </c:pt>
              <c:pt idx="4">
                <c:v>3.1422155648469925</c:v>
              </c:pt>
              <c:pt idx="5">
                <c:v>3.1766467094421387</c:v>
              </c:pt>
              <c:pt idx="6">
                <c:v>3.1616766452789307</c:v>
              </c:pt>
              <c:pt idx="7">
                <c:v>3.1422155648469925</c:v>
              </c:pt>
              <c:pt idx="8">
                <c:v>3.121257483959198</c:v>
              </c:pt>
              <c:pt idx="9">
                <c:v>3.1077844277024269</c:v>
              </c:pt>
              <c:pt idx="10">
                <c:v>3.0958083868026733</c:v>
              </c:pt>
              <c:pt idx="11">
                <c:v>3.0793413147330284</c:v>
              </c:pt>
              <c:pt idx="12">
                <c:v>3.0763473063707352</c:v>
              </c:pt>
              <c:pt idx="13">
                <c:v>3.0613772459328175</c:v>
              </c:pt>
              <c:pt idx="14">
                <c:v>3.0538922138512135</c:v>
              </c:pt>
              <c:pt idx="15">
                <c:v>3.0583832338452339</c:v>
              </c:pt>
              <c:pt idx="16">
                <c:v>3.056886225938797</c:v>
              </c:pt>
              <c:pt idx="17">
                <c:v>3.0598802380263805</c:v>
              </c:pt>
              <c:pt idx="18">
                <c:v>3.0793413147330284</c:v>
              </c:pt>
              <c:pt idx="19">
                <c:v>3.0943113788962364</c:v>
              </c:pt>
              <c:pt idx="20">
                <c:v>3.1152694597840309</c:v>
              </c:pt>
              <c:pt idx="21">
                <c:v>3.1497005969285965</c:v>
              </c:pt>
              <c:pt idx="22">
                <c:v>3.1766467094421387</c:v>
              </c:pt>
              <c:pt idx="23">
                <c:v>3.2335329353809357</c:v>
              </c:pt>
              <c:pt idx="24">
                <c:v>3.2814371287822723</c:v>
              </c:pt>
              <c:pt idx="25">
                <c:v>3.3083832263946533</c:v>
              </c:pt>
              <c:pt idx="26">
                <c:v>3.351796418428421</c:v>
              </c:pt>
              <c:pt idx="27">
                <c:v>3.378742516040802</c:v>
              </c:pt>
              <c:pt idx="28">
                <c:v>3.3922155797481537</c:v>
              </c:pt>
              <c:pt idx="29">
                <c:v>3.4041916131973267</c:v>
              </c:pt>
              <c:pt idx="30">
                <c:v>3.3997006118297577</c:v>
              </c:pt>
              <c:pt idx="31">
                <c:v>3.3952095806598663</c:v>
              </c:pt>
              <c:pt idx="32">
                <c:v>3.3832335472106934</c:v>
              </c:pt>
              <c:pt idx="33">
                <c:v>3.3577844202518463</c:v>
              </c:pt>
              <c:pt idx="34">
                <c:v>3.351796418428421</c:v>
              </c:pt>
              <c:pt idx="35">
                <c:v>3.344311386346817</c:v>
              </c:pt>
              <c:pt idx="36">
                <c:v>3.3113772571086884</c:v>
              </c:pt>
              <c:pt idx="37">
                <c:v>3.291916161775589</c:v>
              </c:pt>
              <c:pt idx="38">
                <c:v>3.2754490971565247</c:v>
              </c:pt>
              <c:pt idx="39">
                <c:v>3.2604790329933167</c:v>
              </c:pt>
              <c:pt idx="40">
                <c:v>3.2544910311698914</c:v>
              </c:pt>
              <c:pt idx="41">
                <c:v>3.2380239516496658</c:v>
              </c:pt>
              <c:pt idx="42">
                <c:v>3.2440119832754135</c:v>
              </c:pt>
              <c:pt idx="43">
                <c:v>3.2529940009117126</c:v>
              </c:pt>
              <c:pt idx="44">
                <c:v>3.25</c:v>
              </c:pt>
              <c:pt idx="45">
                <c:v>3.2544910311698914</c:v>
              </c:pt>
              <c:pt idx="46">
                <c:v>3.2634730637073517</c:v>
              </c:pt>
              <c:pt idx="47">
                <c:v>3.2604790329933167</c:v>
              </c:pt>
              <c:pt idx="48">
                <c:v>3.264970064163208</c:v>
              </c:pt>
              <c:pt idx="49">
                <c:v>3.2559880316257477</c:v>
              </c:pt>
              <c:pt idx="50">
                <c:v>3.2470059841871262</c:v>
              </c:pt>
              <c:pt idx="51">
                <c:v>3.2559880316257477</c:v>
              </c:pt>
              <c:pt idx="52">
                <c:v>3.2470059841871262</c:v>
              </c:pt>
              <c:pt idx="53">
                <c:v>3.2395209521055222</c:v>
              </c:pt>
              <c:pt idx="54">
                <c:v>3.2470059841871262</c:v>
              </c:pt>
              <c:pt idx="55">
                <c:v>3.2440119832754135</c:v>
              </c:pt>
              <c:pt idx="56">
                <c:v>3.2440119832754135</c:v>
              </c:pt>
              <c:pt idx="57">
                <c:v>3.235029935836792</c:v>
              </c:pt>
              <c:pt idx="58">
                <c:v>3.2335329353809357</c:v>
              </c:pt>
              <c:pt idx="59">
                <c:v>3.2470059841871262</c:v>
              </c:pt>
              <c:pt idx="60">
                <c:v>3.2395209521055222</c:v>
              </c:pt>
              <c:pt idx="61">
                <c:v>3.2200598865747452</c:v>
              </c:pt>
              <c:pt idx="62">
                <c:v>3.2200598865747452</c:v>
              </c:pt>
              <c:pt idx="63">
                <c:v>3.2380239516496658</c:v>
              </c:pt>
              <c:pt idx="64">
                <c:v>3.2455089837312698</c:v>
              </c:pt>
              <c:pt idx="65">
                <c:v>3.2335329353809357</c:v>
              </c:pt>
              <c:pt idx="66">
                <c:v>3.2365269511938095</c:v>
              </c:pt>
              <c:pt idx="67">
                <c:v>3.2514970004558563</c:v>
              </c:pt>
              <c:pt idx="68">
                <c:v>3.2245509028434753</c:v>
              </c:pt>
              <c:pt idx="69">
                <c:v>3.2035928070545197</c:v>
              </c:pt>
              <c:pt idx="70">
                <c:v>3.2185628712177277</c:v>
              </c:pt>
              <c:pt idx="71">
                <c:v>3.2095808386802673</c:v>
              </c:pt>
              <c:pt idx="72">
                <c:v>3.2065868228673935</c:v>
              </c:pt>
              <c:pt idx="73">
                <c:v>3.2020958065986633</c:v>
              </c:pt>
              <c:pt idx="74">
                <c:v>3.2110778391361237</c:v>
              </c:pt>
              <c:pt idx="75">
                <c:v>3.2245509028434753</c:v>
              </c:pt>
              <c:pt idx="76">
                <c:v>3.2110778391361237</c:v>
              </c:pt>
              <c:pt idx="77">
                <c:v>3.1976047903299332</c:v>
              </c:pt>
              <c:pt idx="78">
                <c:v>3.2035928070545197</c:v>
              </c:pt>
              <c:pt idx="79">
                <c:v>3.405688613653183</c:v>
              </c:pt>
              <c:pt idx="80">
                <c:v>3.772455096244812</c:v>
              </c:pt>
              <c:pt idx="81">
                <c:v>3.9745509028434753</c:v>
              </c:pt>
              <c:pt idx="82">
                <c:v>3.7365269660949707</c:v>
              </c:pt>
              <c:pt idx="83">
                <c:v>3.3802395164966583</c:v>
              </c:pt>
              <c:pt idx="84">
                <c:v>3.1197604760527611</c:v>
              </c:pt>
              <c:pt idx="85">
                <c:v>3</c:v>
              </c:pt>
              <c:pt idx="86">
                <c:v>3.0778443142771721</c:v>
              </c:pt>
              <c:pt idx="87">
                <c:v>3.1317365318536758</c:v>
              </c:pt>
              <c:pt idx="88">
                <c:v>3.1167664676904678</c:v>
              </c:pt>
              <c:pt idx="89">
                <c:v>3.1017964035272598</c:v>
              </c:pt>
              <c:pt idx="90">
                <c:v>3.1002994030714035</c:v>
              </c:pt>
              <c:pt idx="91">
                <c:v>3.1017964035272598</c:v>
              </c:pt>
              <c:pt idx="92">
                <c:v>3.0958083868026733</c:v>
              </c:pt>
              <c:pt idx="93">
                <c:v>3.0868263468146324</c:v>
              </c:pt>
              <c:pt idx="94">
                <c:v>3.1047904193401337</c:v>
              </c:pt>
              <c:pt idx="95">
                <c:v>3</c:v>
              </c:pt>
              <c:pt idx="96">
                <c:v>3</c:v>
              </c:pt>
              <c:pt idx="97">
                <c:v>3</c:v>
              </c:pt>
              <c:pt idx="98">
                <c:v>3</c:v>
              </c:pt>
              <c:pt idx="99">
                <c:v>3</c:v>
              </c:pt>
              <c:pt idx="100">
                <c:v>3</c:v>
              </c:pt>
              <c:pt idx="101">
                <c:v>3</c:v>
              </c:pt>
              <c:pt idx="102">
                <c:v>3</c:v>
              </c:pt>
              <c:pt idx="103">
                <c:v>3</c:v>
              </c:pt>
              <c:pt idx="104">
                <c:v>3</c:v>
              </c:pt>
              <c:pt idx="105">
                <c:v>3</c:v>
              </c:pt>
              <c:pt idx="106">
                <c:v>3</c:v>
              </c:pt>
              <c:pt idx="107">
                <c:v>3</c:v>
              </c:pt>
              <c:pt idx="108">
                <c:v>3</c:v>
              </c:pt>
              <c:pt idx="109">
                <c:v>3</c:v>
              </c:pt>
              <c:pt idx="110">
                <c:v>3</c:v>
              </c:pt>
              <c:pt idx="111">
                <c:v>3</c:v>
              </c:pt>
              <c:pt idx="112">
                <c:v>3</c:v>
              </c:pt>
              <c:pt idx="113">
                <c:v>3</c:v>
              </c:pt>
              <c:pt idx="114">
                <c:v>3</c:v>
              </c:pt>
              <c:pt idx="115">
                <c:v>3</c:v>
              </c:pt>
              <c:pt idx="116">
                <c:v>3</c:v>
              </c:pt>
              <c:pt idx="117">
                <c:v>3</c:v>
              </c:pt>
              <c:pt idx="118">
                <c:v>3</c:v>
              </c:pt>
              <c:pt idx="119">
                <c:v>3</c:v>
              </c:pt>
              <c:pt idx="120">
                <c:v>3</c:v>
              </c:pt>
              <c:pt idx="121">
                <c:v>3</c:v>
              </c:pt>
              <c:pt idx="122">
                <c:v>3</c:v>
              </c:pt>
              <c:pt idx="123">
                <c:v>3</c:v>
              </c:pt>
              <c:pt idx="124">
                <c:v>3</c:v>
              </c:pt>
              <c:pt idx="125">
                <c:v>3</c:v>
              </c:pt>
              <c:pt idx="126">
                <c:v>3</c:v>
              </c:pt>
              <c:pt idx="127">
                <c:v>3</c:v>
              </c:pt>
              <c:pt idx="128">
                <c:v>3</c:v>
              </c:pt>
              <c:pt idx="129">
                <c:v>3</c:v>
              </c:pt>
              <c:pt idx="130">
                <c:v>3</c:v>
              </c:pt>
              <c:pt idx="131">
                <c:v>3</c:v>
              </c:pt>
              <c:pt idx="132">
                <c:v>3</c:v>
              </c:pt>
              <c:pt idx="133">
                <c:v>3</c:v>
              </c:pt>
              <c:pt idx="134">
                <c:v>3</c:v>
              </c:pt>
              <c:pt idx="135">
                <c:v>3</c:v>
              </c:pt>
              <c:pt idx="136">
                <c:v>3</c:v>
              </c:pt>
              <c:pt idx="137">
                <c:v>3</c:v>
              </c:pt>
              <c:pt idx="138">
                <c:v>3</c:v>
              </c:pt>
              <c:pt idx="139">
                <c:v>3</c:v>
              </c:pt>
              <c:pt idx="140">
                <c:v>3</c:v>
              </c:pt>
              <c:pt idx="141">
                <c:v>3</c:v>
              </c:pt>
              <c:pt idx="142">
                <c:v>3</c:v>
              </c:pt>
              <c:pt idx="143">
                <c:v>3</c:v>
              </c:pt>
              <c:pt idx="144">
                <c:v>3</c:v>
              </c:pt>
              <c:pt idx="145">
                <c:v>3</c:v>
              </c:pt>
              <c:pt idx="146">
                <c:v>3</c:v>
              </c:pt>
              <c:pt idx="147">
                <c:v>3</c:v>
              </c:pt>
              <c:pt idx="148">
                <c:v>3</c:v>
              </c:pt>
              <c:pt idx="149">
                <c:v>3</c:v>
              </c:pt>
              <c:pt idx="150">
                <c:v>3</c:v>
              </c:pt>
              <c:pt idx="151">
                <c:v>3</c:v>
              </c:pt>
              <c:pt idx="152">
                <c:v>3</c:v>
              </c:pt>
              <c:pt idx="153">
                <c:v>3</c:v>
              </c:pt>
              <c:pt idx="154">
                <c:v>3</c:v>
              </c:pt>
              <c:pt idx="155">
                <c:v>3</c:v>
              </c:pt>
              <c:pt idx="156">
                <c:v>3</c:v>
              </c:pt>
              <c:pt idx="157">
                <c:v>3</c:v>
              </c:pt>
              <c:pt idx="158">
                <c:v>3</c:v>
              </c:pt>
              <c:pt idx="159">
                <c:v>3</c:v>
              </c:pt>
              <c:pt idx="160">
                <c:v>3</c:v>
              </c:pt>
              <c:pt idx="161">
                <c:v>3</c:v>
              </c:pt>
              <c:pt idx="162">
                <c:v>3</c:v>
              </c:pt>
              <c:pt idx="163">
                <c:v>3</c:v>
              </c:pt>
              <c:pt idx="164">
                <c:v>3</c:v>
              </c:pt>
              <c:pt idx="165">
                <c:v>3</c:v>
              </c:pt>
              <c:pt idx="166">
                <c:v>3</c:v>
              </c:pt>
              <c:pt idx="167">
                <c:v>3</c:v>
              </c:pt>
              <c:pt idx="168">
                <c:v>3</c:v>
              </c:pt>
              <c:pt idx="169">
                <c:v>3</c:v>
              </c:pt>
              <c:pt idx="170">
                <c:v>3</c:v>
              </c:pt>
              <c:pt idx="171">
                <c:v>3</c:v>
              </c:pt>
              <c:pt idx="172">
                <c:v>3</c:v>
              </c:pt>
              <c:pt idx="173">
                <c:v>3</c:v>
              </c:pt>
              <c:pt idx="174">
                <c:v>3</c:v>
              </c:pt>
              <c:pt idx="175">
                <c:v>3</c:v>
              </c:pt>
              <c:pt idx="176">
                <c:v>3</c:v>
              </c:pt>
              <c:pt idx="177">
                <c:v>3</c:v>
              </c:pt>
              <c:pt idx="178">
                <c:v>3</c:v>
              </c:pt>
              <c:pt idx="179">
                <c:v>3</c:v>
              </c:pt>
              <c:pt idx="180">
                <c:v>3</c:v>
              </c:pt>
              <c:pt idx="181">
                <c:v>3</c:v>
              </c:pt>
              <c:pt idx="182">
                <c:v>3</c:v>
              </c:pt>
              <c:pt idx="183">
                <c:v>3</c:v>
              </c:pt>
              <c:pt idx="184">
                <c:v>3</c:v>
              </c:pt>
              <c:pt idx="185">
                <c:v>3</c:v>
              </c:pt>
              <c:pt idx="186">
                <c:v>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5CFD-474C-BAD0-79B6CFE7472B}"/>
            </c:ext>
          </c:extLst>
        </c:ser>
        <c:ser>
          <c:idx val="2"/>
          <c:order val="2"/>
          <c:tx>
            <c:v>V  Ventricular</c:v>
          </c:tx>
          <c:spPr>
            <a:ln w="38100">
              <a:solidFill>
                <a:srgbClr val="2878B5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8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  <c:pt idx="96">
                <c:v>96</c:v>
              </c:pt>
              <c:pt idx="97">
                <c:v>97</c:v>
              </c:pt>
              <c:pt idx="98">
                <c:v>98</c:v>
              </c:pt>
              <c:pt idx="99">
                <c:v>99</c:v>
              </c:pt>
              <c:pt idx="100">
                <c:v>100</c:v>
              </c:pt>
              <c:pt idx="101">
                <c:v>101</c:v>
              </c:pt>
              <c:pt idx="102">
                <c:v>102</c:v>
              </c:pt>
              <c:pt idx="103">
                <c:v>103</c:v>
              </c:pt>
              <c:pt idx="104">
                <c:v>104</c:v>
              </c:pt>
              <c:pt idx="105">
                <c:v>105</c:v>
              </c:pt>
              <c:pt idx="106">
                <c:v>106</c:v>
              </c:pt>
              <c:pt idx="107">
                <c:v>107</c:v>
              </c:pt>
              <c:pt idx="108">
                <c:v>108</c:v>
              </c:pt>
              <c:pt idx="109">
                <c:v>109</c:v>
              </c:pt>
              <c:pt idx="110">
                <c:v>110</c:v>
              </c:pt>
              <c:pt idx="111">
                <c:v>111</c:v>
              </c:pt>
              <c:pt idx="112">
                <c:v>112</c:v>
              </c:pt>
              <c:pt idx="113">
                <c:v>113</c:v>
              </c:pt>
              <c:pt idx="114">
                <c:v>114</c:v>
              </c:pt>
              <c:pt idx="115">
                <c:v>115</c:v>
              </c:pt>
              <c:pt idx="116">
                <c:v>116</c:v>
              </c:pt>
              <c:pt idx="117">
                <c:v>117</c:v>
              </c:pt>
              <c:pt idx="118">
                <c:v>118</c:v>
              </c:pt>
              <c:pt idx="119">
                <c:v>119</c:v>
              </c:pt>
              <c:pt idx="120">
                <c:v>120</c:v>
              </c:pt>
              <c:pt idx="121">
                <c:v>121</c:v>
              </c:pt>
              <c:pt idx="122">
                <c:v>122</c:v>
              </c:pt>
              <c:pt idx="123">
                <c:v>123</c:v>
              </c:pt>
              <c:pt idx="124">
                <c:v>124</c:v>
              </c:pt>
              <c:pt idx="125">
                <c:v>125</c:v>
              </c:pt>
              <c:pt idx="126">
                <c:v>126</c:v>
              </c:pt>
              <c:pt idx="127">
                <c:v>127</c:v>
              </c:pt>
              <c:pt idx="128">
                <c:v>128</c:v>
              </c:pt>
              <c:pt idx="129">
                <c:v>129</c:v>
              </c:pt>
              <c:pt idx="130">
                <c:v>130</c:v>
              </c:pt>
              <c:pt idx="131">
                <c:v>131</c:v>
              </c:pt>
              <c:pt idx="132">
                <c:v>132</c:v>
              </c:pt>
              <c:pt idx="133">
                <c:v>133</c:v>
              </c:pt>
              <c:pt idx="134">
                <c:v>134</c:v>
              </c:pt>
              <c:pt idx="135">
                <c:v>135</c:v>
              </c:pt>
              <c:pt idx="136">
                <c:v>136</c:v>
              </c:pt>
              <c:pt idx="137">
                <c:v>137</c:v>
              </c:pt>
              <c:pt idx="138">
                <c:v>138</c:v>
              </c:pt>
              <c:pt idx="139">
                <c:v>139</c:v>
              </c:pt>
              <c:pt idx="140">
                <c:v>140</c:v>
              </c:pt>
              <c:pt idx="141">
                <c:v>141</c:v>
              </c:pt>
              <c:pt idx="142">
                <c:v>142</c:v>
              </c:pt>
              <c:pt idx="143">
                <c:v>143</c:v>
              </c:pt>
              <c:pt idx="144">
                <c:v>144</c:v>
              </c:pt>
              <c:pt idx="145">
                <c:v>145</c:v>
              </c:pt>
              <c:pt idx="146">
                <c:v>146</c:v>
              </c:pt>
              <c:pt idx="147">
                <c:v>147</c:v>
              </c:pt>
              <c:pt idx="148">
                <c:v>148</c:v>
              </c:pt>
              <c:pt idx="149">
                <c:v>149</c:v>
              </c:pt>
              <c:pt idx="150">
                <c:v>150</c:v>
              </c:pt>
              <c:pt idx="151">
                <c:v>151</c:v>
              </c:pt>
              <c:pt idx="152">
                <c:v>152</c:v>
              </c:pt>
              <c:pt idx="153">
                <c:v>153</c:v>
              </c:pt>
              <c:pt idx="154">
                <c:v>154</c:v>
              </c:pt>
              <c:pt idx="155">
                <c:v>155</c:v>
              </c:pt>
              <c:pt idx="156">
                <c:v>156</c:v>
              </c:pt>
              <c:pt idx="157">
                <c:v>157</c:v>
              </c:pt>
              <c:pt idx="158">
                <c:v>158</c:v>
              </c:pt>
              <c:pt idx="159">
                <c:v>159</c:v>
              </c:pt>
              <c:pt idx="160">
                <c:v>160</c:v>
              </c:pt>
              <c:pt idx="161">
                <c:v>161</c:v>
              </c:pt>
              <c:pt idx="162">
                <c:v>162</c:v>
              </c:pt>
              <c:pt idx="163">
                <c:v>163</c:v>
              </c:pt>
              <c:pt idx="164">
                <c:v>164</c:v>
              </c:pt>
              <c:pt idx="165">
                <c:v>165</c:v>
              </c:pt>
              <c:pt idx="166">
                <c:v>166</c:v>
              </c:pt>
              <c:pt idx="167">
                <c:v>167</c:v>
              </c:pt>
              <c:pt idx="168">
                <c:v>168</c:v>
              </c:pt>
              <c:pt idx="169">
                <c:v>169</c:v>
              </c:pt>
              <c:pt idx="170">
                <c:v>170</c:v>
              </c:pt>
              <c:pt idx="171">
                <c:v>171</c:v>
              </c:pt>
              <c:pt idx="172">
                <c:v>172</c:v>
              </c:pt>
              <c:pt idx="173">
                <c:v>173</c:v>
              </c:pt>
              <c:pt idx="174">
                <c:v>174</c:v>
              </c:pt>
              <c:pt idx="175">
                <c:v>175</c:v>
              </c:pt>
              <c:pt idx="176">
                <c:v>176</c:v>
              </c:pt>
              <c:pt idx="177">
                <c:v>177</c:v>
              </c:pt>
              <c:pt idx="178">
                <c:v>178</c:v>
              </c:pt>
              <c:pt idx="179">
                <c:v>179</c:v>
              </c:pt>
              <c:pt idx="180">
                <c:v>180</c:v>
              </c:pt>
              <c:pt idx="181">
                <c:v>181</c:v>
              </c:pt>
              <c:pt idx="182">
                <c:v>182</c:v>
              </c:pt>
              <c:pt idx="183">
                <c:v>183</c:v>
              </c:pt>
              <c:pt idx="184">
                <c:v>184</c:v>
              </c:pt>
              <c:pt idx="185">
                <c:v>185</c:v>
              </c:pt>
              <c:pt idx="186">
                <c:v>186</c:v>
              </c:pt>
            </c:numLit>
          </c:cat>
          <c:val>
            <c:numLit>
              <c:formatCode>General</c:formatCode>
              <c:ptCount val="187"/>
              <c:pt idx="0">
                <c:v>2</c:v>
              </c:pt>
              <c:pt idx="1">
                <c:v>2.0411985032260418</c:v>
              </c:pt>
              <c:pt idx="2">
                <c:v>2.1123595535755157</c:v>
              </c:pt>
              <c:pt idx="3">
                <c:v>2.1460674107074738</c:v>
              </c:pt>
              <c:pt idx="4">
                <c:v>2.2022471874952316</c:v>
              </c:pt>
              <c:pt idx="5">
                <c:v>2.3220973908901215</c:v>
              </c:pt>
              <c:pt idx="6">
                <c:v>2.3632958829402924</c:v>
              </c:pt>
              <c:pt idx="7">
                <c:v>2.4138576686382294</c:v>
              </c:pt>
              <c:pt idx="8">
                <c:v>2.4269662797451019</c:v>
              </c:pt>
              <c:pt idx="9">
                <c:v>2.4850187301635742</c:v>
              </c:pt>
              <c:pt idx="10">
                <c:v>2.5112359523773193</c:v>
              </c:pt>
              <c:pt idx="11">
                <c:v>2.5205992460250854</c:v>
              </c:pt>
              <c:pt idx="12">
                <c:v>2.5486891269683838</c:v>
              </c:pt>
              <c:pt idx="13">
                <c:v>2.5992509126663208</c:v>
              </c:pt>
              <c:pt idx="14">
                <c:v>2.6067415475845337</c:v>
              </c:pt>
              <c:pt idx="15">
                <c:v>2.6404494643211365</c:v>
              </c:pt>
              <c:pt idx="16">
                <c:v>2.6647940278053284</c:v>
              </c:pt>
              <c:pt idx="17">
                <c:v>2.7303370833396912</c:v>
              </c:pt>
              <c:pt idx="18">
                <c:v>2.7808988690376282</c:v>
              </c:pt>
              <c:pt idx="19">
                <c:v>2.8520599007606506</c:v>
              </c:pt>
              <c:pt idx="20">
                <c:v>2.8970037698745728</c:v>
              </c:pt>
              <c:pt idx="21">
                <c:v>2.9531835317611694</c:v>
              </c:pt>
              <c:pt idx="22">
                <c:v>2.9700374603271484</c:v>
              </c:pt>
              <c:pt idx="23">
                <c:v>3</c:v>
              </c:pt>
              <c:pt idx="24">
                <c:v>2.9925093650817871</c:v>
              </c:pt>
              <c:pt idx="25">
                <c:v>2.9850187301635742</c:v>
              </c:pt>
              <c:pt idx="26">
                <c:v>2.9438202381134033</c:v>
              </c:pt>
              <c:pt idx="27">
                <c:v>2.898876428604126</c:v>
              </c:pt>
              <c:pt idx="28">
                <c:v>2.8239700198173523</c:v>
              </c:pt>
              <c:pt idx="29">
                <c:v>2.7528089880943298</c:v>
              </c:pt>
              <c:pt idx="30">
                <c:v>2.7116104960441589</c:v>
              </c:pt>
              <c:pt idx="31">
                <c:v>2.6666666865348816</c:v>
              </c:pt>
              <c:pt idx="32">
                <c:v>2.6029962301254272</c:v>
              </c:pt>
              <c:pt idx="33">
                <c:v>2.5767790079116821</c:v>
              </c:pt>
              <c:pt idx="34">
                <c:v>2.5973782539367676</c:v>
              </c:pt>
              <c:pt idx="35">
                <c:v>2.670412003993988</c:v>
              </c:pt>
              <c:pt idx="36">
                <c:v>2.5955055952072144</c:v>
              </c:pt>
              <c:pt idx="37">
                <c:v>2.5131086111068726</c:v>
              </c:pt>
              <c:pt idx="38">
                <c:v>2.4232209622859955</c:v>
              </c:pt>
              <c:pt idx="39">
                <c:v>2.2771535515785217</c:v>
              </c:pt>
              <c:pt idx="40">
                <c:v>2.1198501884937286</c:v>
              </c:pt>
              <c:pt idx="41">
                <c:v>2.0823970064520836</c:v>
              </c:pt>
              <c:pt idx="42">
                <c:v>2.0224719103425741</c:v>
              </c:pt>
              <c:pt idx="43">
                <c:v>2.0393258444964886</c:v>
              </c:pt>
              <c:pt idx="44">
                <c:v>2.0543071143329144</c:v>
              </c:pt>
              <c:pt idx="45">
                <c:v>2.0636704117059708</c:v>
              </c:pt>
              <c:pt idx="46">
                <c:v>2.1985018700361252</c:v>
              </c:pt>
              <c:pt idx="47">
                <c:v>2.3033707737922668</c:v>
              </c:pt>
              <c:pt idx="48">
                <c:v>2.3558052480220795</c:v>
              </c:pt>
              <c:pt idx="49">
                <c:v>2</c:v>
              </c:pt>
              <c:pt idx="50">
                <c:v>2</c:v>
              </c:pt>
              <c:pt idx="51">
                <c:v>2</c:v>
              </c:pt>
              <c:pt idx="52">
                <c:v>2</c:v>
              </c:pt>
              <c:pt idx="53">
                <c:v>2</c:v>
              </c:pt>
              <c:pt idx="54">
                <c:v>2</c:v>
              </c:pt>
              <c:pt idx="55">
                <c:v>2</c:v>
              </c:pt>
              <c:pt idx="56">
                <c:v>2</c:v>
              </c:pt>
              <c:pt idx="57">
                <c:v>2</c:v>
              </c:pt>
              <c:pt idx="58">
                <c:v>2</c:v>
              </c:pt>
              <c:pt idx="59">
                <c:v>2</c:v>
              </c:pt>
              <c:pt idx="60">
                <c:v>2</c:v>
              </c:pt>
              <c:pt idx="61">
                <c:v>2</c:v>
              </c:pt>
              <c:pt idx="62">
                <c:v>2</c:v>
              </c:pt>
              <c:pt idx="63">
                <c:v>2</c:v>
              </c:pt>
              <c:pt idx="64">
                <c:v>2</c:v>
              </c:pt>
              <c:pt idx="65">
                <c:v>2</c:v>
              </c:pt>
              <c:pt idx="66">
                <c:v>2</c:v>
              </c:pt>
              <c:pt idx="67">
                <c:v>2</c:v>
              </c:pt>
              <c:pt idx="68">
                <c:v>2</c:v>
              </c:pt>
              <c:pt idx="69">
                <c:v>2</c:v>
              </c:pt>
              <c:pt idx="70">
                <c:v>2</c:v>
              </c:pt>
              <c:pt idx="71">
                <c:v>2</c:v>
              </c:pt>
              <c:pt idx="72">
                <c:v>2</c:v>
              </c:pt>
              <c:pt idx="73">
                <c:v>2</c:v>
              </c:pt>
              <c:pt idx="74">
                <c:v>2</c:v>
              </c:pt>
              <c:pt idx="75">
                <c:v>2</c:v>
              </c:pt>
              <c:pt idx="76">
                <c:v>2</c:v>
              </c:pt>
              <c:pt idx="77">
                <c:v>2</c:v>
              </c:pt>
              <c:pt idx="78">
                <c:v>2</c:v>
              </c:pt>
              <c:pt idx="79">
                <c:v>2</c:v>
              </c:pt>
              <c:pt idx="80">
                <c:v>2</c:v>
              </c:pt>
              <c:pt idx="81">
                <c:v>2</c:v>
              </c:pt>
              <c:pt idx="82">
                <c:v>2</c:v>
              </c:pt>
              <c:pt idx="83">
                <c:v>2</c:v>
              </c:pt>
              <c:pt idx="84">
                <c:v>2</c:v>
              </c:pt>
              <c:pt idx="85">
                <c:v>2</c:v>
              </c:pt>
              <c:pt idx="86">
                <c:v>2</c:v>
              </c:pt>
              <c:pt idx="87">
                <c:v>2</c:v>
              </c:pt>
              <c:pt idx="88">
                <c:v>2</c:v>
              </c:pt>
              <c:pt idx="89">
                <c:v>2</c:v>
              </c:pt>
              <c:pt idx="90">
                <c:v>2</c:v>
              </c:pt>
              <c:pt idx="91">
                <c:v>2</c:v>
              </c:pt>
              <c:pt idx="92">
                <c:v>2</c:v>
              </c:pt>
              <c:pt idx="93">
                <c:v>2</c:v>
              </c:pt>
              <c:pt idx="94">
                <c:v>2</c:v>
              </c:pt>
              <c:pt idx="95">
                <c:v>2</c:v>
              </c:pt>
              <c:pt idx="96">
                <c:v>2</c:v>
              </c:pt>
              <c:pt idx="97">
                <c:v>2</c:v>
              </c:pt>
              <c:pt idx="98">
                <c:v>2</c:v>
              </c:pt>
              <c:pt idx="99">
                <c:v>2</c:v>
              </c:pt>
              <c:pt idx="100">
                <c:v>2</c:v>
              </c:pt>
              <c:pt idx="101">
                <c:v>2</c:v>
              </c:pt>
              <c:pt idx="102">
                <c:v>2</c:v>
              </c:pt>
              <c:pt idx="103">
                <c:v>2</c:v>
              </c:pt>
              <c:pt idx="104">
                <c:v>2</c:v>
              </c:pt>
              <c:pt idx="105">
                <c:v>2</c:v>
              </c:pt>
              <c:pt idx="106">
                <c:v>2</c:v>
              </c:pt>
              <c:pt idx="107">
                <c:v>2</c:v>
              </c:pt>
              <c:pt idx="108">
                <c:v>2</c:v>
              </c:pt>
              <c:pt idx="109">
                <c:v>2</c:v>
              </c:pt>
              <c:pt idx="110">
                <c:v>2</c:v>
              </c:pt>
              <c:pt idx="111">
                <c:v>2</c:v>
              </c:pt>
              <c:pt idx="112">
                <c:v>2</c:v>
              </c:pt>
              <c:pt idx="113">
                <c:v>2</c:v>
              </c:pt>
              <c:pt idx="114">
                <c:v>2</c:v>
              </c:pt>
              <c:pt idx="115">
                <c:v>2</c:v>
              </c:pt>
              <c:pt idx="116">
                <c:v>2</c:v>
              </c:pt>
              <c:pt idx="117">
                <c:v>2</c:v>
              </c:pt>
              <c:pt idx="118">
                <c:v>2</c:v>
              </c:pt>
              <c:pt idx="119">
                <c:v>2</c:v>
              </c:pt>
              <c:pt idx="120">
                <c:v>2</c:v>
              </c:pt>
              <c:pt idx="121">
                <c:v>2</c:v>
              </c:pt>
              <c:pt idx="122">
                <c:v>2</c:v>
              </c:pt>
              <c:pt idx="123">
                <c:v>2</c:v>
              </c:pt>
              <c:pt idx="124">
                <c:v>2</c:v>
              </c:pt>
              <c:pt idx="125">
                <c:v>2</c:v>
              </c:pt>
              <c:pt idx="126">
                <c:v>2</c:v>
              </c:pt>
              <c:pt idx="127">
                <c:v>2</c:v>
              </c:pt>
              <c:pt idx="128">
                <c:v>2</c:v>
              </c:pt>
              <c:pt idx="129">
                <c:v>2</c:v>
              </c:pt>
              <c:pt idx="130">
                <c:v>2</c:v>
              </c:pt>
              <c:pt idx="131">
                <c:v>2</c:v>
              </c:pt>
              <c:pt idx="132">
                <c:v>2</c:v>
              </c:pt>
              <c:pt idx="133">
                <c:v>2</c:v>
              </c:pt>
              <c:pt idx="134">
                <c:v>2</c:v>
              </c:pt>
              <c:pt idx="135">
                <c:v>2</c:v>
              </c:pt>
              <c:pt idx="136">
                <c:v>2</c:v>
              </c:pt>
              <c:pt idx="137">
                <c:v>2</c:v>
              </c:pt>
              <c:pt idx="138">
                <c:v>2</c:v>
              </c:pt>
              <c:pt idx="139">
                <c:v>2</c:v>
              </c:pt>
              <c:pt idx="140">
                <c:v>2</c:v>
              </c:pt>
              <c:pt idx="141">
                <c:v>2</c:v>
              </c:pt>
              <c:pt idx="142">
                <c:v>2</c:v>
              </c:pt>
              <c:pt idx="143">
                <c:v>2</c:v>
              </c:pt>
              <c:pt idx="144">
                <c:v>2</c:v>
              </c:pt>
              <c:pt idx="145">
                <c:v>2</c:v>
              </c:pt>
              <c:pt idx="146">
                <c:v>2</c:v>
              </c:pt>
              <c:pt idx="147">
                <c:v>2</c:v>
              </c:pt>
              <c:pt idx="148">
                <c:v>2</c:v>
              </c:pt>
              <c:pt idx="149">
                <c:v>2</c:v>
              </c:pt>
              <c:pt idx="150">
                <c:v>2</c:v>
              </c:pt>
              <c:pt idx="151">
                <c:v>2</c:v>
              </c:pt>
              <c:pt idx="152">
                <c:v>2</c:v>
              </c:pt>
              <c:pt idx="153">
                <c:v>2</c:v>
              </c:pt>
              <c:pt idx="154">
                <c:v>2</c:v>
              </c:pt>
              <c:pt idx="155">
                <c:v>2</c:v>
              </c:pt>
              <c:pt idx="156">
                <c:v>2</c:v>
              </c:pt>
              <c:pt idx="157">
                <c:v>2</c:v>
              </c:pt>
              <c:pt idx="158">
                <c:v>2</c:v>
              </c:pt>
              <c:pt idx="159">
                <c:v>2</c:v>
              </c:pt>
              <c:pt idx="160">
                <c:v>2</c:v>
              </c:pt>
              <c:pt idx="161">
                <c:v>2</c:v>
              </c:pt>
              <c:pt idx="162">
                <c:v>2</c:v>
              </c:pt>
              <c:pt idx="163">
                <c:v>2</c:v>
              </c:pt>
              <c:pt idx="164">
                <c:v>2</c:v>
              </c:pt>
              <c:pt idx="165">
                <c:v>2</c:v>
              </c:pt>
              <c:pt idx="166">
                <c:v>2</c:v>
              </c:pt>
              <c:pt idx="167">
                <c:v>2</c:v>
              </c:pt>
              <c:pt idx="168">
                <c:v>2</c:v>
              </c:pt>
              <c:pt idx="169">
                <c:v>2</c:v>
              </c:pt>
              <c:pt idx="170">
                <c:v>2</c:v>
              </c:pt>
              <c:pt idx="171">
                <c:v>2</c:v>
              </c:pt>
              <c:pt idx="172">
                <c:v>2</c:v>
              </c:pt>
              <c:pt idx="173">
                <c:v>2</c:v>
              </c:pt>
              <c:pt idx="174">
                <c:v>2</c:v>
              </c:pt>
              <c:pt idx="175">
                <c:v>2</c:v>
              </c:pt>
              <c:pt idx="176">
                <c:v>2</c:v>
              </c:pt>
              <c:pt idx="177">
                <c:v>2</c:v>
              </c:pt>
              <c:pt idx="178">
                <c:v>2</c:v>
              </c:pt>
              <c:pt idx="179">
                <c:v>2</c:v>
              </c:pt>
              <c:pt idx="180">
                <c:v>2</c:v>
              </c:pt>
              <c:pt idx="181">
                <c:v>2</c:v>
              </c:pt>
              <c:pt idx="182">
                <c:v>2</c:v>
              </c:pt>
              <c:pt idx="183">
                <c:v>2</c:v>
              </c:pt>
              <c:pt idx="184">
                <c:v>2</c:v>
              </c:pt>
              <c:pt idx="185">
                <c:v>2</c:v>
              </c:pt>
              <c:pt idx="186">
                <c:v>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5CFD-474C-BAD0-79B6CFE7472B}"/>
            </c:ext>
          </c:extLst>
        </c:ser>
        <c:ser>
          <c:idx val="3"/>
          <c:order val="3"/>
          <c:tx>
            <c:v>F  Fusion</c:v>
          </c:tx>
          <c:spPr>
            <a:ln w="38100">
              <a:solidFill>
                <a:srgbClr val="F05D3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8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  <c:pt idx="96">
                <c:v>96</c:v>
              </c:pt>
              <c:pt idx="97">
                <c:v>97</c:v>
              </c:pt>
              <c:pt idx="98">
                <c:v>98</c:v>
              </c:pt>
              <c:pt idx="99">
                <c:v>99</c:v>
              </c:pt>
              <c:pt idx="100">
                <c:v>100</c:v>
              </c:pt>
              <c:pt idx="101">
                <c:v>101</c:v>
              </c:pt>
              <c:pt idx="102">
                <c:v>102</c:v>
              </c:pt>
              <c:pt idx="103">
                <c:v>103</c:v>
              </c:pt>
              <c:pt idx="104">
                <c:v>104</c:v>
              </c:pt>
              <c:pt idx="105">
                <c:v>105</c:v>
              </c:pt>
              <c:pt idx="106">
                <c:v>106</c:v>
              </c:pt>
              <c:pt idx="107">
                <c:v>107</c:v>
              </c:pt>
              <c:pt idx="108">
                <c:v>108</c:v>
              </c:pt>
              <c:pt idx="109">
                <c:v>109</c:v>
              </c:pt>
              <c:pt idx="110">
                <c:v>110</c:v>
              </c:pt>
              <c:pt idx="111">
                <c:v>111</c:v>
              </c:pt>
              <c:pt idx="112">
                <c:v>112</c:v>
              </c:pt>
              <c:pt idx="113">
                <c:v>113</c:v>
              </c:pt>
              <c:pt idx="114">
                <c:v>114</c:v>
              </c:pt>
              <c:pt idx="115">
                <c:v>115</c:v>
              </c:pt>
              <c:pt idx="116">
                <c:v>116</c:v>
              </c:pt>
              <c:pt idx="117">
                <c:v>117</c:v>
              </c:pt>
              <c:pt idx="118">
                <c:v>118</c:v>
              </c:pt>
              <c:pt idx="119">
                <c:v>119</c:v>
              </c:pt>
              <c:pt idx="120">
                <c:v>120</c:v>
              </c:pt>
              <c:pt idx="121">
                <c:v>121</c:v>
              </c:pt>
              <c:pt idx="122">
                <c:v>122</c:v>
              </c:pt>
              <c:pt idx="123">
                <c:v>123</c:v>
              </c:pt>
              <c:pt idx="124">
                <c:v>124</c:v>
              </c:pt>
              <c:pt idx="125">
                <c:v>125</c:v>
              </c:pt>
              <c:pt idx="126">
                <c:v>126</c:v>
              </c:pt>
              <c:pt idx="127">
                <c:v>127</c:v>
              </c:pt>
              <c:pt idx="128">
                <c:v>128</c:v>
              </c:pt>
              <c:pt idx="129">
                <c:v>129</c:v>
              </c:pt>
              <c:pt idx="130">
                <c:v>130</c:v>
              </c:pt>
              <c:pt idx="131">
                <c:v>131</c:v>
              </c:pt>
              <c:pt idx="132">
                <c:v>132</c:v>
              </c:pt>
              <c:pt idx="133">
                <c:v>133</c:v>
              </c:pt>
              <c:pt idx="134">
                <c:v>134</c:v>
              </c:pt>
              <c:pt idx="135">
                <c:v>135</c:v>
              </c:pt>
              <c:pt idx="136">
                <c:v>136</c:v>
              </c:pt>
              <c:pt idx="137">
                <c:v>137</c:v>
              </c:pt>
              <c:pt idx="138">
                <c:v>138</c:v>
              </c:pt>
              <c:pt idx="139">
                <c:v>139</c:v>
              </c:pt>
              <c:pt idx="140">
                <c:v>140</c:v>
              </c:pt>
              <c:pt idx="141">
                <c:v>141</c:v>
              </c:pt>
              <c:pt idx="142">
                <c:v>142</c:v>
              </c:pt>
              <c:pt idx="143">
                <c:v>143</c:v>
              </c:pt>
              <c:pt idx="144">
                <c:v>144</c:v>
              </c:pt>
              <c:pt idx="145">
                <c:v>145</c:v>
              </c:pt>
              <c:pt idx="146">
                <c:v>146</c:v>
              </c:pt>
              <c:pt idx="147">
                <c:v>147</c:v>
              </c:pt>
              <c:pt idx="148">
                <c:v>148</c:v>
              </c:pt>
              <c:pt idx="149">
                <c:v>149</c:v>
              </c:pt>
              <c:pt idx="150">
                <c:v>150</c:v>
              </c:pt>
              <c:pt idx="151">
                <c:v>151</c:v>
              </c:pt>
              <c:pt idx="152">
                <c:v>152</c:v>
              </c:pt>
              <c:pt idx="153">
                <c:v>153</c:v>
              </c:pt>
              <c:pt idx="154">
                <c:v>154</c:v>
              </c:pt>
              <c:pt idx="155">
                <c:v>155</c:v>
              </c:pt>
              <c:pt idx="156">
                <c:v>156</c:v>
              </c:pt>
              <c:pt idx="157">
                <c:v>157</c:v>
              </c:pt>
              <c:pt idx="158">
                <c:v>158</c:v>
              </c:pt>
              <c:pt idx="159">
                <c:v>159</c:v>
              </c:pt>
              <c:pt idx="160">
                <c:v>160</c:v>
              </c:pt>
              <c:pt idx="161">
                <c:v>161</c:v>
              </c:pt>
              <c:pt idx="162">
                <c:v>162</c:v>
              </c:pt>
              <c:pt idx="163">
                <c:v>163</c:v>
              </c:pt>
              <c:pt idx="164">
                <c:v>164</c:v>
              </c:pt>
              <c:pt idx="165">
                <c:v>165</c:v>
              </c:pt>
              <c:pt idx="166">
                <c:v>166</c:v>
              </c:pt>
              <c:pt idx="167">
                <c:v>167</c:v>
              </c:pt>
              <c:pt idx="168">
                <c:v>168</c:v>
              </c:pt>
              <c:pt idx="169">
                <c:v>169</c:v>
              </c:pt>
              <c:pt idx="170">
                <c:v>170</c:v>
              </c:pt>
              <c:pt idx="171">
                <c:v>171</c:v>
              </c:pt>
              <c:pt idx="172">
                <c:v>172</c:v>
              </c:pt>
              <c:pt idx="173">
                <c:v>173</c:v>
              </c:pt>
              <c:pt idx="174">
                <c:v>174</c:v>
              </c:pt>
              <c:pt idx="175">
                <c:v>175</c:v>
              </c:pt>
              <c:pt idx="176">
                <c:v>176</c:v>
              </c:pt>
              <c:pt idx="177">
                <c:v>177</c:v>
              </c:pt>
              <c:pt idx="178">
                <c:v>178</c:v>
              </c:pt>
              <c:pt idx="179">
                <c:v>179</c:v>
              </c:pt>
              <c:pt idx="180">
                <c:v>180</c:v>
              </c:pt>
              <c:pt idx="181">
                <c:v>181</c:v>
              </c:pt>
              <c:pt idx="182">
                <c:v>182</c:v>
              </c:pt>
              <c:pt idx="183">
                <c:v>183</c:v>
              </c:pt>
              <c:pt idx="184">
                <c:v>184</c:v>
              </c:pt>
              <c:pt idx="185">
                <c:v>185</c:v>
              </c:pt>
              <c:pt idx="186">
                <c:v>186</c:v>
              </c:pt>
            </c:numLit>
          </c:cat>
          <c:val>
            <c:numLit>
              <c:formatCode>General</c:formatCode>
              <c:ptCount val="187"/>
              <c:pt idx="0">
                <c:v>1.8681135177612305</c:v>
              </c:pt>
              <c:pt idx="1">
                <c:v>2</c:v>
              </c:pt>
              <c:pt idx="2">
                <c:v>1.7813021540641785</c:v>
              </c:pt>
              <c:pt idx="3">
                <c:v>1.355592668056488</c:v>
              </c:pt>
              <c:pt idx="4">
                <c:v>1.2070116847753525</c:v>
              </c:pt>
              <c:pt idx="5">
                <c:v>1.1769616007804871</c:v>
              </c:pt>
              <c:pt idx="6">
                <c:v>1.1452420651912689</c:v>
              </c:pt>
              <c:pt idx="7">
                <c:v>1.1402337253093719</c:v>
              </c:pt>
              <c:pt idx="8">
                <c:v>1.1268781274557114</c:v>
              </c:pt>
              <c:pt idx="9">
                <c:v>1.1318864822387695</c:v>
              </c:pt>
              <c:pt idx="10">
                <c:v>1.1218697801232338</c:v>
              </c:pt>
              <c:pt idx="11">
                <c:v>1.1202003359794617</c:v>
              </c:pt>
              <c:pt idx="12">
                <c:v>1.1118530854582787</c:v>
              </c:pt>
              <c:pt idx="13">
                <c:v>1.1218697801232338</c:v>
              </c:pt>
              <c:pt idx="14">
                <c:v>1.1068447381258011</c:v>
              </c:pt>
              <c:pt idx="15">
                <c:v>1.1101836413145065</c:v>
              </c:pt>
              <c:pt idx="16">
                <c:v>1.0901502519845963</c:v>
              </c:pt>
              <c:pt idx="17">
                <c:v>1.0951585993170738</c:v>
              </c:pt>
              <c:pt idx="18">
                <c:v>1.0784641057252884</c:v>
              </c:pt>
              <c:pt idx="19">
                <c:v>1.0851419046521187</c:v>
              </c:pt>
              <c:pt idx="20">
                <c:v>1.0767946541309357</c:v>
              </c:pt>
              <c:pt idx="21">
                <c:v>1.0818030014634132</c:v>
              </c:pt>
              <c:pt idx="22">
                <c:v>1.0784641057252884</c:v>
              </c:pt>
              <c:pt idx="23">
                <c:v>1.0951585993170738</c:v>
              </c:pt>
              <c:pt idx="24">
                <c:v>1.1018363907933235</c:v>
              </c:pt>
              <c:pt idx="25">
                <c:v>1.1285475790500641</c:v>
              </c:pt>
              <c:pt idx="26">
                <c:v>1.1318864822387695</c:v>
              </c:pt>
              <c:pt idx="27">
                <c:v>1.1636060029268265</c:v>
              </c:pt>
              <c:pt idx="28">
                <c:v>1.1736226975917816</c:v>
              </c:pt>
              <c:pt idx="29">
                <c:v>1.1953255385160446</c:v>
              </c:pt>
              <c:pt idx="30">
                <c:v>1.1919866502285004</c:v>
              </c:pt>
              <c:pt idx="31">
                <c:v>1.2020033448934555</c:v>
              </c:pt>
              <c:pt idx="32">
                <c:v>1.1919866502285004</c:v>
              </c:pt>
              <c:pt idx="33">
                <c:v>1.1969949901103973</c:v>
              </c:pt>
              <c:pt idx="34">
                <c:v>1.1886477470397949</c:v>
              </c:pt>
              <c:pt idx="35">
                <c:v>1.1919866502285004</c:v>
              </c:pt>
              <c:pt idx="36">
                <c:v>1.1836393922567368</c:v>
              </c:pt>
              <c:pt idx="37">
                <c:v>1.1919866502285004</c:v>
              </c:pt>
              <c:pt idx="38">
                <c:v>1.1869782954454422</c:v>
              </c:pt>
              <c:pt idx="39">
                <c:v>1.1936560869216919</c:v>
              </c:pt>
              <c:pt idx="40">
                <c:v>1.1869782954454422</c:v>
              </c:pt>
              <c:pt idx="41">
                <c:v>1.1903171986341476</c:v>
              </c:pt>
              <c:pt idx="42">
                <c:v>1.1836393922567368</c:v>
              </c:pt>
              <c:pt idx="43">
                <c:v>1.1936560869216919</c:v>
              </c:pt>
              <c:pt idx="44">
                <c:v>1.1869782954454422</c:v>
              </c:pt>
              <c:pt idx="45">
                <c:v>1.2020033448934555</c:v>
              </c:pt>
              <c:pt idx="46">
                <c:v>1.2070116847753525</c:v>
              </c:pt>
              <c:pt idx="47">
                <c:v>1.2420701235532761</c:v>
              </c:pt>
              <c:pt idx="48">
                <c:v>1.2821368873119354</c:v>
              </c:pt>
              <c:pt idx="49">
                <c:v>1.3589315414428711</c:v>
              </c:pt>
              <c:pt idx="50">
                <c:v>1.4290484189987183</c:v>
              </c:pt>
              <c:pt idx="51">
                <c:v>1.5275459289550781</c:v>
              </c:pt>
              <c:pt idx="52">
                <c:v>1.6010016798973083</c:v>
              </c:pt>
              <c:pt idx="53">
                <c:v>1.6978297233581543</c:v>
              </c:pt>
              <c:pt idx="54">
                <c:v>1.7595993280410767</c:v>
              </c:pt>
              <c:pt idx="55">
                <c:v>1.7545909881591797</c:v>
              </c:pt>
              <c:pt idx="56">
                <c:v>1.6844741106033325</c:v>
              </c:pt>
              <c:pt idx="57">
                <c:v>1.6494156718254089</c:v>
              </c:pt>
              <c:pt idx="58">
                <c:v>1.6026711463928223</c:v>
              </c:pt>
              <c:pt idx="59">
                <c:v>1.6110183596611023</c:v>
              </c:pt>
              <c:pt idx="60">
                <c:v>1.5909850001335144</c:v>
              </c:pt>
              <c:pt idx="61">
                <c:v>1.4741235375404358</c:v>
              </c:pt>
              <c:pt idx="62">
                <c:v>1.2621034979820251</c:v>
              </c:pt>
              <c:pt idx="63">
                <c:v>1.1502504199743271</c:v>
              </c:pt>
              <c:pt idx="64">
                <c:v>1.1001669466495514</c:v>
              </c:pt>
              <c:pt idx="65">
                <c:v>1.0884808003902435</c:v>
              </c:pt>
              <c:pt idx="66">
                <c:v>1.0601001679897308</c:v>
              </c:pt>
              <c:pt idx="67">
                <c:v>1.0550918206572533</c:v>
              </c:pt>
              <c:pt idx="68">
                <c:v>1.0383973270654678</c:v>
              </c:pt>
              <c:pt idx="69">
                <c:v>1.0400667786598206</c:v>
              </c:pt>
              <c:pt idx="70">
                <c:v>1.0183639395982027</c:v>
              </c:pt>
              <c:pt idx="71">
                <c:v>1.0166944917291403</c:v>
              </c:pt>
              <c:pt idx="72">
                <c:v>1</c:v>
              </c:pt>
              <c:pt idx="73">
                <c:v>1</c:v>
              </c:pt>
              <c:pt idx="74">
                <c:v>1</c:v>
              </c:pt>
              <c:pt idx="75">
                <c:v>1</c:v>
              </c:pt>
              <c:pt idx="76">
                <c:v>1</c:v>
              </c:pt>
              <c:pt idx="77">
                <c:v>1</c:v>
              </c:pt>
              <c:pt idx="78">
                <c:v>1</c:v>
              </c:pt>
              <c:pt idx="79">
                <c:v>1</c:v>
              </c:pt>
              <c:pt idx="80">
                <c:v>1</c:v>
              </c:pt>
              <c:pt idx="81">
                <c:v>1</c:v>
              </c:pt>
              <c:pt idx="82">
                <c:v>1</c:v>
              </c:pt>
              <c:pt idx="83">
                <c:v>1</c:v>
              </c:pt>
              <c:pt idx="84">
                <c:v>1</c:v>
              </c:pt>
              <c:pt idx="85">
                <c:v>1</c:v>
              </c:pt>
              <c:pt idx="86">
                <c:v>1</c:v>
              </c:pt>
              <c:pt idx="87">
                <c:v>1</c:v>
              </c:pt>
              <c:pt idx="88">
                <c:v>1</c:v>
              </c:pt>
              <c:pt idx="89">
                <c:v>1</c:v>
              </c:pt>
              <c:pt idx="90">
                <c:v>1</c:v>
              </c:pt>
              <c:pt idx="91">
                <c:v>1</c:v>
              </c:pt>
              <c:pt idx="92">
                <c:v>1</c:v>
              </c:pt>
              <c:pt idx="93">
                <c:v>1</c:v>
              </c:pt>
              <c:pt idx="94">
                <c:v>1</c:v>
              </c:pt>
              <c:pt idx="95">
                <c:v>1</c:v>
              </c:pt>
              <c:pt idx="96">
                <c:v>1</c:v>
              </c:pt>
              <c:pt idx="97">
                <c:v>1</c:v>
              </c:pt>
              <c:pt idx="98">
                <c:v>1</c:v>
              </c:pt>
              <c:pt idx="99">
                <c:v>1</c:v>
              </c:pt>
              <c:pt idx="100">
                <c:v>1</c:v>
              </c:pt>
              <c:pt idx="101">
                <c:v>1</c:v>
              </c:pt>
              <c:pt idx="102">
                <c:v>1</c:v>
              </c:pt>
              <c:pt idx="103">
                <c:v>1</c:v>
              </c:pt>
              <c:pt idx="104">
                <c:v>1</c:v>
              </c:pt>
              <c:pt idx="105">
                <c:v>1</c:v>
              </c:pt>
              <c:pt idx="106">
                <c:v>1</c:v>
              </c:pt>
              <c:pt idx="107">
                <c:v>1</c:v>
              </c:pt>
              <c:pt idx="108">
                <c:v>1</c:v>
              </c:pt>
              <c:pt idx="109">
                <c:v>1</c:v>
              </c:pt>
              <c:pt idx="110">
                <c:v>1</c:v>
              </c:pt>
              <c:pt idx="111">
                <c:v>1</c:v>
              </c:pt>
              <c:pt idx="112">
                <c:v>1</c:v>
              </c:pt>
              <c:pt idx="113">
                <c:v>1</c:v>
              </c:pt>
              <c:pt idx="114">
                <c:v>1</c:v>
              </c:pt>
              <c:pt idx="115">
                <c:v>1</c:v>
              </c:pt>
              <c:pt idx="116">
                <c:v>1</c:v>
              </c:pt>
              <c:pt idx="117">
                <c:v>1</c:v>
              </c:pt>
              <c:pt idx="118">
                <c:v>1</c:v>
              </c:pt>
              <c:pt idx="119">
                <c:v>1</c:v>
              </c:pt>
              <c:pt idx="120">
                <c:v>1</c:v>
              </c:pt>
              <c:pt idx="121">
                <c:v>1</c:v>
              </c:pt>
              <c:pt idx="122">
                <c:v>1</c:v>
              </c:pt>
              <c:pt idx="123">
                <c:v>1</c:v>
              </c:pt>
              <c:pt idx="124">
                <c:v>1</c:v>
              </c:pt>
              <c:pt idx="125">
                <c:v>1</c:v>
              </c:pt>
              <c:pt idx="126">
                <c:v>1</c:v>
              </c:pt>
              <c:pt idx="127">
                <c:v>1</c:v>
              </c:pt>
              <c:pt idx="128">
                <c:v>1</c:v>
              </c:pt>
              <c:pt idx="129">
                <c:v>1</c:v>
              </c:pt>
              <c:pt idx="130">
                <c:v>1</c:v>
              </c:pt>
              <c:pt idx="131">
                <c:v>1</c:v>
              </c:pt>
              <c:pt idx="132">
                <c:v>1</c:v>
              </c:pt>
              <c:pt idx="133">
                <c:v>1</c:v>
              </c:pt>
              <c:pt idx="134">
                <c:v>1</c:v>
              </c:pt>
              <c:pt idx="135">
                <c:v>1</c:v>
              </c:pt>
              <c:pt idx="136">
                <c:v>1</c:v>
              </c:pt>
              <c:pt idx="137">
                <c:v>1</c:v>
              </c:pt>
              <c:pt idx="138">
                <c:v>1</c:v>
              </c:pt>
              <c:pt idx="139">
                <c:v>1</c:v>
              </c:pt>
              <c:pt idx="140">
                <c:v>1</c:v>
              </c:pt>
              <c:pt idx="141">
                <c:v>1</c:v>
              </c:pt>
              <c:pt idx="142">
                <c:v>1</c:v>
              </c:pt>
              <c:pt idx="143">
                <c:v>1</c:v>
              </c:pt>
              <c:pt idx="144">
                <c:v>1</c:v>
              </c:pt>
              <c:pt idx="145">
                <c:v>1</c:v>
              </c:pt>
              <c:pt idx="146">
                <c:v>1</c:v>
              </c:pt>
              <c:pt idx="147">
                <c:v>1</c:v>
              </c:pt>
              <c:pt idx="148">
                <c:v>1</c:v>
              </c:pt>
              <c:pt idx="149">
                <c:v>1</c:v>
              </c:pt>
              <c:pt idx="150">
                <c:v>1</c:v>
              </c:pt>
              <c:pt idx="151">
                <c:v>1</c:v>
              </c:pt>
              <c:pt idx="152">
                <c:v>1</c:v>
              </c:pt>
              <c:pt idx="153">
                <c:v>1</c:v>
              </c:pt>
              <c:pt idx="154">
                <c:v>1</c:v>
              </c:pt>
              <c:pt idx="155">
                <c:v>1</c:v>
              </c:pt>
              <c:pt idx="156">
                <c:v>1</c:v>
              </c:pt>
              <c:pt idx="157">
                <c:v>1</c:v>
              </c:pt>
              <c:pt idx="158">
                <c:v>1</c:v>
              </c:pt>
              <c:pt idx="159">
                <c:v>1</c:v>
              </c:pt>
              <c:pt idx="160">
                <c:v>1</c:v>
              </c:pt>
              <c:pt idx="161">
                <c:v>1</c:v>
              </c:pt>
              <c:pt idx="162">
                <c:v>1</c:v>
              </c:pt>
              <c:pt idx="163">
                <c:v>1</c:v>
              </c:pt>
              <c:pt idx="164">
                <c:v>1</c:v>
              </c:pt>
              <c:pt idx="165">
                <c:v>1</c:v>
              </c:pt>
              <c:pt idx="166">
                <c:v>1</c:v>
              </c:pt>
              <c:pt idx="167">
                <c:v>1</c:v>
              </c:pt>
              <c:pt idx="168">
                <c:v>1</c:v>
              </c:pt>
              <c:pt idx="169">
                <c:v>1</c:v>
              </c:pt>
              <c:pt idx="170">
                <c:v>1</c:v>
              </c:pt>
              <c:pt idx="171">
                <c:v>1</c:v>
              </c:pt>
              <c:pt idx="172">
                <c:v>1</c:v>
              </c:pt>
              <c:pt idx="173">
                <c:v>1</c:v>
              </c:pt>
              <c:pt idx="174">
                <c:v>1</c:v>
              </c:pt>
              <c:pt idx="175">
                <c:v>1</c:v>
              </c:pt>
              <c:pt idx="176">
                <c:v>1</c:v>
              </c:pt>
              <c:pt idx="177">
                <c:v>1</c:v>
              </c:pt>
              <c:pt idx="178">
                <c:v>1</c:v>
              </c:pt>
              <c:pt idx="179">
                <c:v>1</c:v>
              </c:pt>
              <c:pt idx="180">
                <c:v>1</c:v>
              </c:pt>
              <c:pt idx="181">
                <c:v>1</c:v>
              </c:pt>
              <c:pt idx="182">
                <c:v>1</c:v>
              </c:pt>
              <c:pt idx="183">
                <c:v>1</c:v>
              </c:pt>
              <c:pt idx="184">
                <c:v>1</c:v>
              </c:pt>
              <c:pt idx="185">
                <c:v>1</c:v>
              </c:pt>
              <c:pt idx="186">
                <c:v>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5CFD-474C-BAD0-79B6CFE7472B}"/>
            </c:ext>
          </c:extLst>
        </c:ser>
        <c:ser>
          <c:idx val="4"/>
          <c:order val="4"/>
          <c:tx>
            <c:v>Q  Unknown</c:v>
          </c:tx>
          <c:spPr>
            <a:ln w="38100">
              <a:solidFill>
                <a:srgbClr val="8F5AA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8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  <c:pt idx="96">
                <c:v>96</c:v>
              </c:pt>
              <c:pt idx="97">
                <c:v>97</c:v>
              </c:pt>
              <c:pt idx="98">
                <c:v>98</c:v>
              </c:pt>
              <c:pt idx="99">
                <c:v>99</c:v>
              </c:pt>
              <c:pt idx="100">
                <c:v>100</c:v>
              </c:pt>
              <c:pt idx="101">
                <c:v>101</c:v>
              </c:pt>
              <c:pt idx="102">
                <c:v>102</c:v>
              </c:pt>
              <c:pt idx="103">
                <c:v>103</c:v>
              </c:pt>
              <c:pt idx="104">
                <c:v>104</c:v>
              </c:pt>
              <c:pt idx="105">
                <c:v>105</c:v>
              </c:pt>
              <c:pt idx="106">
                <c:v>106</c:v>
              </c:pt>
              <c:pt idx="107">
                <c:v>107</c:v>
              </c:pt>
              <c:pt idx="108">
                <c:v>108</c:v>
              </c:pt>
              <c:pt idx="109">
                <c:v>109</c:v>
              </c:pt>
              <c:pt idx="110">
                <c:v>110</c:v>
              </c:pt>
              <c:pt idx="111">
                <c:v>111</c:v>
              </c:pt>
              <c:pt idx="112">
                <c:v>112</c:v>
              </c:pt>
              <c:pt idx="113">
                <c:v>113</c:v>
              </c:pt>
              <c:pt idx="114">
                <c:v>114</c:v>
              </c:pt>
              <c:pt idx="115">
                <c:v>115</c:v>
              </c:pt>
              <c:pt idx="116">
                <c:v>116</c:v>
              </c:pt>
              <c:pt idx="117">
                <c:v>117</c:v>
              </c:pt>
              <c:pt idx="118">
                <c:v>118</c:v>
              </c:pt>
              <c:pt idx="119">
                <c:v>119</c:v>
              </c:pt>
              <c:pt idx="120">
                <c:v>120</c:v>
              </c:pt>
              <c:pt idx="121">
                <c:v>121</c:v>
              </c:pt>
              <c:pt idx="122">
                <c:v>122</c:v>
              </c:pt>
              <c:pt idx="123">
                <c:v>123</c:v>
              </c:pt>
              <c:pt idx="124">
                <c:v>124</c:v>
              </c:pt>
              <c:pt idx="125">
                <c:v>125</c:v>
              </c:pt>
              <c:pt idx="126">
                <c:v>126</c:v>
              </c:pt>
              <c:pt idx="127">
                <c:v>127</c:v>
              </c:pt>
              <c:pt idx="128">
                <c:v>128</c:v>
              </c:pt>
              <c:pt idx="129">
                <c:v>129</c:v>
              </c:pt>
              <c:pt idx="130">
                <c:v>130</c:v>
              </c:pt>
              <c:pt idx="131">
                <c:v>131</c:v>
              </c:pt>
              <c:pt idx="132">
                <c:v>132</c:v>
              </c:pt>
              <c:pt idx="133">
                <c:v>133</c:v>
              </c:pt>
              <c:pt idx="134">
                <c:v>134</c:v>
              </c:pt>
              <c:pt idx="135">
                <c:v>135</c:v>
              </c:pt>
              <c:pt idx="136">
                <c:v>136</c:v>
              </c:pt>
              <c:pt idx="137">
                <c:v>137</c:v>
              </c:pt>
              <c:pt idx="138">
                <c:v>138</c:v>
              </c:pt>
              <c:pt idx="139">
                <c:v>139</c:v>
              </c:pt>
              <c:pt idx="140">
                <c:v>140</c:v>
              </c:pt>
              <c:pt idx="141">
                <c:v>141</c:v>
              </c:pt>
              <c:pt idx="142">
                <c:v>142</c:v>
              </c:pt>
              <c:pt idx="143">
                <c:v>143</c:v>
              </c:pt>
              <c:pt idx="144">
                <c:v>144</c:v>
              </c:pt>
              <c:pt idx="145">
                <c:v>145</c:v>
              </c:pt>
              <c:pt idx="146">
                <c:v>146</c:v>
              </c:pt>
              <c:pt idx="147">
                <c:v>147</c:v>
              </c:pt>
              <c:pt idx="148">
                <c:v>148</c:v>
              </c:pt>
              <c:pt idx="149">
                <c:v>149</c:v>
              </c:pt>
              <c:pt idx="150">
                <c:v>150</c:v>
              </c:pt>
              <c:pt idx="151">
                <c:v>151</c:v>
              </c:pt>
              <c:pt idx="152">
                <c:v>152</c:v>
              </c:pt>
              <c:pt idx="153">
                <c:v>153</c:v>
              </c:pt>
              <c:pt idx="154">
                <c:v>154</c:v>
              </c:pt>
              <c:pt idx="155">
                <c:v>155</c:v>
              </c:pt>
              <c:pt idx="156">
                <c:v>156</c:v>
              </c:pt>
              <c:pt idx="157">
                <c:v>157</c:v>
              </c:pt>
              <c:pt idx="158">
                <c:v>158</c:v>
              </c:pt>
              <c:pt idx="159">
                <c:v>159</c:v>
              </c:pt>
              <c:pt idx="160">
                <c:v>160</c:v>
              </c:pt>
              <c:pt idx="161">
                <c:v>161</c:v>
              </c:pt>
              <c:pt idx="162">
                <c:v>162</c:v>
              </c:pt>
              <c:pt idx="163">
                <c:v>163</c:v>
              </c:pt>
              <c:pt idx="164">
                <c:v>164</c:v>
              </c:pt>
              <c:pt idx="165">
                <c:v>165</c:v>
              </c:pt>
              <c:pt idx="166">
                <c:v>166</c:v>
              </c:pt>
              <c:pt idx="167">
                <c:v>167</c:v>
              </c:pt>
              <c:pt idx="168">
                <c:v>168</c:v>
              </c:pt>
              <c:pt idx="169">
                <c:v>169</c:v>
              </c:pt>
              <c:pt idx="170">
                <c:v>170</c:v>
              </c:pt>
              <c:pt idx="171">
                <c:v>171</c:v>
              </c:pt>
              <c:pt idx="172">
                <c:v>172</c:v>
              </c:pt>
              <c:pt idx="173">
                <c:v>173</c:v>
              </c:pt>
              <c:pt idx="174">
                <c:v>174</c:v>
              </c:pt>
              <c:pt idx="175">
                <c:v>175</c:v>
              </c:pt>
              <c:pt idx="176">
                <c:v>176</c:v>
              </c:pt>
              <c:pt idx="177">
                <c:v>177</c:v>
              </c:pt>
              <c:pt idx="178">
                <c:v>178</c:v>
              </c:pt>
              <c:pt idx="179">
                <c:v>179</c:v>
              </c:pt>
              <c:pt idx="180">
                <c:v>180</c:v>
              </c:pt>
              <c:pt idx="181">
                <c:v>181</c:v>
              </c:pt>
              <c:pt idx="182">
                <c:v>182</c:v>
              </c:pt>
              <c:pt idx="183">
                <c:v>183</c:v>
              </c:pt>
              <c:pt idx="184">
                <c:v>184</c:v>
              </c:pt>
              <c:pt idx="185">
                <c:v>185</c:v>
              </c:pt>
              <c:pt idx="186">
                <c:v>186</c:v>
              </c:pt>
            </c:numLit>
          </c:cat>
          <c:val>
            <c:numLit>
              <c:formatCode>General</c:formatCode>
              <c:ptCount val="187"/>
              <c:pt idx="0">
                <c:v>1</c:v>
              </c:pt>
              <c:pt idx="1">
                <c:v>0.86913579702377319</c:v>
              </c:pt>
              <c:pt idx="2">
                <c:v>0.5407407283782959</c:v>
              </c:pt>
              <c:pt idx="3">
                <c:v>0.31604939699172974</c:v>
              </c:pt>
              <c:pt idx="4">
                <c:v>0.13333334028720856</c:v>
              </c:pt>
              <c:pt idx="5">
                <c:v>0.10370370000600815</c:v>
              </c:pt>
              <c:pt idx="6">
                <c:v>0.10370370000600815</c:v>
              </c:pt>
              <c:pt idx="7">
                <c:v>0.10864197462797165</c:v>
              </c:pt>
              <c:pt idx="8">
                <c:v>0.10123457014560699</c:v>
              </c:pt>
              <c:pt idx="9">
                <c:v>0.10864197462797165</c:v>
              </c:pt>
              <c:pt idx="10">
                <c:v>8.8888891041278839E-2</c:v>
              </c:pt>
              <c:pt idx="11">
                <c:v>9.8765432834625244E-2</c:v>
              </c:pt>
              <c:pt idx="12">
                <c:v>8.1481479108333588E-2</c:v>
              </c:pt>
              <c:pt idx="13">
                <c:v>8.3950616419315338E-2</c:v>
              </c:pt>
              <c:pt idx="14">
                <c:v>7.4074074625968933E-2</c:v>
              </c:pt>
              <c:pt idx="15">
                <c:v>7.1604937314987183E-2</c:v>
              </c:pt>
              <c:pt idx="16">
                <c:v>6.4197532832622528E-2</c:v>
              </c:pt>
              <c:pt idx="17">
                <c:v>5.9259258210659027E-2</c:v>
              </c:pt>
              <c:pt idx="18">
                <c:v>4.444444552063942E-2</c:v>
              </c:pt>
              <c:pt idx="19">
                <c:v>4.9382716417312622E-2</c:v>
              </c:pt>
              <c:pt idx="20">
                <c:v>3.7037037312984467E-2</c:v>
              </c:pt>
              <c:pt idx="21">
                <c:v>3.4567900002002716E-2</c:v>
              </c:pt>
              <c:pt idx="22">
                <c:v>2.222222276031971E-2</c:v>
              </c:pt>
              <c:pt idx="23">
                <c:v>3.2098766416311264E-2</c:v>
              </c:pt>
              <c:pt idx="24">
                <c:v>1.7283950001001358E-2</c:v>
              </c:pt>
              <c:pt idx="25">
                <c:v>9.8765436559915543E-3</c:v>
              </c:pt>
              <c:pt idx="26">
                <c:v>9.8765436559915543E-3</c:v>
              </c:pt>
              <c:pt idx="27">
                <c:v>9.8765436559915543E-3</c:v>
              </c:pt>
              <c:pt idx="28">
                <c:v>0</c:v>
              </c:pt>
              <c:pt idx="29">
                <c:v>4.9382718279957771E-3</c:v>
              </c:pt>
              <c:pt idx="30">
                <c:v>7.4074072763323784E-3</c:v>
              </c:pt>
              <c:pt idx="31">
                <c:v>1.9753087311983109E-2</c:v>
              </c:pt>
              <c:pt idx="32">
                <c:v>1.2345679104328156E-2</c:v>
              </c:pt>
              <c:pt idx="33">
                <c:v>3.2098766416311264E-2</c:v>
              </c:pt>
              <c:pt idx="34">
                <c:v>2.9629629105329514E-2</c:v>
              </c:pt>
              <c:pt idx="35">
                <c:v>5.1851850003004074E-2</c:v>
              </c:pt>
              <c:pt idx="36">
                <c:v>5.6790124624967575E-2</c:v>
              </c:pt>
              <c:pt idx="37">
                <c:v>8.6419753730297089E-2</c:v>
              </c:pt>
              <c:pt idx="38">
                <c:v>8.1481479108333588E-2</c:v>
              </c:pt>
              <c:pt idx="39">
                <c:v>0.10864197462797165</c:v>
              </c:pt>
              <c:pt idx="40">
                <c:v>0.1061728373169899</c:v>
              </c:pt>
              <c:pt idx="41">
                <c:v>0.12345679104328156</c:v>
              </c:pt>
              <c:pt idx="42">
                <c:v>0.12345679104328156</c:v>
              </c:pt>
              <c:pt idx="43">
                <c:v>0.13827160000801086</c:v>
              </c:pt>
              <c:pt idx="44">
                <c:v>0.13580246269702911</c:v>
              </c:pt>
              <c:pt idx="45">
                <c:v>0.14074073731899261</c:v>
              </c:pt>
              <c:pt idx="46">
                <c:v>0.14074073731899261</c:v>
              </c:pt>
              <c:pt idx="47">
                <c:v>0.14074073731899261</c:v>
              </c:pt>
              <c:pt idx="48">
                <c:v>0.13827160000801086</c:v>
              </c:pt>
              <c:pt idx="49">
                <c:v>0.14320987462997437</c:v>
              </c:pt>
              <c:pt idx="50">
                <c:v>0.14320987462997437</c:v>
              </c:pt>
              <c:pt idx="51">
                <c:v>0.14074073731899261</c:v>
              </c:pt>
              <c:pt idx="52">
                <c:v>0.13086420297622681</c:v>
              </c:pt>
              <c:pt idx="53">
                <c:v>0.13580246269702911</c:v>
              </c:pt>
              <c:pt idx="54">
                <c:v>0.13086420297622681</c:v>
              </c:pt>
              <c:pt idx="55">
                <c:v>0.14074073731899261</c:v>
              </c:pt>
              <c:pt idx="56">
                <c:v>0.11851851642131805</c:v>
              </c:pt>
              <c:pt idx="57">
                <c:v>0.13086420297622681</c:v>
              </c:pt>
              <c:pt idx="58">
                <c:v>0.12345679104328156</c:v>
              </c:pt>
              <c:pt idx="59">
                <c:v>0.13580246269702911</c:v>
              </c:pt>
              <c:pt idx="60">
                <c:v>0.13086420297622681</c:v>
              </c:pt>
              <c:pt idx="61">
                <c:v>0.13333334028720856</c:v>
              </c:pt>
              <c:pt idx="62">
                <c:v>0.12592592835426331</c:v>
              </c:pt>
              <c:pt idx="63">
                <c:v>0.13333334028720856</c:v>
              </c:pt>
              <c:pt idx="64">
                <c:v>0.1209876537322998</c:v>
              </c:pt>
              <c:pt idx="65">
                <c:v>0.12592592835426331</c:v>
              </c:pt>
              <c:pt idx="66">
                <c:v>0.1209876537322998</c:v>
              </c:pt>
              <c:pt idx="67">
                <c:v>0.13086420297622681</c:v>
              </c:pt>
              <c:pt idx="68">
                <c:v>0.12592592835426331</c:v>
              </c:pt>
              <c:pt idx="69">
                <c:v>0.14567901194095612</c:v>
              </c:pt>
              <c:pt idx="70">
                <c:v>0.14074073731899261</c:v>
              </c:pt>
              <c:pt idx="71">
                <c:v>0.15555556118488312</c:v>
              </c:pt>
              <c:pt idx="72">
                <c:v>0.14320987462997437</c:v>
              </c:pt>
              <c:pt idx="73">
                <c:v>0.16790123283863068</c:v>
              </c:pt>
              <c:pt idx="74">
                <c:v>0.17037037014961243</c:v>
              </c:pt>
              <c:pt idx="75">
                <c:v>0.17777778208255768</c:v>
              </c:pt>
              <c:pt idx="76">
                <c:v>0.15308642387390137</c:v>
              </c:pt>
              <c:pt idx="77">
                <c:v>0.15555556118488312</c:v>
              </c:pt>
              <c:pt idx="78">
                <c:v>0.14320987462997437</c:v>
              </c:pt>
              <c:pt idx="79">
                <c:v>0.14320987462997437</c:v>
              </c:pt>
              <c:pt idx="80">
                <c:v>0.13827160000801086</c:v>
              </c:pt>
              <c:pt idx="81">
                <c:v>0.14074073731899261</c:v>
              </c:pt>
              <c:pt idx="82">
                <c:v>0.13333334028720856</c:v>
              </c:pt>
              <c:pt idx="83">
                <c:v>0.14814814925193787</c:v>
              </c:pt>
              <c:pt idx="84">
                <c:v>0.15555556118488312</c:v>
              </c:pt>
              <c:pt idx="85">
                <c:v>0.15555556118488312</c:v>
              </c:pt>
              <c:pt idx="86">
                <c:v>0.15061728656291962</c:v>
              </c:pt>
              <c:pt idx="87">
                <c:v>0.15555556118488312</c:v>
              </c:pt>
              <c:pt idx="88">
                <c:v>0.15308642387390137</c:v>
              </c:pt>
              <c:pt idx="89">
                <c:v>0.16049382090568542</c:v>
              </c:pt>
              <c:pt idx="90">
                <c:v>0.15802469849586487</c:v>
              </c:pt>
              <c:pt idx="91">
                <c:v>0.16543209552764893</c:v>
              </c:pt>
              <c:pt idx="92">
                <c:v>0.16049382090568542</c:v>
              </c:pt>
              <c:pt idx="93">
                <c:v>0.16296295821666718</c:v>
              </c:pt>
              <c:pt idx="94">
                <c:v>0.18518517911434174</c:v>
              </c:pt>
              <c:pt idx="95">
                <c:v>0.27901235222816467</c:v>
              </c:pt>
              <c:pt idx="96">
                <c:v>0.42469134926795959</c:v>
              </c:pt>
              <c:pt idx="97">
                <c:v>0.97283953428268433</c:v>
              </c:pt>
              <c:pt idx="98">
                <c:v>0.80740737915039063</c:v>
              </c:pt>
              <c:pt idx="99">
                <c:v>0.91604936122894287</c:v>
              </c:pt>
              <c:pt idx="100">
                <c:v>0.69629627466201782</c:v>
              </c:pt>
              <c:pt idx="101">
                <c:v>0.4543209969997406</c:v>
              </c:pt>
              <c:pt idx="102">
                <c:v>0.23456789553165436</c:v>
              </c:pt>
              <c:pt idx="103">
                <c:v>0.14074073731899261</c:v>
              </c:pt>
              <c:pt idx="104">
                <c:v>0.1160493791103363</c:v>
              </c:pt>
              <c:pt idx="105">
                <c:v>0.1209876537322998</c:v>
              </c:pt>
              <c:pt idx="106">
                <c:v>0.11358024924993515</c:v>
              </c:pt>
              <c:pt idx="107">
                <c:v>0.12345679104328156</c:v>
              </c:pt>
              <c:pt idx="108">
                <c:v>0.11358024924993515</c:v>
              </c:pt>
              <c:pt idx="109">
                <c:v>0.10864197462797165</c:v>
              </c:pt>
              <c:pt idx="110">
                <c:v>0.10123457014560699</c:v>
              </c:pt>
              <c:pt idx="111">
                <c:v>9.8765432834625244E-2</c:v>
              </c:pt>
              <c:pt idx="112">
                <c:v>8.8888891041278839E-2</c:v>
              </c:pt>
              <c:pt idx="113">
                <c:v>8.8888891041278839E-2</c:v>
              </c:pt>
              <c:pt idx="114">
                <c:v>7.9012349247932434E-2</c:v>
              </c:pt>
              <c:pt idx="115">
                <c:v>7.9012349247932434E-2</c:v>
              </c:pt>
              <c:pt idx="116">
                <c:v>6.6666670143604279E-2</c:v>
              </c:pt>
              <c:pt idx="117">
                <c:v>7.6543211936950684E-2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4-5CFD-474C-BAD0-79B6CFE74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7F4ED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.2"/>
          <c:min val="-0.5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7F4ED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4ED"/>
        </a:solidFill>
        <a:ln w="0">
          <a:solidFill>
            <a:srgbClr val="F7F4ED"/>
          </a:solidFill>
          <a:prstDash val="solid"/>
        </a:ln>
      </c:spPr>
    </c:plotArea>
    <c:plotVisOnly val="1"/>
    <c:dispBlanksAs val="zero"/>
    <c:showDLblsOverMax val="1"/>
  </c:chart>
  <c:spPr>
    <a:solidFill>
      <a:srgbClr val="F7F4ED"/>
    </a:solidFill>
    <a:ln w="0">
      <a:solidFill>
        <a:srgbClr val="F7F4ED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Samples</c:v>
          </c:tx>
          <c:spPr>
            <a:solidFill>
              <a:srgbClr val="0F766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02A43"/>
              </a:solidFill>
            </c:spPr>
            <c:extLst>
              <c:ext xmlns:c16="http://schemas.microsoft.com/office/drawing/2014/chart" uri="{C3380CC4-5D6E-409C-BE32-E72D297353CC}">
                <c16:uniqueId val="{00000001-B453-47FC-84B1-95FBBF0F26CC}"/>
              </c:ext>
            </c:extLst>
          </c:dPt>
          <c:dPt>
            <c:idx val="1"/>
            <c:invertIfNegative val="0"/>
            <c:bubble3D val="0"/>
            <c:spPr>
              <a:solidFill>
                <a:srgbClr val="F05D3A"/>
              </a:solidFill>
            </c:spPr>
            <c:extLst>
              <c:ext xmlns:c16="http://schemas.microsoft.com/office/drawing/2014/chart" uri="{C3380CC4-5D6E-409C-BE32-E72D297353CC}">
                <c16:uniqueId val="{00000003-B453-47FC-84B1-95FBBF0F26CC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5-B453-47FC-84B1-95FBBF0F26CC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</c:spPr>
            <c:extLst>
              <c:ext xmlns:c16="http://schemas.microsoft.com/office/drawing/2014/chart" uri="{C3380CC4-5D6E-409C-BE32-E72D297353CC}">
                <c16:uniqueId val="{00000007-B453-47FC-84B1-95FBBF0F26CC}"/>
              </c:ext>
            </c:extLst>
          </c:dPt>
          <c:dPt>
            <c:idx val="4"/>
            <c:invertIfNegative val="0"/>
            <c:bubble3D val="0"/>
            <c:spPr>
              <a:solidFill>
                <a:srgbClr val="8F5AAE"/>
              </a:solidFill>
            </c:spPr>
            <c:extLst>
              <c:ext xmlns:c16="http://schemas.microsoft.com/office/drawing/2014/chart" uri="{C3380CC4-5D6E-409C-BE32-E72D297353CC}">
                <c16:uniqueId val="{00000009-B453-47FC-84B1-95FBBF0F26C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72B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</c:v>
              </c:pt>
              <c:pt idx="1">
                <c:v>S</c:v>
              </c:pt>
              <c:pt idx="2">
                <c:v>V</c:v>
              </c:pt>
              <c:pt idx="3">
                <c:v>F</c:v>
              </c:pt>
              <c:pt idx="4">
                <c:v>Q</c:v>
              </c:pt>
            </c:strLit>
          </c:cat>
          <c:val>
            <c:numLit>
              <c:formatCode>#,##0</c:formatCode>
              <c:ptCount val="5"/>
              <c:pt idx="0">
                <c:v>61600</c:v>
              </c:pt>
              <c:pt idx="1">
                <c:v>1889</c:v>
              </c:pt>
              <c:pt idx="2">
                <c:v>4920</c:v>
              </c:pt>
              <c:pt idx="3">
                <c:v>545</c:v>
              </c:pt>
              <c:pt idx="4">
                <c:v>5466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B453-47FC-84B1-95FBBF0F2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9050">
            <a:solidFill>
              <a:srgbClr val="C8D1D8"/>
            </a:solidFill>
            <a:prstDash val="solid"/>
          </a:ln>
        </c:spPr>
        <c:txPr>
          <a:bodyPr anchorCtr="1"/>
          <a:lstStyle/>
          <a:p>
            <a:pPr>
              <a:defRPr sz="2100">
                <a:solidFill>
                  <a:srgbClr val="172B3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5000"/>
          <c:min val="0"/>
        </c:scaling>
        <c:delete val="0"/>
        <c:axPos val="l"/>
        <c:majorGridlines>
          <c:spPr>
            <a:ln w="9525">
              <a:solidFill>
                <a:srgbClr val="C8D1D8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526777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0000"/>
      </c:valAx>
      <c:spPr>
        <a:solidFill>
          <a:srgbClr val="F7F4ED"/>
        </a:solidFill>
        <a:ln w="0">
          <a:solidFill>
            <a:srgbClr val="F7F4ED"/>
          </a:solidFill>
          <a:prstDash val="solid"/>
        </a:ln>
      </c:spPr>
    </c:plotArea>
    <c:plotVisOnly val="1"/>
    <c:dispBlanksAs val="zero"/>
    <c:showDLblsOverMax val="1"/>
  </c:chart>
  <c:spPr>
    <a:solidFill>
      <a:srgbClr val="F7F4ED"/>
    </a:solidFill>
    <a:ln w="0">
      <a:solidFill>
        <a:srgbClr val="F7F4ED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Float32</c:v>
          </c:tx>
          <c:spPr>
            <a:solidFill>
              <a:srgbClr val="0F76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172B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</c:v>
              </c:pt>
              <c:pt idx="1">
                <c:v>S</c:v>
              </c:pt>
              <c:pt idx="2">
                <c:v>V</c:v>
              </c:pt>
              <c:pt idx="3">
                <c:v>F</c:v>
              </c:pt>
              <c:pt idx="4">
                <c:v>Q</c:v>
              </c:pt>
            </c:strLit>
          </c:cat>
          <c:val>
            <c:numLit>
              <c:formatCode>0.000</c:formatCode>
              <c:ptCount val="5"/>
              <c:pt idx="0">
                <c:v>0.97399999999999998</c:v>
              </c:pt>
              <c:pt idx="1">
                <c:v>0.62</c:v>
              </c:pt>
              <c:pt idx="2">
                <c:v>0.86599999999999999</c:v>
              </c:pt>
              <c:pt idx="3">
                <c:v>0.60899999999999999</c:v>
              </c:pt>
              <c:pt idx="4">
                <c:v>0.95699999999999996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D0E-4269-A76F-A3FF81269505}"/>
            </c:ext>
          </c:extLst>
        </c:ser>
        <c:ser>
          <c:idx val="1"/>
          <c:order val="1"/>
          <c:tx>
            <c:v>INT8</c:v>
          </c:tx>
          <c:spPr>
            <a:solidFill>
              <a:srgbClr val="F05D3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172B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</c:v>
              </c:pt>
              <c:pt idx="1">
                <c:v>S</c:v>
              </c:pt>
              <c:pt idx="2">
                <c:v>V</c:v>
              </c:pt>
              <c:pt idx="3">
                <c:v>F</c:v>
              </c:pt>
              <c:pt idx="4">
                <c:v>Q</c:v>
              </c:pt>
            </c:strLit>
          </c:cat>
          <c:val>
            <c:numLit>
              <c:formatCode>0.000</c:formatCode>
              <c:ptCount val="5"/>
              <c:pt idx="0">
                <c:v>0.97299999999999998</c:v>
              </c:pt>
              <c:pt idx="1">
                <c:v>0.61099999999999999</c:v>
              </c:pt>
              <c:pt idx="2">
                <c:v>0.85599999999999998</c:v>
              </c:pt>
              <c:pt idx="3">
                <c:v>0.63300000000000001</c:v>
              </c:pt>
              <c:pt idx="4">
                <c:v>0.95399999999999996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D0E-4269-A76F-A3FF812695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9050">
            <a:solidFill>
              <a:srgbClr val="C8D1D8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172B3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C8D1D8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526777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7F4ED"/>
        </a:solidFill>
        <a:ln w="0">
          <a:solidFill>
            <a:srgbClr val="F7F4ED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950">
              <a:solidFill>
                <a:srgbClr val="172B3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4ED"/>
    </a:solidFill>
    <a:ln w="0">
      <a:solidFill>
        <a:srgbClr val="F7F4ED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Size (KiB)</c:v>
          </c:tx>
          <c:spPr>
            <a:solidFill>
              <a:srgbClr val="0F766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1-0458-446C-845D-2539FF58C8BD}"/>
              </c:ext>
            </c:extLst>
          </c:dPt>
          <c:dPt>
            <c:idx val="1"/>
            <c:invertIfNegative val="0"/>
            <c:bubble3D val="0"/>
            <c:spPr>
              <a:solidFill>
                <a:srgbClr val="F05D3A"/>
              </a:solidFill>
            </c:spPr>
            <c:extLst>
              <c:ext xmlns:c16="http://schemas.microsoft.com/office/drawing/2014/chart" uri="{C3380CC4-5D6E-409C-BE32-E72D297353CC}">
                <c16:uniqueId val="{00000003-0458-446C-845D-2539FF58C8B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556D2D7-410E-4ABE-A97C-3356AA767995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458-446C-845D-2539FF58C8B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985BEDF-0A76-4C12-A2A6-1E6D3DF82E01}" type="VALUE">
                      <a:rPr lang="en-US" smtClean="0"/>
                      <a:pPr/>
                      <a:t>[VALUE]</a:t>
                    </a:fld>
                    <a:r>
                      <a:rPr lang="en-US"/>
                      <a:t> KB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458-446C-845D-2539FF58C8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 b="1">
                    <a:solidFill>
                      <a:srgbClr val="172B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Float32</c:v>
              </c:pt>
              <c:pt idx="1">
                <c:v>INT8</c:v>
              </c:pt>
            </c:strLit>
          </c:cat>
          <c:val>
            <c:numLit>
              <c:formatCode>0.0</c:formatCode>
              <c:ptCount val="2"/>
              <c:pt idx="0">
                <c:v>88.2</c:v>
              </c:pt>
              <c:pt idx="1">
                <c:v>23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0458-446C-845D-2539FF58C8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9050">
            <a:solidFill>
              <a:srgbClr val="C8D1D8"/>
            </a:solidFill>
            <a:prstDash val="solid"/>
          </a:ln>
        </c:spPr>
        <c:txPr>
          <a:bodyPr anchorCtr="1"/>
          <a:lstStyle/>
          <a:p>
            <a:pPr>
              <a:defRPr sz="2100">
                <a:solidFill>
                  <a:srgbClr val="172B3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4ED"/>
        </a:solidFill>
        <a:ln w="0">
          <a:solidFill>
            <a:srgbClr val="F7F4ED"/>
          </a:solidFill>
          <a:prstDash val="solid"/>
        </a:ln>
      </c:spPr>
    </c:plotArea>
    <c:plotVisOnly val="1"/>
    <c:dispBlanksAs val="zero"/>
    <c:showDLblsOverMax val="1"/>
  </c:chart>
  <c:spPr>
    <a:solidFill>
      <a:srgbClr val="F7F4ED"/>
    </a:solidFill>
    <a:ln w="0">
      <a:solidFill>
        <a:srgbClr val="F7F4ED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C:/Users/alext/Documents/heidelberg/2Semester/ecg-model-compression/results/final_cap4_comparison/baseline_vs_int8_summary.csv - final float32 and int8 accuracy, loss, macro metrics, model size, tensor arena, and ESP32 latency.</a:t>
            </a:r>
          </a:p>
          <a:p>
            <a:r>
              <a:t>- C:/Users/alext/Documents/heidelberg/2Semester/ecg-model-compression/results/final_cap4_comparison/comparison_plots/baseline_vs_int8_per_class_f1.png - final per-class F1 values used to recreate an editable chart.</a:t>
            </a:r>
          </a:p>
          <a:p>
            <a:r>
              <a:t>- C:/Users/alext/Documents/heidelberg/2Semester/ecg-model-compression/results/final_cap4_comparison/quantized_plots/int8_confusion_matrix_normalized.png - normalized final int8 confusion values used to recreate an editable matrix.</a:t>
            </a:r>
          </a:p>
          <a:p>
            <a:r>
              <a:t>- C:/Users/alext/Documents/heidelberg/2Semester/ecg-model-compression/results/improved_cnn_scratch/metrics.json - training class counts, final architecture, parameter count, and augmentation configuration.</a:t>
            </a:r>
          </a:p>
          <a:p>
            <a:r>
              <a:t>- C:/Users/alext/Documents/heidelberg/2Semester/ecg-model-compression/src/models/cnn1d.py - from-scratch CNN architecture and weighted softmax-cross-entropy implementation.</a:t>
            </a:r>
          </a:p>
          <a:p>
            <a:r>
              <a:t>- C:/Users/alext/Documents/heidelberg/2Semester/ecg-model-compression/src/train_cnn.py - capped balanced class weights, rare-class augmentation, and shuffle/weighted/balanced sampling implementations.</a:t>
            </a:r>
          </a:p>
          <a:p>
            <a:r>
              <a:t>- C:/Users/alext/Documents/heidelberg/2Semester/ecg-model-compression/src/compression/quantize_tflite.py - full-integer TensorFlow Lite conversion and representative-dataset calibration.</a:t>
            </a:r>
          </a:p>
          <a:p>
            <a:r>
              <a:t>- C:/Users/alext/Documents/heidelberg/2Semester/AP_NN/ecg-classification/ecg-classification/main/main_functions.cc - ESP32 TensorFlow Lite Micro tensor arena, inference, timing, and output handling.</a:t>
            </a:r>
          </a:p>
          <a:p>
            <a:r>
              <a:t>- C:/Users/alext/Documents/heidelberg/2Semester/ecg-model-compression/data/processed/mitbih_test.csv - local ECG beat segments used only to render representative editable signal charts.</a:t>
            </a:r>
          </a:p>
          <a:p>
            <a:r>
              <a:t>[/Sources]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hart" Target="../charts/chart1.xml"/><Relationship Id="rId7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header-background">
            <a:extLst>
              <a:ext uri="{FF2B5EF4-FFF2-40B4-BE49-F238E27FC236}">
                <a16:creationId xmlns:a16="http://schemas.microsoft.com/office/drawing/2014/main" id="{F2E31BA3-D69E-4825-9AB2-F4E3FA64D8CB}"/>
              </a:ext>
            </a:extLst>
          </p:cNvPr>
          <p:cNvSpPr>
            <a:spLocks noGrp="1"/>
          </p:cNvSpPr>
          <p:nvPr/>
        </p:nvSpPr>
        <p:spPr>
          <a:xfrm>
            <a:off x="-2063262" y="0"/>
            <a:ext cx="34794093" cy="5905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eader-ecg-line">
            <a:extLst>
              <a:ext uri="{FF2B5EF4-FFF2-40B4-BE49-F238E27FC236}">
                <a16:creationId xmlns:a16="http://schemas.microsoft.com/office/drawing/2014/main" id="{78A106C2-A647-4CB8-8D22-D8E5A8C9EEF2}"/>
              </a:ext>
            </a:extLst>
          </p:cNvPr>
          <p:cNvSpPr>
            <a:spLocks noGrp="1"/>
          </p:cNvSpPr>
          <p:nvPr/>
        </p:nvSpPr>
        <p:spPr>
          <a:xfrm>
            <a:off x="12984480" y="1215390"/>
            <a:ext cx="3429000" cy="0"/>
          </a:xfrm>
          <a:prstGeom prst="line">
            <a:avLst/>
          </a:prstGeom>
          <a:noFill/>
          <a:ln w="114300">
            <a:solidFill>
              <a:srgbClr val="F05D3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3FCECED-86E3-47E9-8051-7B729CE0E9F8}"/>
              </a:ext>
            </a:extLst>
          </p:cNvPr>
          <p:cNvSpPr>
            <a:spLocks noGrp="1"/>
          </p:cNvSpPr>
          <p:nvPr/>
        </p:nvSpPr>
        <p:spPr>
          <a:xfrm>
            <a:off x="1428750" y="1238250"/>
            <a:ext cx="274224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900" b="1">
                <a:solidFill>
                  <a:srgbClr val="FFFFFF"/>
                </a:solidFill>
              </a:defRPr>
            </a:pPr>
            <a:r>
              <a:rPr sz="9900" b="1" dirty="0">
                <a:solidFill>
                  <a:srgbClr val="FFFFFF"/>
                </a:solidFill>
              </a:rPr>
              <a:t>Tiny ECG Classification on ESP32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9AD1E71-5001-4933-A809-ED9D72A10553}"/>
              </a:ext>
            </a:extLst>
          </p:cNvPr>
          <p:cNvSpPr>
            <a:spLocks noGrp="1"/>
          </p:cNvSpPr>
          <p:nvPr/>
        </p:nvSpPr>
        <p:spPr>
          <a:xfrm>
            <a:off x="1476375" y="3000375"/>
            <a:ext cx="2381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E9C46A"/>
                </a:solidFill>
              </a:defRPr>
            </a:pPr>
            <a:r>
              <a:rPr lang="en-US" sz="4050" b="1" dirty="0">
                <a:solidFill>
                  <a:srgbClr val="E9C46A"/>
                </a:solidFill>
              </a:rPr>
              <a:t>              </a:t>
            </a:r>
            <a:r>
              <a:rPr sz="4050" b="1" dirty="0">
                <a:solidFill>
                  <a:srgbClr val="E9C46A"/>
                </a:solidFill>
              </a:rPr>
              <a:t>A 73.9% smaller full-int8 CNN with 95.1% test accuracy</a:t>
            </a:r>
          </a:p>
        </p:txBody>
      </p:sp>
      <p:sp>
        <p:nvSpPr>
          <p:cNvPr id="5" name="authors">
            <a:extLst>
              <a:ext uri="{FF2B5EF4-FFF2-40B4-BE49-F238E27FC236}">
                <a16:creationId xmlns:a16="http://schemas.microsoft.com/office/drawing/2014/main" id="{447AA965-8400-4B78-A545-B115351CB7C9}"/>
              </a:ext>
            </a:extLst>
          </p:cNvPr>
          <p:cNvSpPr>
            <a:spLocks noGrp="1"/>
          </p:cNvSpPr>
          <p:nvPr/>
        </p:nvSpPr>
        <p:spPr>
          <a:xfrm>
            <a:off x="1476375" y="4238625"/>
            <a:ext cx="1381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 dirty="0">
                <a:solidFill>
                  <a:srgbClr val="FFFFFF"/>
                </a:solidFill>
              </a:rPr>
              <a:t>Ale</a:t>
            </a:r>
            <a:r>
              <a:rPr lang="en-US" sz="2850" b="1" dirty="0">
                <a:solidFill>
                  <a:srgbClr val="FFFFFF"/>
                </a:solidFill>
              </a:rPr>
              <a:t>ksandar</a:t>
            </a:r>
            <a:r>
              <a:rPr sz="2850" b="1" dirty="0">
                <a:solidFill>
                  <a:srgbClr val="FFFFFF"/>
                </a:solidFill>
              </a:rPr>
              <a:t> </a:t>
            </a:r>
            <a:r>
              <a:rPr sz="2850" b="1" dirty="0" err="1">
                <a:solidFill>
                  <a:srgbClr val="FFFFFF"/>
                </a:solidFill>
              </a:rPr>
              <a:t>Toslev</a:t>
            </a:r>
            <a:r>
              <a:rPr sz="2850" b="1" dirty="0">
                <a:solidFill>
                  <a:srgbClr val="FFFFFF"/>
                </a:solidFill>
              </a:rPr>
              <a:t>  |  Luka </a:t>
            </a:r>
            <a:r>
              <a:rPr sz="2850" b="1" dirty="0" err="1">
                <a:solidFill>
                  <a:srgbClr val="FFFFFF"/>
                </a:solidFill>
              </a:rPr>
              <a:t>Zotovikj</a:t>
            </a:r>
            <a:endParaRPr sz="2850" b="1" dirty="0">
              <a:solidFill>
                <a:srgbClr val="FFFFFF"/>
              </a:solidFill>
            </a:endParaRPr>
          </a:p>
        </p:txBody>
      </p:sp>
      <p:sp>
        <p:nvSpPr>
          <p:cNvPr id="6" name="institution">
            <a:extLst>
              <a:ext uri="{FF2B5EF4-FFF2-40B4-BE49-F238E27FC236}">
                <a16:creationId xmlns:a16="http://schemas.microsoft.com/office/drawing/2014/main" id="{54BDA869-634C-4D7B-937D-E53C049CC82E}"/>
              </a:ext>
            </a:extLst>
          </p:cNvPr>
          <p:cNvSpPr>
            <a:spLocks noGrp="1"/>
          </p:cNvSpPr>
          <p:nvPr/>
        </p:nvSpPr>
        <p:spPr>
          <a:xfrm>
            <a:off x="1476375" y="4905375"/>
            <a:ext cx="2095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0">
                <a:solidFill>
                  <a:srgbClr val="D9E2EC"/>
                </a:solidFill>
              </a:defRPr>
            </a:pPr>
            <a:r>
              <a:rPr sz="2175" b="0" dirty="0">
                <a:solidFill>
                  <a:srgbClr val="D9E2EC"/>
                </a:solidFill>
              </a:rPr>
              <a:t>Heidelberg University  |  </a:t>
            </a:r>
            <a:r>
              <a:rPr lang="en-US" sz="2175" dirty="0"/>
              <a:t>Beginner's Practical Neural Networks from Scratch  </a:t>
            </a:r>
            <a:r>
              <a:rPr sz="2175" b="0" dirty="0">
                <a:solidFill>
                  <a:srgbClr val="D9E2EC"/>
                </a:solidFill>
              </a:rPr>
              <a:t>|  2026</a:t>
            </a:r>
          </a:p>
        </p:txBody>
      </p:sp>
      <p:sp>
        <p:nvSpPr>
          <p:cNvPr id="7" name="header-tag">
            <a:extLst>
              <a:ext uri="{FF2B5EF4-FFF2-40B4-BE49-F238E27FC236}">
                <a16:creationId xmlns:a16="http://schemas.microsoft.com/office/drawing/2014/main" id="{9C659A5A-19CB-4001-BAB5-4E5EE919C489}"/>
              </a:ext>
            </a:extLst>
          </p:cNvPr>
          <p:cNvSpPr>
            <a:spLocks noGrp="1"/>
          </p:cNvSpPr>
          <p:nvPr/>
        </p:nvSpPr>
        <p:spPr>
          <a:xfrm>
            <a:off x="22383750" y="4400550"/>
            <a:ext cx="628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FCE5DE"/>
                </a:solidFill>
              </a:defRPr>
            </a:pPr>
            <a:r>
              <a:rPr sz="2100" b="1">
                <a:solidFill>
                  <a:srgbClr val="FCE5DE"/>
                </a:solidFill>
              </a:rPr>
              <a:t>FROM-SCRATCH CNN  /  TFLITE MICRO</a:t>
            </a:r>
          </a:p>
        </p:txBody>
      </p:sp>
      <p:sp>
        <p:nvSpPr>
          <p:cNvPr id="8" name="kpi-band">
            <a:extLst>
              <a:ext uri="{FF2B5EF4-FFF2-40B4-BE49-F238E27FC236}">
                <a16:creationId xmlns:a16="http://schemas.microsoft.com/office/drawing/2014/main" id="{4A5F171D-0DF5-4E73-979E-03ABA808E9D7}"/>
              </a:ext>
            </a:extLst>
          </p:cNvPr>
          <p:cNvSpPr>
            <a:spLocks noGrp="1"/>
          </p:cNvSpPr>
          <p:nvPr/>
        </p:nvSpPr>
        <p:spPr>
          <a:xfrm>
            <a:off x="-1" y="8882063"/>
            <a:ext cx="30279975" cy="3271837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kpi-INT8 TEST ACCURACY-value">
            <a:extLst>
              <a:ext uri="{FF2B5EF4-FFF2-40B4-BE49-F238E27FC236}">
                <a16:creationId xmlns:a16="http://schemas.microsoft.com/office/drawing/2014/main" id="{8D5D2573-2B94-402B-A02E-79B596B9AA6D}"/>
              </a:ext>
            </a:extLst>
          </p:cNvPr>
          <p:cNvSpPr>
            <a:spLocks noGrp="1"/>
          </p:cNvSpPr>
          <p:nvPr/>
        </p:nvSpPr>
        <p:spPr>
          <a:xfrm>
            <a:off x="1952624" y="9358313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050" b="1">
                <a:solidFill>
                  <a:srgbClr val="0F766E"/>
                </a:solidFill>
              </a:defRPr>
            </a:pPr>
            <a:r>
              <a:rPr sz="7050" b="1">
                <a:solidFill>
                  <a:srgbClr val="0F766E"/>
                </a:solidFill>
              </a:rPr>
              <a:t>95.12%</a:t>
            </a:r>
          </a:p>
        </p:txBody>
      </p:sp>
      <p:sp>
        <p:nvSpPr>
          <p:cNvPr id="10" name="kpi-INT8 TEST ACCURACY-label">
            <a:extLst>
              <a:ext uri="{FF2B5EF4-FFF2-40B4-BE49-F238E27FC236}">
                <a16:creationId xmlns:a16="http://schemas.microsoft.com/office/drawing/2014/main" id="{3A20E2C4-B9F6-439F-B8E4-D1C56CC9C9BE}"/>
              </a:ext>
            </a:extLst>
          </p:cNvPr>
          <p:cNvSpPr>
            <a:spLocks noGrp="1"/>
          </p:cNvSpPr>
          <p:nvPr/>
        </p:nvSpPr>
        <p:spPr>
          <a:xfrm>
            <a:off x="1952624" y="10501313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INT8 TEST ACCURACY</a:t>
            </a:r>
          </a:p>
        </p:txBody>
      </p:sp>
      <p:sp>
        <p:nvSpPr>
          <p:cNvPr id="11" name="kpi-SMALLER MODEL-value">
            <a:extLst>
              <a:ext uri="{FF2B5EF4-FFF2-40B4-BE49-F238E27FC236}">
                <a16:creationId xmlns:a16="http://schemas.microsoft.com/office/drawing/2014/main" id="{DA393F5F-7FE0-47C7-B86E-D7E5F51F1A14}"/>
              </a:ext>
            </a:extLst>
          </p:cNvPr>
          <p:cNvSpPr>
            <a:spLocks noGrp="1"/>
          </p:cNvSpPr>
          <p:nvPr/>
        </p:nvSpPr>
        <p:spPr>
          <a:xfrm>
            <a:off x="11515724" y="9358313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050" b="1">
                <a:solidFill>
                  <a:srgbClr val="F05D3A"/>
                </a:solidFill>
              </a:defRPr>
            </a:pPr>
            <a:r>
              <a:rPr sz="7050" b="1">
                <a:solidFill>
                  <a:srgbClr val="F05D3A"/>
                </a:solidFill>
              </a:rPr>
              <a:t>73.9%</a:t>
            </a:r>
          </a:p>
        </p:txBody>
      </p:sp>
      <p:sp>
        <p:nvSpPr>
          <p:cNvPr id="12" name="kpi-SMALLER MODEL-label">
            <a:extLst>
              <a:ext uri="{FF2B5EF4-FFF2-40B4-BE49-F238E27FC236}">
                <a16:creationId xmlns:a16="http://schemas.microsoft.com/office/drawing/2014/main" id="{744D2A10-F625-4B4A-9A43-A18674770327}"/>
              </a:ext>
            </a:extLst>
          </p:cNvPr>
          <p:cNvSpPr>
            <a:spLocks noGrp="1"/>
          </p:cNvSpPr>
          <p:nvPr/>
        </p:nvSpPr>
        <p:spPr>
          <a:xfrm>
            <a:off x="11515724" y="10501313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SMALLER MODEL</a:t>
            </a:r>
          </a:p>
        </p:txBody>
      </p:sp>
      <p:sp>
        <p:nvSpPr>
          <p:cNvPr id="13" name="kpi-ESP32 INFERENCE / BEAT-value">
            <a:extLst>
              <a:ext uri="{FF2B5EF4-FFF2-40B4-BE49-F238E27FC236}">
                <a16:creationId xmlns:a16="http://schemas.microsoft.com/office/drawing/2014/main" id="{4EDDA7C0-38AA-43FB-BF7F-75CFFFD3BB43}"/>
              </a:ext>
            </a:extLst>
          </p:cNvPr>
          <p:cNvSpPr>
            <a:spLocks noGrp="1"/>
          </p:cNvSpPr>
          <p:nvPr/>
        </p:nvSpPr>
        <p:spPr>
          <a:xfrm>
            <a:off x="21078824" y="9358313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050" b="1">
                <a:solidFill>
                  <a:srgbClr val="102A43"/>
                </a:solidFill>
              </a:defRPr>
            </a:pPr>
            <a:r>
              <a:rPr sz="7050" b="1" dirty="0">
                <a:solidFill>
                  <a:srgbClr val="102A43"/>
                </a:solidFill>
              </a:rPr>
              <a:t>52 </a:t>
            </a:r>
            <a:r>
              <a:rPr sz="7050" b="1" dirty="0" err="1">
                <a:solidFill>
                  <a:srgbClr val="102A43"/>
                </a:solidFill>
              </a:rPr>
              <a:t>ms</a:t>
            </a:r>
            <a:endParaRPr sz="7050" b="1" dirty="0">
              <a:solidFill>
                <a:srgbClr val="102A43"/>
              </a:solidFill>
            </a:endParaRPr>
          </a:p>
        </p:txBody>
      </p:sp>
      <p:sp>
        <p:nvSpPr>
          <p:cNvPr id="14" name="kpi-ESP32 INFERENCE / BEAT-label">
            <a:extLst>
              <a:ext uri="{FF2B5EF4-FFF2-40B4-BE49-F238E27FC236}">
                <a16:creationId xmlns:a16="http://schemas.microsoft.com/office/drawing/2014/main" id="{EABB609F-F77E-411A-98DF-403E41C678F6}"/>
              </a:ext>
            </a:extLst>
          </p:cNvPr>
          <p:cNvSpPr>
            <a:spLocks noGrp="1"/>
          </p:cNvSpPr>
          <p:nvPr/>
        </p:nvSpPr>
        <p:spPr>
          <a:xfrm>
            <a:off x="21078824" y="10501313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ESP32 INFERENCE / BEAT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0484A38-F2AD-420E-B603-3449F8BEAF67}"/>
              </a:ext>
            </a:extLst>
          </p:cNvPr>
          <p:cNvSpPr>
            <a:spLocks noGrp="1"/>
          </p:cNvSpPr>
          <p:nvPr/>
        </p:nvSpPr>
        <p:spPr>
          <a:xfrm>
            <a:off x="10134599" y="9548813"/>
            <a:ext cx="0" cy="2381250"/>
          </a:xfrm>
          <a:prstGeom prst="line">
            <a:avLst/>
          </a:prstGeom>
          <a:noFill/>
          <a:ln w="38100">
            <a:solidFill>
              <a:srgbClr val="C8D1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342C3F2-05BA-466C-A6C6-EA0400C3C78A}"/>
              </a:ext>
            </a:extLst>
          </p:cNvPr>
          <p:cNvSpPr>
            <a:spLocks noGrp="1"/>
          </p:cNvSpPr>
          <p:nvPr/>
        </p:nvSpPr>
        <p:spPr>
          <a:xfrm>
            <a:off x="19716749" y="9548813"/>
            <a:ext cx="0" cy="2381250"/>
          </a:xfrm>
          <a:prstGeom prst="line">
            <a:avLst/>
          </a:prstGeom>
          <a:noFill/>
          <a:ln w="38100">
            <a:solidFill>
              <a:srgbClr val="C8D1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ection-1">
            <a:extLst>
              <a:ext uri="{FF2B5EF4-FFF2-40B4-BE49-F238E27FC236}">
                <a16:creationId xmlns:a16="http://schemas.microsoft.com/office/drawing/2014/main" id="{954854E9-EA06-49AF-B327-85FD9AA4CBAC}"/>
              </a:ext>
            </a:extLst>
          </p:cNvPr>
          <p:cNvSpPr>
            <a:spLocks noGrp="1"/>
          </p:cNvSpPr>
          <p:nvPr/>
        </p:nvSpPr>
        <p:spPr>
          <a:xfrm>
            <a:off x="1333500" y="12344400"/>
            <a:ext cx="86963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F766E"/>
                </a:solidFill>
              </a:defRPr>
            </a:pPr>
            <a:r>
              <a:rPr sz="4350" b="1" dirty="0">
                <a:solidFill>
                  <a:srgbClr val="0F766E"/>
                </a:solidFill>
              </a:rPr>
              <a:t>1. Heartbeat data are highly imbalanced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7A436A7-424D-4FB7-968C-7299B17BBF75}"/>
              </a:ext>
            </a:extLst>
          </p:cNvPr>
          <p:cNvSpPr>
            <a:spLocks noGrp="1"/>
          </p:cNvSpPr>
          <p:nvPr/>
        </p:nvSpPr>
        <p:spPr>
          <a:xfrm>
            <a:off x="1333500" y="13642814"/>
            <a:ext cx="8696325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blem-copy">
            <a:extLst>
              <a:ext uri="{FF2B5EF4-FFF2-40B4-BE49-F238E27FC236}">
                <a16:creationId xmlns:a16="http://schemas.microsoft.com/office/drawing/2014/main" id="{9011C886-E4BC-4F56-8318-DC7DA685A64C}"/>
              </a:ext>
            </a:extLst>
          </p:cNvPr>
          <p:cNvSpPr>
            <a:spLocks noGrp="1"/>
          </p:cNvSpPr>
          <p:nvPr/>
        </p:nvSpPr>
        <p:spPr>
          <a:xfrm>
            <a:off x="1571624" y="13839825"/>
            <a:ext cx="86963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0">
                <a:solidFill>
                  <a:srgbClr val="172B3A"/>
                </a:solidFill>
              </a:defRPr>
            </a:pPr>
            <a:r>
              <a:rPr sz="2700" b="0" dirty="0">
                <a:solidFill>
                  <a:srgbClr val="172B3A"/>
                </a:solidFill>
              </a:rPr>
              <a:t>Five heartbeat types must be separated from 187-point ECG segments. Normal beats dominate training, so overall accuracy alone can hide minority-class failure.</a:t>
            </a:r>
          </a:p>
        </p:txBody>
      </p:sp>
      <p:sp>
        <p:nvSpPr>
          <p:cNvPr id="20" name="signals-title">
            <a:extLst>
              <a:ext uri="{FF2B5EF4-FFF2-40B4-BE49-F238E27FC236}">
                <a16:creationId xmlns:a16="http://schemas.microsoft.com/office/drawing/2014/main" id="{4BA5DE17-7172-4EF2-8DBD-EAF36B21D39C}"/>
              </a:ext>
            </a:extLst>
          </p:cNvPr>
          <p:cNvSpPr>
            <a:spLocks noGrp="1"/>
          </p:cNvSpPr>
          <p:nvPr/>
        </p:nvSpPr>
        <p:spPr>
          <a:xfrm>
            <a:off x="1333500" y="15630525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Representative normalized beats</a:t>
            </a:r>
          </a:p>
        </p:txBody>
      </p:sp>
      <p:graphicFrame>
        <p:nvGraphicFramePr>
          <p:cNvPr id="149" name="Chart"/>
          <p:cNvGraphicFramePr/>
          <p:nvPr>
            <p:extLst>
              <p:ext uri="{D42A27DB-BD31-4B8C-83A1-F6EECF244321}">
                <p14:modId xmlns:p14="http://schemas.microsoft.com/office/powerpoint/2010/main" val="3386021955"/>
              </p:ext>
            </p:extLst>
          </p:nvPr>
        </p:nvGraphicFramePr>
        <p:xfrm>
          <a:off x="1371600" y="16297275"/>
          <a:ext cx="8620125" cy="666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ignal-label-0">
            <a:extLst>
              <a:ext uri="{FF2B5EF4-FFF2-40B4-BE49-F238E27FC236}">
                <a16:creationId xmlns:a16="http://schemas.microsoft.com/office/drawing/2014/main" id="{1843FDE5-558A-41B5-AD07-FA339FCDAC0C}"/>
              </a:ext>
            </a:extLst>
          </p:cNvPr>
          <p:cNvSpPr>
            <a:spLocks noGrp="1"/>
          </p:cNvSpPr>
          <p:nvPr/>
        </p:nvSpPr>
        <p:spPr>
          <a:xfrm>
            <a:off x="1524000" y="166306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2A43"/>
                </a:solidFill>
              </a:defRPr>
            </a:pPr>
            <a:r>
              <a:rPr lang="en-US" sz="2025" b="1" dirty="0">
                <a:solidFill>
                  <a:srgbClr val="102A43"/>
                </a:solidFill>
              </a:rPr>
              <a:t>  </a:t>
            </a:r>
            <a:r>
              <a:rPr sz="2025" b="1" dirty="0">
                <a:solidFill>
                  <a:srgbClr val="102A43"/>
                </a:solidFill>
              </a:rPr>
              <a:t>N  Normal</a:t>
            </a:r>
          </a:p>
        </p:txBody>
      </p:sp>
      <p:sp>
        <p:nvSpPr>
          <p:cNvPr id="23" name="signal-label-1">
            <a:extLst>
              <a:ext uri="{FF2B5EF4-FFF2-40B4-BE49-F238E27FC236}">
                <a16:creationId xmlns:a16="http://schemas.microsoft.com/office/drawing/2014/main" id="{CF637E0E-5F81-41EE-9161-B606BC4E928C}"/>
              </a:ext>
            </a:extLst>
          </p:cNvPr>
          <p:cNvSpPr>
            <a:spLocks noGrp="1"/>
          </p:cNvSpPr>
          <p:nvPr/>
        </p:nvSpPr>
        <p:spPr>
          <a:xfrm>
            <a:off x="1524000" y="17830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F766E"/>
                </a:solidFill>
              </a:defRPr>
            </a:pPr>
            <a:r>
              <a:rPr lang="en-US" sz="2025" b="1" dirty="0">
                <a:solidFill>
                  <a:srgbClr val="0F766E"/>
                </a:solidFill>
              </a:rPr>
              <a:t>  </a:t>
            </a:r>
            <a:r>
              <a:rPr sz="2025" b="1" dirty="0">
                <a:solidFill>
                  <a:srgbClr val="0F766E"/>
                </a:solidFill>
              </a:rPr>
              <a:t>S  Supraventricular</a:t>
            </a:r>
          </a:p>
        </p:txBody>
      </p:sp>
      <p:sp>
        <p:nvSpPr>
          <p:cNvPr id="24" name="signal-label-2">
            <a:extLst>
              <a:ext uri="{FF2B5EF4-FFF2-40B4-BE49-F238E27FC236}">
                <a16:creationId xmlns:a16="http://schemas.microsoft.com/office/drawing/2014/main" id="{ADA03E6E-DD45-4FB5-9324-9174FFD89927}"/>
              </a:ext>
            </a:extLst>
          </p:cNvPr>
          <p:cNvSpPr>
            <a:spLocks noGrp="1"/>
          </p:cNvSpPr>
          <p:nvPr/>
        </p:nvSpPr>
        <p:spPr>
          <a:xfrm>
            <a:off x="1524000" y="19030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878B5"/>
                </a:solidFill>
              </a:defRPr>
            </a:pPr>
            <a:r>
              <a:rPr lang="en-US" sz="2025" b="1" dirty="0">
                <a:solidFill>
                  <a:srgbClr val="2878B5"/>
                </a:solidFill>
              </a:rPr>
              <a:t>  </a:t>
            </a:r>
            <a:r>
              <a:rPr sz="2025" b="1" dirty="0">
                <a:solidFill>
                  <a:srgbClr val="2878B5"/>
                </a:solidFill>
              </a:rPr>
              <a:t>V  Ventricular</a:t>
            </a:r>
          </a:p>
        </p:txBody>
      </p:sp>
      <p:sp>
        <p:nvSpPr>
          <p:cNvPr id="25" name="signal-label-3">
            <a:extLst>
              <a:ext uri="{FF2B5EF4-FFF2-40B4-BE49-F238E27FC236}">
                <a16:creationId xmlns:a16="http://schemas.microsoft.com/office/drawing/2014/main" id="{40DED63F-E2FE-4CEF-B32D-8FA1E903C1E0}"/>
              </a:ext>
            </a:extLst>
          </p:cNvPr>
          <p:cNvSpPr>
            <a:spLocks noGrp="1"/>
          </p:cNvSpPr>
          <p:nvPr/>
        </p:nvSpPr>
        <p:spPr>
          <a:xfrm>
            <a:off x="1524000" y="20231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05D3A"/>
                </a:solidFill>
              </a:defRPr>
            </a:pPr>
            <a:r>
              <a:rPr lang="en-US" sz="2025" b="1" dirty="0">
                <a:solidFill>
                  <a:srgbClr val="F05D3A"/>
                </a:solidFill>
              </a:rPr>
              <a:t>   </a:t>
            </a:r>
            <a:r>
              <a:rPr sz="2025" b="1" dirty="0">
                <a:solidFill>
                  <a:srgbClr val="F05D3A"/>
                </a:solidFill>
              </a:rPr>
              <a:t>F  Fusion</a:t>
            </a:r>
          </a:p>
        </p:txBody>
      </p:sp>
      <p:sp>
        <p:nvSpPr>
          <p:cNvPr id="26" name="signal-label-4">
            <a:extLst>
              <a:ext uri="{FF2B5EF4-FFF2-40B4-BE49-F238E27FC236}">
                <a16:creationId xmlns:a16="http://schemas.microsoft.com/office/drawing/2014/main" id="{102E4429-0AF7-47F7-B6E6-C0F3518A6552}"/>
              </a:ext>
            </a:extLst>
          </p:cNvPr>
          <p:cNvSpPr>
            <a:spLocks noGrp="1"/>
          </p:cNvSpPr>
          <p:nvPr/>
        </p:nvSpPr>
        <p:spPr>
          <a:xfrm>
            <a:off x="1524000" y="214312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8F5AAE"/>
                </a:solidFill>
              </a:defRPr>
            </a:pPr>
            <a:r>
              <a:rPr lang="en-US" sz="2025" b="1" dirty="0">
                <a:solidFill>
                  <a:srgbClr val="8F5AAE"/>
                </a:solidFill>
              </a:rPr>
              <a:t>  </a:t>
            </a:r>
            <a:r>
              <a:rPr sz="2025" b="1" dirty="0">
                <a:solidFill>
                  <a:srgbClr val="8F5AAE"/>
                </a:solidFill>
              </a:rPr>
              <a:t>Q  Unknown</a:t>
            </a:r>
          </a:p>
        </p:txBody>
      </p:sp>
      <p:sp>
        <p:nvSpPr>
          <p:cNvPr id="27" name="distribution-title">
            <a:extLst>
              <a:ext uri="{FF2B5EF4-FFF2-40B4-BE49-F238E27FC236}">
                <a16:creationId xmlns:a16="http://schemas.microsoft.com/office/drawing/2014/main" id="{C52BCFA2-41CD-4F57-B7DC-B0B37B0DC459}"/>
              </a:ext>
            </a:extLst>
          </p:cNvPr>
          <p:cNvSpPr>
            <a:spLocks noGrp="1"/>
          </p:cNvSpPr>
          <p:nvPr/>
        </p:nvSpPr>
        <p:spPr>
          <a:xfrm>
            <a:off x="1333500" y="23393400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Training class distribution</a:t>
            </a:r>
          </a:p>
        </p:txBody>
      </p:sp>
      <p:graphicFrame>
        <p:nvGraphicFramePr>
          <p:cNvPr id="156" name="Chart"/>
          <p:cNvGraphicFramePr/>
          <p:nvPr>
            <p:extLst>
              <p:ext uri="{D42A27DB-BD31-4B8C-83A1-F6EECF244321}">
                <p14:modId xmlns:p14="http://schemas.microsoft.com/office/powerpoint/2010/main" val="3461699845"/>
              </p:ext>
            </p:extLst>
          </p:nvPr>
        </p:nvGraphicFramePr>
        <p:xfrm>
          <a:off x="1333500" y="24107775"/>
          <a:ext cx="8696325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imbalance-takeaway">
            <a:extLst>
              <a:ext uri="{FF2B5EF4-FFF2-40B4-BE49-F238E27FC236}">
                <a16:creationId xmlns:a16="http://schemas.microsoft.com/office/drawing/2014/main" id="{4CEE3F6F-B0F2-455A-B29D-85E997D4EBDE}"/>
              </a:ext>
            </a:extLst>
          </p:cNvPr>
          <p:cNvSpPr>
            <a:spLocks noGrp="1"/>
          </p:cNvSpPr>
          <p:nvPr/>
        </p:nvSpPr>
        <p:spPr>
          <a:xfrm>
            <a:off x="1333500" y="30394275"/>
            <a:ext cx="86963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>
                <a:solidFill>
                  <a:srgbClr val="F05D3A"/>
                </a:solidFill>
              </a:defRPr>
            </a:pPr>
            <a:r>
              <a:rPr sz="2775" b="1">
                <a:solidFill>
                  <a:srgbClr val="F05D3A"/>
                </a:solidFill>
              </a:rPr>
              <a:t>Class F has 113x fewer examples than class N.</a:t>
            </a:r>
          </a:p>
        </p:txBody>
      </p:sp>
      <p:sp>
        <p:nvSpPr>
          <p:cNvPr id="30" name="section-2">
            <a:extLst>
              <a:ext uri="{FF2B5EF4-FFF2-40B4-BE49-F238E27FC236}">
                <a16:creationId xmlns:a16="http://schemas.microsoft.com/office/drawing/2014/main" id="{46FC5AE1-2848-40E0-8BFA-9ECC74357C89}"/>
              </a:ext>
            </a:extLst>
          </p:cNvPr>
          <p:cNvSpPr>
            <a:spLocks noGrp="1"/>
          </p:cNvSpPr>
          <p:nvPr/>
        </p:nvSpPr>
        <p:spPr>
          <a:xfrm>
            <a:off x="10791825" y="12344400"/>
            <a:ext cx="86963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F766E"/>
                </a:solidFill>
              </a:defRPr>
            </a:pPr>
            <a:r>
              <a:rPr sz="4350" b="1" dirty="0">
                <a:solidFill>
                  <a:srgbClr val="102A43"/>
                </a:solidFill>
              </a:rPr>
              <a:t>2. Compact CNN, explicit imbalance controls</a:t>
            </a:r>
          </a:p>
        </p:txBody>
      </p:sp>
      <p:sp>
        <p:nvSpPr>
          <p:cNvPr id="32" name="model-copy">
            <a:extLst>
              <a:ext uri="{FF2B5EF4-FFF2-40B4-BE49-F238E27FC236}">
                <a16:creationId xmlns:a16="http://schemas.microsoft.com/office/drawing/2014/main" id="{CEFE4993-3352-429B-BCD6-F1C299FB5029}"/>
              </a:ext>
            </a:extLst>
          </p:cNvPr>
          <p:cNvSpPr>
            <a:spLocks noGrp="1"/>
          </p:cNvSpPr>
          <p:nvPr/>
        </p:nvSpPr>
        <p:spPr>
          <a:xfrm>
            <a:off x="10791825" y="13773150"/>
            <a:ext cx="869632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0">
                <a:solidFill>
                  <a:srgbClr val="172B3A"/>
                </a:solidFill>
              </a:defRPr>
            </a:pPr>
            <a:r>
              <a:rPr sz="2625" b="0" dirty="0">
                <a:solidFill>
                  <a:srgbClr val="172B3A"/>
                </a:solidFill>
              </a:rPr>
              <a:t>The complete forward pass, backward pass, weighted loss, and Adam updates are implemented in NumPy. </a:t>
            </a:r>
            <a:r>
              <a:rPr sz="2625" b="0" dirty="0" err="1">
                <a:solidFill>
                  <a:srgbClr val="172B3A"/>
                </a:solidFill>
              </a:rPr>
              <a:t>Keras</a:t>
            </a:r>
            <a:r>
              <a:rPr sz="2625" b="0" dirty="0">
                <a:solidFill>
                  <a:srgbClr val="172B3A"/>
                </a:solidFill>
              </a:rPr>
              <a:t> is used only as an export bridge.</a:t>
            </a:r>
          </a:p>
        </p:txBody>
      </p:sp>
      <p:sp>
        <p:nvSpPr>
          <p:cNvPr id="33" name="architecture-title">
            <a:extLst>
              <a:ext uri="{FF2B5EF4-FFF2-40B4-BE49-F238E27FC236}">
                <a16:creationId xmlns:a16="http://schemas.microsoft.com/office/drawing/2014/main" id="{6EE62877-527E-4C7A-83F4-31AEAAE6E66D}"/>
              </a:ext>
            </a:extLst>
          </p:cNvPr>
          <p:cNvSpPr>
            <a:spLocks noGrp="1"/>
          </p:cNvSpPr>
          <p:nvPr/>
        </p:nvSpPr>
        <p:spPr>
          <a:xfrm>
            <a:off x="10791825" y="15297150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11,173 trainable parameters</a:t>
            </a:r>
          </a:p>
        </p:txBody>
      </p:sp>
      <p:sp>
        <p:nvSpPr>
          <p:cNvPr id="34" name="architecture-arrow-1">
            <a:extLst>
              <a:ext uri="{FF2B5EF4-FFF2-40B4-BE49-F238E27FC236}">
                <a16:creationId xmlns:a16="http://schemas.microsoft.com/office/drawing/2014/main" id="{083DB0D5-6434-4435-843F-88B7E5981C32}"/>
              </a:ext>
            </a:extLst>
          </p:cNvPr>
          <p:cNvSpPr>
            <a:spLocks noGrp="1"/>
          </p:cNvSpPr>
          <p:nvPr/>
        </p:nvSpPr>
        <p:spPr>
          <a:xfrm>
            <a:off x="14930438" y="17202150"/>
            <a:ext cx="419100" cy="400050"/>
          </a:xfrm>
          <a:prstGeom prst="downArrow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rchitecture-arrow-2">
            <a:extLst>
              <a:ext uri="{FF2B5EF4-FFF2-40B4-BE49-F238E27FC236}">
                <a16:creationId xmlns:a16="http://schemas.microsoft.com/office/drawing/2014/main" id="{F83E73AD-E117-47DA-866F-FF652F14FAE5}"/>
              </a:ext>
            </a:extLst>
          </p:cNvPr>
          <p:cNvSpPr>
            <a:spLocks noGrp="1"/>
          </p:cNvSpPr>
          <p:nvPr/>
        </p:nvSpPr>
        <p:spPr>
          <a:xfrm>
            <a:off x="14930438" y="18802350"/>
            <a:ext cx="419100" cy="400050"/>
          </a:xfrm>
          <a:prstGeom prst="downArrow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rchitecture-arrow-3">
            <a:extLst>
              <a:ext uri="{FF2B5EF4-FFF2-40B4-BE49-F238E27FC236}">
                <a16:creationId xmlns:a16="http://schemas.microsoft.com/office/drawing/2014/main" id="{F1D6BFA0-5086-4610-8852-1090091B5452}"/>
              </a:ext>
            </a:extLst>
          </p:cNvPr>
          <p:cNvSpPr>
            <a:spLocks noGrp="1"/>
          </p:cNvSpPr>
          <p:nvPr/>
        </p:nvSpPr>
        <p:spPr>
          <a:xfrm>
            <a:off x="14930438" y="20402550"/>
            <a:ext cx="419100" cy="400050"/>
          </a:xfrm>
          <a:prstGeom prst="downArrow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rchitecture-arrow-4">
            <a:extLst>
              <a:ext uri="{FF2B5EF4-FFF2-40B4-BE49-F238E27FC236}">
                <a16:creationId xmlns:a16="http://schemas.microsoft.com/office/drawing/2014/main" id="{E389FFD9-6024-4E53-9A2D-86A9017D5A07}"/>
              </a:ext>
            </a:extLst>
          </p:cNvPr>
          <p:cNvSpPr>
            <a:spLocks noGrp="1"/>
          </p:cNvSpPr>
          <p:nvPr/>
        </p:nvSpPr>
        <p:spPr>
          <a:xfrm>
            <a:off x="14930438" y="22002750"/>
            <a:ext cx="419100" cy="400050"/>
          </a:xfrm>
          <a:prstGeom prst="downArrow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rchitecture-node-1">
            <a:extLst>
              <a:ext uri="{FF2B5EF4-FFF2-40B4-BE49-F238E27FC236}">
                <a16:creationId xmlns:a16="http://schemas.microsoft.com/office/drawing/2014/main" id="{67E13A50-E278-49FD-A472-FDB13E2EF8D7}"/>
              </a:ext>
            </a:extLst>
          </p:cNvPr>
          <p:cNvSpPr>
            <a:spLocks noGrp="1"/>
          </p:cNvSpPr>
          <p:nvPr/>
        </p:nvSpPr>
        <p:spPr>
          <a:xfrm>
            <a:off x="11125200" y="16059150"/>
            <a:ext cx="8029575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C8D1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rchitecture-title-1">
            <a:extLst>
              <a:ext uri="{FF2B5EF4-FFF2-40B4-BE49-F238E27FC236}">
                <a16:creationId xmlns:a16="http://schemas.microsoft.com/office/drawing/2014/main" id="{7431A9AA-3B99-4546-B8FF-DFD0813D84A6}"/>
              </a:ext>
            </a:extLst>
          </p:cNvPr>
          <p:cNvSpPr>
            <a:spLocks noGrp="1"/>
          </p:cNvSpPr>
          <p:nvPr/>
        </p:nvSpPr>
        <p:spPr>
          <a:xfrm>
            <a:off x="11372850" y="16173450"/>
            <a:ext cx="7534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187 x 1 ECG beat</a:t>
            </a:r>
          </a:p>
        </p:txBody>
      </p:sp>
      <p:sp>
        <p:nvSpPr>
          <p:cNvPr id="40" name="architecture-subtitle-1">
            <a:extLst>
              <a:ext uri="{FF2B5EF4-FFF2-40B4-BE49-F238E27FC236}">
                <a16:creationId xmlns:a16="http://schemas.microsoft.com/office/drawing/2014/main" id="{EE059EE5-192F-4B2B-BB4F-430CF83B6670}"/>
              </a:ext>
            </a:extLst>
          </p:cNvPr>
          <p:cNvSpPr>
            <a:spLocks noGrp="1"/>
          </p:cNvSpPr>
          <p:nvPr/>
        </p:nvSpPr>
        <p:spPr>
          <a:xfrm>
            <a:off x="11372850" y="16649700"/>
            <a:ext cx="75342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526777"/>
                </a:solidFill>
              </a:defRPr>
            </a:pPr>
            <a:r>
              <a:rPr sz="1950" b="0">
                <a:solidFill>
                  <a:srgbClr val="526777"/>
                </a:solidFill>
              </a:rPr>
              <a:t>normalized heartbeat segment</a:t>
            </a:r>
          </a:p>
        </p:txBody>
      </p:sp>
      <p:sp>
        <p:nvSpPr>
          <p:cNvPr id="41" name="architecture-node-2">
            <a:extLst>
              <a:ext uri="{FF2B5EF4-FFF2-40B4-BE49-F238E27FC236}">
                <a16:creationId xmlns:a16="http://schemas.microsoft.com/office/drawing/2014/main" id="{9BCC738F-52F2-4FE5-B18A-FD4CFFE17C10}"/>
              </a:ext>
            </a:extLst>
          </p:cNvPr>
          <p:cNvSpPr>
            <a:spLocks noGrp="1"/>
          </p:cNvSpPr>
          <p:nvPr/>
        </p:nvSpPr>
        <p:spPr>
          <a:xfrm>
            <a:off x="11125200" y="17659350"/>
            <a:ext cx="8029575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C8D1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rchitecture-title-2">
            <a:extLst>
              <a:ext uri="{FF2B5EF4-FFF2-40B4-BE49-F238E27FC236}">
                <a16:creationId xmlns:a16="http://schemas.microsoft.com/office/drawing/2014/main" id="{B8FE048F-39D0-4593-9935-D13452DB02C0}"/>
              </a:ext>
            </a:extLst>
          </p:cNvPr>
          <p:cNvSpPr>
            <a:spLocks noGrp="1"/>
          </p:cNvSpPr>
          <p:nvPr/>
        </p:nvSpPr>
        <p:spPr>
          <a:xfrm>
            <a:off x="11372850" y="17773650"/>
            <a:ext cx="7534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Three convolution blocks</a:t>
            </a:r>
          </a:p>
        </p:txBody>
      </p:sp>
      <p:sp>
        <p:nvSpPr>
          <p:cNvPr id="43" name="architecture-subtitle-2">
            <a:extLst>
              <a:ext uri="{FF2B5EF4-FFF2-40B4-BE49-F238E27FC236}">
                <a16:creationId xmlns:a16="http://schemas.microsoft.com/office/drawing/2014/main" id="{6CB3D192-5AD0-4729-8500-D6B37A8E8C10}"/>
              </a:ext>
            </a:extLst>
          </p:cNvPr>
          <p:cNvSpPr>
            <a:spLocks noGrp="1"/>
          </p:cNvSpPr>
          <p:nvPr/>
        </p:nvSpPr>
        <p:spPr>
          <a:xfrm>
            <a:off x="11372850" y="18249900"/>
            <a:ext cx="75342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526777"/>
                </a:solidFill>
              </a:defRPr>
            </a:pPr>
            <a:r>
              <a:rPr sz="1950" b="0">
                <a:solidFill>
                  <a:srgbClr val="526777"/>
                </a:solidFill>
              </a:rPr>
              <a:t>16 (k=7)  -&gt;  32 (k=5)  -&gt;  64 (k=3)</a:t>
            </a:r>
          </a:p>
        </p:txBody>
      </p:sp>
      <p:sp>
        <p:nvSpPr>
          <p:cNvPr id="44" name="architecture-node-3">
            <a:extLst>
              <a:ext uri="{FF2B5EF4-FFF2-40B4-BE49-F238E27FC236}">
                <a16:creationId xmlns:a16="http://schemas.microsoft.com/office/drawing/2014/main" id="{23E26803-14E4-4919-8564-E97B087FED42}"/>
              </a:ext>
            </a:extLst>
          </p:cNvPr>
          <p:cNvSpPr>
            <a:spLocks noGrp="1"/>
          </p:cNvSpPr>
          <p:nvPr/>
        </p:nvSpPr>
        <p:spPr>
          <a:xfrm>
            <a:off x="11125200" y="19259550"/>
            <a:ext cx="8029575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C8D1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rchitecture-title-3">
            <a:extLst>
              <a:ext uri="{FF2B5EF4-FFF2-40B4-BE49-F238E27FC236}">
                <a16:creationId xmlns:a16="http://schemas.microsoft.com/office/drawing/2014/main" id="{42C12946-6994-41B9-A3BB-0170EF2FB9F6}"/>
              </a:ext>
            </a:extLst>
          </p:cNvPr>
          <p:cNvSpPr>
            <a:spLocks noGrp="1"/>
          </p:cNvSpPr>
          <p:nvPr/>
        </p:nvSpPr>
        <p:spPr>
          <a:xfrm>
            <a:off x="11372850" y="19373850"/>
            <a:ext cx="7534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Global average pooling</a:t>
            </a:r>
          </a:p>
        </p:txBody>
      </p:sp>
      <p:sp>
        <p:nvSpPr>
          <p:cNvPr id="46" name="architecture-subtitle-3">
            <a:extLst>
              <a:ext uri="{FF2B5EF4-FFF2-40B4-BE49-F238E27FC236}">
                <a16:creationId xmlns:a16="http://schemas.microsoft.com/office/drawing/2014/main" id="{CFE94143-42C7-4FF2-BFBE-734DAA3E4B4A}"/>
              </a:ext>
            </a:extLst>
          </p:cNvPr>
          <p:cNvSpPr>
            <a:spLocks noGrp="1"/>
          </p:cNvSpPr>
          <p:nvPr/>
        </p:nvSpPr>
        <p:spPr>
          <a:xfrm>
            <a:off x="11372850" y="19850100"/>
            <a:ext cx="75342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526777"/>
                </a:solidFill>
              </a:defRPr>
            </a:pPr>
            <a:r>
              <a:rPr sz="1950" b="0">
                <a:solidFill>
                  <a:srgbClr val="526777"/>
                </a:solidFill>
              </a:rPr>
              <a:t>small representation, no large flatten layer</a:t>
            </a:r>
          </a:p>
        </p:txBody>
      </p:sp>
      <p:sp>
        <p:nvSpPr>
          <p:cNvPr id="47" name="architecture-node-4">
            <a:extLst>
              <a:ext uri="{FF2B5EF4-FFF2-40B4-BE49-F238E27FC236}">
                <a16:creationId xmlns:a16="http://schemas.microsoft.com/office/drawing/2014/main" id="{2DD3C0F1-AE85-47E7-994F-62828D8CADA8}"/>
              </a:ext>
            </a:extLst>
          </p:cNvPr>
          <p:cNvSpPr>
            <a:spLocks noGrp="1"/>
          </p:cNvSpPr>
          <p:nvPr/>
        </p:nvSpPr>
        <p:spPr>
          <a:xfrm>
            <a:off x="11125200" y="20859750"/>
            <a:ext cx="8029575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C8D1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architecture-title-4">
            <a:extLst>
              <a:ext uri="{FF2B5EF4-FFF2-40B4-BE49-F238E27FC236}">
                <a16:creationId xmlns:a16="http://schemas.microsoft.com/office/drawing/2014/main" id="{05BE0FBA-4AE6-4256-A3E9-BEE9822214D3}"/>
              </a:ext>
            </a:extLst>
          </p:cNvPr>
          <p:cNvSpPr>
            <a:spLocks noGrp="1"/>
          </p:cNvSpPr>
          <p:nvPr/>
        </p:nvSpPr>
        <p:spPr>
          <a:xfrm>
            <a:off x="11372850" y="20974050"/>
            <a:ext cx="7534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Dense 32 + dropout</a:t>
            </a:r>
          </a:p>
        </p:txBody>
      </p:sp>
      <p:sp>
        <p:nvSpPr>
          <p:cNvPr id="49" name="architecture-subtitle-4">
            <a:extLst>
              <a:ext uri="{FF2B5EF4-FFF2-40B4-BE49-F238E27FC236}">
                <a16:creationId xmlns:a16="http://schemas.microsoft.com/office/drawing/2014/main" id="{C1BC1AA0-236E-42C2-9AE0-0FF5792B8D8F}"/>
              </a:ext>
            </a:extLst>
          </p:cNvPr>
          <p:cNvSpPr>
            <a:spLocks noGrp="1"/>
          </p:cNvSpPr>
          <p:nvPr/>
        </p:nvSpPr>
        <p:spPr>
          <a:xfrm>
            <a:off x="11372850" y="21450300"/>
            <a:ext cx="75342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526777"/>
                </a:solidFill>
              </a:defRPr>
            </a:pPr>
            <a:r>
              <a:rPr sz="1950" b="0">
                <a:solidFill>
                  <a:srgbClr val="526777"/>
                </a:solidFill>
              </a:rPr>
              <a:t>compact nonlinear classifier</a:t>
            </a:r>
          </a:p>
        </p:txBody>
      </p:sp>
      <p:sp>
        <p:nvSpPr>
          <p:cNvPr id="50" name="architecture-node-5">
            <a:extLst>
              <a:ext uri="{FF2B5EF4-FFF2-40B4-BE49-F238E27FC236}">
                <a16:creationId xmlns:a16="http://schemas.microsoft.com/office/drawing/2014/main" id="{439E1BF1-470A-41F4-B5D5-8562D8CBA59B}"/>
              </a:ext>
            </a:extLst>
          </p:cNvPr>
          <p:cNvSpPr>
            <a:spLocks noGrp="1"/>
          </p:cNvSpPr>
          <p:nvPr/>
        </p:nvSpPr>
        <p:spPr>
          <a:xfrm>
            <a:off x="11125200" y="22459950"/>
            <a:ext cx="8029575" cy="1066800"/>
          </a:xfrm>
          <a:prstGeom prst="roundRect">
            <a:avLst>
              <a:gd name="adj" fmla="val 14286"/>
            </a:avLst>
          </a:prstGeom>
          <a:solidFill>
            <a:srgbClr val="FCE5DE"/>
          </a:solidFill>
          <a:ln w="2857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rchitecture-title-5">
            <a:extLst>
              <a:ext uri="{FF2B5EF4-FFF2-40B4-BE49-F238E27FC236}">
                <a16:creationId xmlns:a16="http://schemas.microsoft.com/office/drawing/2014/main" id="{EF0F694E-66C4-4DDA-912C-8F886B5C7A1F}"/>
              </a:ext>
            </a:extLst>
          </p:cNvPr>
          <p:cNvSpPr>
            <a:spLocks noGrp="1"/>
          </p:cNvSpPr>
          <p:nvPr/>
        </p:nvSpPr>
        <p:spPr>
          <a:xfrm>
            <a:off x="11372850" y="22574250"/>
            <a:ext cx="7534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Five-class softmax</a:t>
            </a:r>
          </a:p>
        </p:txBody>
      </p:sp>
      <p:sp>
        <p:nvSpPr>
          <p:cNvPr id="52" name="architecture-subtitle-5">
            <a:extLst>
              <a:ext uri="{FF2B5EF4-FFF2-40B4-BE49-F238E27FC236}">
                <a16:creationId xmlns:a16="http://schemas.microsoft.com/office/drawing/2014/main" id="{CF9A4257-851D-4995-8F1E-B23B58B3679E}"/>
              </a:ext>
            </a:extLst>
          </p:cNvPr>
          <p:cNvSpPr>
            <a:spLocks noGrp="1"/>
          </p:cNvSpPr>
          <p:nvPr/>
        </p:nvSpPr>
        <p:spPr>
          <a:xfrm>
            <a:off x="11372850" y="23050500"/>
            <a:ext cx="75342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526777"/>
                </a:solidFill>
              </a:defRPr>
            </a:pPr>
            <a:r>
              <a:rPr sz="1950" b="0">
                <a:solidFill>
                  <a:srgbClr val="526777"/>
                </a:solidFill>
              </a:rPr>
              <a:t>N  /  S  /  V  /  F  /  Q</a:t>
            </a:r>
          </a:p>
        </p:txBody>
      </p:sp>
      <p:sp>
        <p:nvSpPr>
          <p:cNvPr id="53" name="strategy-title">
            <a:extLst>
              <a:ext uri="{FF2B5EF4-FFF2-40B4-BE49-F238E27FC236}">
                <a16:creationId xmlns:a16="http://schemas.microsoft.com/office/drawing/2014/main" id="{B520C265-B672-4001-A416-9611DF88ABA4}"/>
              </a:ext>
            </a:extLst>
          </p:cNvPr>
          <p:cNvSpPr>
            <a:spLocks noGrp="1"/>
          </p:cNvSpPr>
          <p:nvPr/>
        </p:nvSpPr>
        <p:spPr>
          <a:xfrm>
            <a:off x="10791825" y="24441150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Three complementary strategies</a:t>
            </a:r>
          </a:p>
        </p:txBody>
      </p:sp>
      <p:sp>
        <p:nvSpPr>
          <p:cNvPr id="54" name="strategy-1-marker">
            <a:extLst>
              <a:ext uri="{FF2B5EF4-FFF2-40B4-BE49-F238E27FC236}">
                <a16:creationId xmlns:a16="http://schemas.microsoft.com/office/drawing/2014/main" id="{697021A0-F38A-4BB5-98D4-6EFB2DB6FEC5}"/>
              </a:ext>
            </a:extLst>
          </p:cNvPr>
          <p:cNvSpPr>
            <a:spLocks noGrp="1"/>
          </p:cNvSpPr>
          <p:nvPr/>
        </p:nvSpPr>
        <p:spPr>
          <a:xfrm>
            <a:off x="10791825" y="25250775"/>
            <a:ext cx="742950" cy="742950"/>
          </a:xfrm>
          <a:prstGeom prst="ellipse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strategy-1-title">
            <a:extLst>
              <a:ext uri="{FF2B5EF4-FFF2-40B4-BE49-F238E27FC236}">
                <a16:creationId xmlns:a16="http://schemas.microsoft.com/office/drawing/2014/main" id="{02D001CF-57A7-46F0-B56C-D634A1D849BC}"/>
              </a:ext>
            </a:extLst>
          </p:cNvPr>
          <p:cNvSpPr>
            <a:spLocks noGrp="1"/>
          </p:cNvSpPr>
          <p:nvPr/>
        </p:nvSpPr>
        <p:spPr>
          <a:xfrm>
            <a:off x="11791950" y="25203150"/>
            <a:ext cx="769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Capped class-weighted loss</a:t>
            </a:r>
          </a:p>
        </p:txBody>
      </p:sp>
      <p:sp>
        <p:nvSpPr>
          <p:cNvPr id="56" name="strategy-1-body">
            <a:extLst>
              <a:ext uri="{FF2B5EF4-FFF2-40B4-BE49-F238E27FC236}">
                <a16:creationId xmlns:a16="http://schemas.microsoft.com/office/drawing/2014/main" id="{797BC932-B3E4-40BE-A2B4-E6492F64D947}"/>
              </a:ext>
            </a:extLst>
          </p:cNvPr>
          <p:cNvSpPr>
            <a:spLocks noGrp="1"/>
          </p:cNvSpPr>
          <p:nvPr/>
        </p:nvSpPr>
        <p:spPr>
          <a:xfrm>
            <a:off x="11791950" y="25774650"/>
            <a:ext cx="7696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>
                <a:solidFill>
                  <a:srgbClr val="526777"/>
                </a:solidFill>
              </a:defRPr>
            </a:pPr>
            <a:r>
              <a:rPr sz="2325" b="0">
                <a:solidFill>
                  <a:srgbClr val="526777"/>
                </a:solidFill>
              </a:rPr>
              <a:t>Inverse-frequency penalties, capped at 4 to avoid unstable minority gradients.</a:t>
            </a:r>
          </a:p>
        </p:txBody>
      </p:sp>
      <p:sp>
        <p:nvSpPr>
          <p:cNvPr id="57" name="strategy-2-marker">
            <a:extLst>
              <a:ext uri="{FF2B5EF4-FFF2-40B4-BE49-F238E27FC236}">
                <a16:creationId xmlns:a16="http://schemas.microsoft.com/office/drawing/2014/main" id="{B9841EC2-67B4-4A6F-9D52-E17FAECE862D}"/>
              </a:ext>
            </a:extLst>
          </p:cNvPr>
          <p:cNvSpPr>
            <a:spLocks noGrp="1"/>
          </p:cNvSpPr>
          <p:nvPr/>
        </p:nvSpPr>
        <p:spPr>
          <a:xfrm>
            <a:off x="10791825" y="26965275"/>
            <a:ext cx="742950" cy="742950"/>
          </a:xfrm>
          <a:prstGeom prst="ellipse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strategy-2-title">
            <a:extLst>
              <a:ext uri="{FF2B5EF4-FFF2-40B4-BE49-F238E27FC236}">
                <a16:creationId xmlns:a16="http://schemas.microsoft.com/office/drawing/2014/main" id="{9DD5C3DF-A7C4-4741-B8B9-16E0D51F3BC4}"/>
              </a:ext>
            </a:extLst>
          </p:cNvPr>
          <p:cNvSpPr>
            <a:spLocks noGrp="1"/>
          </p:cNvSpPr>
          <p:nvPr/>
        </p:nvSpPr>
        <p:spPr>
          <a:xfrm>
            <a:off x="11791950" y="26917650"/>
            <a:ext cx="769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Mild rare-class augmentation</a:t>
            </a:r>
          </a:p>
        </p:txBody>
      </p:sp>
      <p:sp>
        <p:nvSpPr>
          <p:cNvPr id="59" name="strategy-2-body">
            <a:extLst>
              <a:ext uri="{FF2B5EF4-FFF2-40B4-BE49-F238E27FC236}">
                <a16:creationId xmlns:a16="http://schemas.microsoft.com/office/drawing/2014/main" id="{4A103C44-138B-4C6C-9A50-B32053CC5F60}"/>
              </a:ext>
            </a:extLst>
          </p:cNvPr>
          <p:cNvSpPr>
            <a:spLocks noGrp="1"/>
          </p:cNvSpPr>
          <p:nvPr/>
        </p:nvSpPr>
        <p:spPr>
          <a:xfrm>
            <a:off x="11791950" y="27489150"/>
            <a:ext cx="7696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>
                <a:solidFill>
                  <a:srgbClr val="526777"/>
                </a:solidFill>
              </a:defRPr>
            </a:pPr>
            <a:r>
              <a:rPr sz="2325" b="0">
                <a:solidFill>
                  <a:srgbClr val="526777"/>
                </a:solidFill>
              </a:rPr>
              <a:t>Noise, amplitude scaling, baseline shift, and small time shifts preserve beat shape.</a:t>
            </a:r>
          </a:p>
        </p:txBody>
      </p:sp>
      <p:sp>
        <p:nvSpPr>
          <p:cNvPr id="60" name="strategy-3-marker">
            <a:extLst>
              <a:ext uri="{FF2B5EF4-FFF2-40B4-BE49-F238E27FC236}">
                <a16:creationId xmlns:a16="http://schemas.microsoft.com/office/drawing/2014/main" id="{BEEC3DEB-8902-40DD-8ECC-040F10A60B48}"/>
              </a:ext>
            </a:extLst>
          </p:cNvPr>
          <p:cNvSpPr>
            <a:spLocks noGrp="1"/>
          </p:cNvSpPr>
          <p:nvPr/>
        </p:nvSpPr>
        <p:spPr>
          <a:xfrm>
            <a:off x="10791825" y="28679775"/>
            <a:ext cx="742950" cy="742950"/>
          </a:xfrm>
          <a:prstGeom prst="ellipse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strategy-3-title">
            <a:extLst>
              <a:ext uri="{FF2B5EF4-FFF2-40B4-BE49-F238E27FC236}">
                <a16:creationId xmlns:a16="http://schemas.microsoft.com/office/drawing/2014/main" id="{AF4C783F-52B8-4D8E-8146-AC51FEC01DCE}"/>
              </a:ext>
            </a:extLst>
          </p:cNvPr>
          <p:cNvSpPr>
            <a:spLocks noGrp="1"/>
          </p:cNvSpPr>
          <p:nvPr/>
        </p:nvSpPr>
        <p:spPr>
          <a:xfrm>
            <a:off x="11791950" y="28632150"/>
            <a:ext cx="769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Sampling controls</a:t>
            </a:r>
          </a:p>
        </p:txBody>
      </p:sp>
      <p:sp>
        <p:nvSpPr>
          <p:cNvPr id="62" name="strategy-3-body">
            <a:extLst>
              <a:ext uri="{FF2B5EF4-FFF2-40B4-BE49-F238E27FC236}">
                <a16:creationId xmlns:a16="http://schemas.microsoft.com/office/drawing/2014/main" id="{81253805-CC0A-40C5-AC84-64053C0A4DA0}"/>
              </a:ext>
            </a:extLst>
          </p:cNvPr>
          <p:cNvSpPr>
            <a:spLocks noGrp="1"/>
          </p:cNvSpPr>
          <p:nvPr/>
        </p:nvSpPr>
        <p:spPr>
          <a:xfrm>
            <a:off x="11791950" y="29203650"/>
            <a:ext cx="7696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>
                <a:solidFill>
                  <a:srgbClr val="526777"/>
                </a:solidFill>
              </a:defRPr>
            </a:pPr>
            <a:r>
              <a:rPr sz="2325" b="0">
                <a:solidFill>
                  <a:srgbClr val="526777"/>
                </a:solidFill>
              </a:rPr>
              <a:t>Natural shuffle, inverse-frequency weighted sampling, or balanced mini-batches.</a:t>
            </a:r>
          </a:p>
        </p:txBody>
      </p:sp>
      <p:sp>
        <p:nvSpPr>
          <p:cNvPr id="63" name="f1-title">
            <a:extLst>
              <a:ext uri="{FF2B5EF4-FFF2-40B4-BE49-F238E27FC236}">
                <a16:creationId xmlns:a16="http://schemas.microsoft.com/office/drawing/2014/main" id="{1893C5D3-AE26-4A45-B5E3-5FF4A3BD66D0}"/>
              </a:ext>
            </a:extLst>
          </p:cNvPr>
          <p:cNvSpPr>
            <a:spLocks noGrp="1"/>
          </p:cNvSpPr>
          <p:nvPr/>
        </p:nvSpPr>
        <p:spPr>
          <a:xfrm>
            <a:off x="10791825" y="31275337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 dirty="0">
                <a:solidFill>
                  <a:srgbClr val="102A43"/>
                </a:solidFill>
              </a:rPr>
              <a:t>Quantization preserves per-class F1</a:t>
            </a:r>
          </a:p>
        </p:txBody>
      </p:sp>
      <p:graphicFrame>
        <p:nvGraphicFramePr>
          <p:cNvPr id="192" name="Chart"/>
          <p:cNvGraphicFramePr/>
          <p:nvPr>
            <p:extLst>
              <p:ext uri="{D42A27DB-BD31-4B8C-83A1-F6EECF244321}">
                <p14:modId xmlns:p14="http://schemas.microsoft.com/office/powerpoint/2010/main" val="1072253268"/>
              </p:ext>
            </p:extLst>
          </p:nvPr>
        </p:nvGraphicFramePr>
        <p:xfrm>
          <a:off x="10791825" y="31775400"/>
          <a:ext cx="8696325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5" name="section-3">
            <a:extLst>
              <a:ext uri="{FF2B5EF4-FFF2-40B4-BE49-F238E27FC236}">
                <a16:creationId xmlns:a16="http://schemas.microsoft.com/office/drawing/2014/main" id="{EAE2A8B7-F6F3-4014-BDE3-0D36182EC401}"/>
              </a:ext>
            </a:extLst>
          </p:cNvPr>
          <p:cNvSpPr>
            <a:spLocks noGrp="1"/>
          </p:cNvSpPr>
          <p:nvPr/>
        </p:nvSpPr>
        <p:spPr>
          <a:xfrm>
            <a:off x="20250150" y="12344400"/>
            <a:ext cx="86963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05D3A"/>
                </a:solidFill>
              </a:defRPr>
            </a:pPr>
            <a:r>
              <a:rPr sz="4350" b="1">
                <a:solidFill>
                  <a:srgbClr val="F05D3A"/>
                </a:solidFill>
              </a:rPr>
              <a:t>3. Full-int8 compression keeps model quality</a:t>
            </a:r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71E1E346-CD30-4018-A6A3-FF7B544D1B94}"/>
              </a:ext>
            </a:extLst>
          </p:cNvPr>
          <p:cNvSpPr>
            <a:spLocks noGrp="1"/>
          </p:cNvSpPr>
          <p:nvPr/>
        </p:nvSpPr>
        <p:spPr>
          <a:xfrm>
            <a:off x="20250150" y="13671389"/>
            <a:ext cx="8696325" cy="0"/>
          </a:xfrm>
          <a:prstGeom prst="line">
            <a:avLst/>
          </a:prstGeom>
          <a:noFill/>
          <a:ln w="57150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compression-copy">
            <a:extLst>
              <a:ext uri="{FF2B5EF4-FFF2-40B4-BE49-F238E27FC236}">
                <a16:creationId xmlns:a16="http://schemas.microsoft.com/office/drawing/2014/main" id="{2D977072-B82B-400F-BC69-D23E2B20E1EA}"/>
              </a:ext>
            </a:extLst>
          </p:cNvPr>
          <p:cNvSpPr>
            <a:spLocks noGrp="1"/>
          </p:cNvSpPr>
          <p:nvPr/>
        </p:nvSpPr>
        <p:spPr>
          <a:xfrm>
            <a:off x="20250150" y="13773150"/>
            <a:ext cx="86963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0">
                <a:solidFill>
                  <a:srgbClr val="172B3A"/>
                </a:solidFill>
              </a:defRPr>
            </a:pPr>
            <a:r>
              <a:rPr sz="2625" b="0" dirty="0">
                <a:solidFill>
                  <a:srgbClr val="172B3A"/>
                </a:solidFill>
              </a:rPr>
              <a:t>Representative-data calibration quantizes weights, activations, inputs, and outputs to int8 for TensorFlow Lite Micro.</a:t>
            </a:r>
          </a:p>
        </p:txBody>
      </p:sp>
      <p:sp>
        <p:nvSpPr>
          <p:cNvPr id="68" name="size-title">
            <a:extLst>
              <a:ext uri="{FF2B5EF4-FFF2-40B4-BE49-F238E27FC236}">
                <a16:creationId xmlns:a16="http://schemas.microsoft.com/office/drawing/2014/main" id="{053EA1EE-5F08-4C45-B841-BBD2E22575A7}"/>
              </a:ext>
            </a:extLst>
          </p:cNvPr>
          <p:cNvSpPr>
            <a:spLocks noGrp="1"/>
          </p:cNvSpPr>
          <p:nvPr/>
        </p:nvSpPr>
        <p:spPr>
          <a:xfrm>
            <a:off x="20250150" y="15344775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 dirty="0">
                <a:solidFill>
                  <a:srgbClr val="102A43"/>
                </a:solidFill>
              </a:rPr>
              <a:t>Model </a:t>
            </a:r>
            <a:r>
              <a:rPr lang="en-US" sz="3150" b="1" dirty="0">
                <a:solidFill>
                  <a:srgbClr val="102A43"/>
                </a:solidFill>
              </a:rPr>
              <a:t>Size</a:t>
            </a:r>
            <a:endParaRPr sz="3150" b="1" dirty="0">
              <a:solidFill>
                <a:srgbClr val="102A43"/>
              </a:solidFill>
            </a:endParaRPr>
          </a:p>
        </p:txBody>
      </p:sp>
      <p:graphicFrame>
        <p:nvGraphicFramePr>
          <p:cNvPr id="197" name="Chart"/>
          <p:cNvGraphicFramePr/>
          <p:nvPr>
            <p:extLst>
              <p:ext uri="{D42A27DB-BD31-4B8C-83A1-F6EECF244321}">
                <p14:modId xmlns:p14="http://schemas.microsoft.com/office/powerpoint/2010/main" val="952139112"/>
              </p:ext>
            </p:extLst>
          </p:nvPr>
        </p:nvGraphicFramePr>
        <p:xfrm>
          <a:off x="20250150" y="16059150"/>
          <a:ext cx="8696325" cy="542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0" name="size-callout">
            <a:extLst>
              <a:ext uri="{FF2B5EF4-FFF2-40B4-BE49-F238E27FC236}">
                <a16:creationId xmlns:a16="http://schemas.microsoft.com/office/drawing/2014/main" id="{05265A9B-426A-47A8-8006-857DBCE73282}"/>
              </a:ext>
            </a:extLst>
          </p:cNvPr>
          <p:cNvSpPr>
            <a:spLocks noGrp="1"/>
          </p:cNvSpPr>
          <p:nvPr/>
        </p:nvSpPr>
        <p:spPr>
          <a:xfrm>
            <a:off x="20250150" y="21536025"/>
            <a:ext cx="8696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05D3A"/>
                </a:solidFill>
              </a:defRPr>
            </a:pPr>
            <a:r>
              <a:rPr sz="2550" b="1">
                <a:solidFill>
                  <a:srgbClr val="F05D3A"/>
                </a:solidFill>
              </a:rPr>
              <a:t>-73.9% size  |  -0.14 percentage points accuracy</a:t>
            </a:r>
          </a:p>
        </p:txBody>
      </p:sp>
      <p:sp>
        <p:nvSpPr>
          <p:cNvPr id="71" name="matrix-title">
            <a:extLst>
              <a:ext uri="{FF2B5EF4-FFF2-40B4-BE49-F238E27FC236}">
                <a16:creationId xmlns:a16="http://schemas.microsoft.com/office/drawing/2014/main" id="{3A0112B5-84EB-4A9A-AD7F-A972C62D96F7}"/>
              </a:ext>
            </a:extLst>
          </p:cNvPr>
          <p:cNvSpPr>
            <a:spLocks noGrp="1"/>
          </p:cNvSpPr>
          <p:nvPr/>
        </p:nvSpPr>
        <p:spPr>
          <a:xfrm>
            <a:off x="20250150" y="22631400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INT8 normalized confusion matrix</a:t>
            </a:r>
          </a:p>
        </p:txBody>
      </p:sp>
      <p:sp>
        <p:nvSpPr>
          <p:cNvPr id="72" name="matrix-col-0">
            <a:extLst>
              <a:ext uri="{FF2B5EF4-FFF2-40B4-BE49-F238E27FC236}">
                <a16:creationId xmlns:a16="http://schemas.microsoft.com/office/drawing/2014/main" id="{3F35EC06-B153-4613-86CA-13D667AEA238}"/>
              </a:ext>
            </a:extLst>
          </p:cNvPr>
          <p:cNvSpPr>
            <a:spLocks noGrp="1"/>
          </p:cNvSpPr>
          <p:nvPr/>
        </p:nvSpPr>
        <p:spPr>
          <a:xfrm>
            <a:off x="21964650" y="23555325"/>
            <a:ext cx="120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N</a:t>
            </a:r>
          </a:p>
        </p:txBody>
      </p:sp>
      <p:sp>
        <p:nvSpPr>
          <p:cNvPr id="73" name="matrix-row-0">
            <a:extLst>
              <a:ext uri="{FF2B5EF4-FFF2-40B4-BE49-F238E27FC236}">
                <a16:creationId xmlns:a16="http://schemas.microsoft.com/office/drawing/2014/main" id="{47840EDB-8275-4CC7-A31F-A80FDA2868A0}"/>
              </a:ext>
            </a:extLst>
          </p:cNvPr>
          <p:cNvSpPr>
            <a:spLocks noGrp="1"/>
          </p:cNvSpPr>
          <p:nvPr/>
        </p:nvSpPr>
        <p:spPr>
          <a:xfrm>
            <a:off x="21345525" y="244411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N</a:t>
            </a:r>
          </a:p>
        </p:txBody>
      </p:sp>
      <p:sp>
        <p:nvSpPr>
          <p:cNvPr id="74" name="matrix-col-1">
            <a:extLst>
              <a:ext uri="{FF2B5EF4-FFF2-40B4-BE49-F238E27FC236}">
                <a16:creationId xmlns:a16="http://schemas.microsoft.com/office/drawing/2014/main" id="{BC03DEF6-DE44-47A5-BA62-645BAD2376E2}"/>
              </a:ext>
            </a:extLst>
          </p:cNvPr>
          <p:cNvSpPr>
            <a:spLocks noGrp="1"/>
          </p:cNvSpPr>
          <p:nvPr/>
        </p:nvSpPr>
        <p:spPr>
          <a:xfrm>
            <a:off x="23164800" y="23555325"/>
            <a:ext cx="120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</a:t>
            </a:r>
          </a:p>
        </p:txBody>
      </p:sp>
      <p:sp>
        <p:nvSpPr>
          <p:cNvPr id="75" name="matrix-row-1">
            <a:extLst>
              <a:ext uri="{FF2B5EF4-FFF2-40B4-BE49-F238E27FC236}">
                <a16:creationId xmlns:a16="http://schemas.microsoft.com/office/drawing/2014/main" id="{2FEE60C9-26DE-4A17-9255-970E3F35CE7E}"/>
              </a:ext>
            </a:extLst>
          </p:cNvPr>
          <p:cNvSpPr>
            <a:spLocks noGrp="1"/>
          </p:cNvSpPr>
          <p:nvPr/>
        </p:nvSpPr>
        <p:spPr>
          <a:xfrm>
            <a:off x="21345525" y="256413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</a:t>
            </a:r>
          </a:p>
        </p:txBody>
      </p:sp>
      <p:sp>
        <p:nvSpPr>
          <p:cNvPr id="76" name="matrix-col-2">
            <a:extLst>
              <a:ext uri="{FF2B5EF4-FFF2-40B4-BE49-F238E27FC236}">
                <a16:creationId xmlns:a16="http://schemas.microsoft.com/office/drawing/2014/main" id="{F7FD5D48-F0E3-4846-AD80-5F155B997BB5}"/>
              </a:ext>
            </a:extLst>
          </p:cNvPr>
          <p:cNvSpPr>
            <a:spLocks noGrp="1"/>
          </p:cNvSpPr>
          <p:nvPr/>
        </p:nvSpPr>
        <p:spPr>
          <a:xfrm>
            <a:off x="24364950" y="23555325"/>
            <a:ext cx="120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V</a:t>
            </a:r>
          </a:p>
        </p:txBody>
      </p:sp>
      <p:sp>
        <p:nvSpPr>
          <p:cNvPr id="77" name="matrix-row-2">
            <a:extLst>
              <a:ext uri="{FF2B5EF4-FFF2-40B4-BE49-F238E27FC236}">
                <a16:creationId xmlns:a16="http://schemas.microsoft.com/office/drawing/2014/main" id="{6E235EF8-CAB6-4EC4-9851-0CAA88FE22BA}"/>
              </a:ext>
            </a:extLst>
          </p:cNvPr>
          <p:cNvSpPr>
            <a:spLocks noGrp="1"/>
          </p:cNvSpPr>
          <p:nvPr/>
        </p:nvSpPr>
        <p:spPr>
          <a:xfrm>
            <a:off x="21345525" y="268414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V</a:t>
            </a:r>
          </a:p>
        </p:txBody>
      </p:sp>
      <p:sp>
        <p:nvSpPr>
          <p:cNvPr id="78" name="matrix-col-3">
            <a:extLst>
              <a:ext uri="{FF2B5EF4-FFF2-40B4-BE49-F238E27FC236}">
                <a16:creationId xmlns:a16="http://schemas.microsoft.com/office/drawing/2014/main" id="{FB8E863F-71DE-4941-94AC-3DFB978A6B85}"/>
              </a:ext>
            </a:extLst>
          </p:cNvPr>
          <p:cNvSpPr>
            <a:spLocks noGrp="1"/>
          </p:cNvSpPr>
          <p:nvPr/>
        </p:nvSpPr>
        <p:spPr>
          <a:xfrm>
            <a:off x="25565100" y="23555325"/>
            <a:ext cx="120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</a:t>
            </a:r>
          </a:p>
        </p:txBody>
      </p:sp>
      <p:sp>
        <p:nvSpPr>
          <p:cNvPr id="79" name="matrix-row-3">
            <a:extLst>
              <a:ext uri="{FF2B5EF4-FFF2-40B4-BE49-F238E27FC236}">
                <a16:creationId xmlns:a16="http://schemas.microsoft.com/office/drawing/2014/main" id="{81FEEF99-D5DB-42B6-A79C-280189819140}"/>
              </a:ext>
            </a:extLst>
          </p:cNvPr>
          <p:cNvSpPr>
            <a:spLocks noGrp="1"/>
          </p:cNvSpPr>
          <p:nvPr/>
        </p:nvSpPr>
        <p:spPr>
          <a:xfrm>
            <a:off x="21345525" y="280416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</a:t>
            </a:r>
          </a:p>
        </p:txBody>
      </p:sp>
      <p:sp>
        <p:nvSpPr>
          <p:cNvPr id="80" name="matrix-col-4">
            <a:extLst>
              <a:ext uri="{FF2B5EF4-FFF2-40B4-BE49-F238E27FC236}">
                <a16:creationId xmlns:a16="http://schemas.microsoft.com/office/drawing/2014/main" id="{2B6CEED1-B9EA-4F8C-8E86-99386DACF235}"/>
              </a:ext>
            </a:extLst>
          </p:cNvPr>
          <p:cNvSpPr>
            <a:spLocks noGrp="1"/>
          </p:cNvSpPr>
          <p:nvPr/>
        </p:nvSpPr>
        <p:spPr>
          <a:xfrm>
            <a:off x="26765250" y="23555325"/>
            <a:ext cx="120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Q</a:t>
            </a:r>
          </a:p>
        </p:txBody>
      </p:sp>
      <p:sp>
        <p:nvSpPr>
          <p:cNvPr id="81" name="matrix-row-4">
            <a:extLst>
              <a:ext uri="{FF2B5EF4-FFF2-40B4-BE49-F238E27FC236}">
                <a16:creationId xmlns:a16="http://schemas.microsoft.com/office/drawing/2014/main" id="{D886FE06-5446-4190-A360-BD1AC501A945}"/>
              </a:ext>
            </a:extLst>
          </p:cNvPr>
          <p:cNvSpPr>
            <a:spLocks noGrp="1"/>
          </p:cNvSpPr>
          <p:nvPr/>
        </p:nvSpPr>
        <p:spPr>
          <a:xfrm>
            <a:off x="21345525" y="292417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Q</a:t>
            </a:r>
          </a:p>
        </p:txBody>
      </p:sp>
      <p:sp>
        <p:nvSpPr>
          <p:cNvPr id="82" name="matrix-0-0">
            <a:extLst>
              <a:ext uri="{FF2B5EF4-FFF2-40B4-BE49-F238E27FC236}">
                <a16:creationId xmlns:a16="http://schemas.microsoft.com/office/drawing/2014/main" id="{A5A28A4B-B149-453C-9843-123D5A86326A}"/>
              </a:ext>
            </a:extLst>
          </p:cNvPr>
          <p:cNvSpPr>
            <a:spLocks noGrp="1"/>
          </p:cNvSpPr>
          <p:nvPr/>
        </p:nvSpPr>
        <p:spPr>
          <a:xfrm>
            <a:off x="21964650" y="24107775"/>
            <a:ext cx="1200150" cy="1200150"/>
          </a:xfrm>
          <a:prstGeom prst="rect">
            <a:avLst/>
          </a:prstGeom>
          <a:solidFill>
            <a:srgbClr val="167A7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0.96</a:t>
            </a:r>
          </a:p>
        </p:txBody>
      </p:sp>
      <p:sp>
        <p:nvSpPr>
          <p:cNvPr id="83" name="matrix-0-1">
            <a:extLst>
              <a:ext uri="{FF2B5EF4-FFF2-40B4-BE49-F238E27FC236}">
                <a16:creationId xmlns:a16="http://schemas.microsoft.com/office/drawing/2014/main" id="{38D82009-0015-4490-8F36-F4FB6EE189EF}"/>
              </a:ext>
            </a:extLst>
          </p:cNvPr>
          <p:cNvSpPr>
            <a:spLocks noGrp="1"/>
          </p:cNvSpPr>
          <p:nvPr/>
        </p:nvSpPr>
        <p:spPr>
          <a:xfrm>
            <a:off x="23164800" y="24107775"/>
            <a:ext cx="1200150" cy="1200150"/>
          </a:xfrm>
          <a:prstGeom prst="rect">
            <a:avLst/>
          </a:prstGeom>
          <a:solidFill>
            <a:srgbClr val="EBF5F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0.01</a:t>
            </a:r>
          </a:p>
        </p:txBody>
      </p:sp>
      <p:sp>
        <p:nvSpPr>
          <p:cNvPr id="84" name="matrix-0-2">
            <a:extLst>
              <a:ext uri="{FF2B5EF4-FFF2-40B4-BE49-F238E27FC236}">
                <a16:creationId xmlns:a16="http://schemas.microsoft.com/office/drawing/2014/main" id="{2B56CC00-4261-4C85-B0D2-08A87AF83F64}"/>
              </a:ext>
            </a:extLst>
          </p:cNvPr>
          <p:cNvSpPr>
            <a:spLocks noGrp="1"/>
          </p:cNvSpPr>
          <p:nvPr/>
        </p:nvSpPr>
        <p:spPr>
          <a:xfrm>
            <a:off x="24364950" y="24107775"/>
            <a:ext cx="1200150" cy="1200150"/>
          </a:xfrm>
          <a:prstGeom prst="rect">
            <a:avLst/>
          </a:prstGeom>
          <a:solidFill>
            <a:srgbClr val="E5F2E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0.02</a:t>
            </a:r>
          </a:p>
        </p:txBody>
      </p:sp>
      <p:sp>
        <p:nvSpPr>
          <p:cNvPr id="85" name="matrix-0-3">
            <a:extLst>
              <a:ext uri="{FF2B5EF4-FFF2-40B4-BE49-F238E27FC236}">
                <a16:creationId xmlns:a16="http://schemas.microsoft.com/office/drawing/2014/main" id="{63E7A13D-6E91-4CCE-84A3-4704AE9D17A7}"/>
              </a:ext>
            </a:extLst>
          </p:cNvPr>
          <p:cNvSpPr>
            <a:spLocks noGrp="1"/>
          </p:cNvSpPr>
          <p:nvPr/>
        </p:nvSpPr>
        <p:spPr>
          <a:xfrm>
            <a:off x="25565100" y="24107775"/>
            <a:ext cx="1200150" cy="1200150"/>
          </a:xfrm>
          <a:prstGeom prst="rect">
            <a:avLst/>
          </a:prstGeom>
          <a:solidFill>
            <a:srgbClr val="EBF5F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0.01</a:t>
            </a:r>
          </a:p>
        </p:txBody>
      </p:sp>
      <p:sp>
        <p:nvSpPr>
          <p:cNvPr id="86" name="matrix-0-4">
            <a:extLst>
              <a:ext uri="{FF2B5EF4-FFF2-40B4-BE49-F238E27FC236}">
                <a16:creationId xmlns:a16="http://schemas.microsoft.com/office/drawing/2014/main" id="{F9561E35-607E-41E3-AC52-E2308C6A1DB0}"/>
              </a:ext>
            </a:extLst>
          </p:cNvPr>
          <p:cNvSpPr>
            <a:spLocks noGrp="1"/>
          </p:cNvSpPr>
          <p:nvPr/>
        </p:nvSpPr>
        <p:spPr>
          <a:xfrm>
            <a:off x="26765250" y="2410777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87" name="matrix-1-0">
            <a:extLst>
              <a:ext uri="{FF2B5EF4-FFF2-40B4-BE49-F238E27FC236}">
                <a16:creationId xmlns:a16="http://schemas.microsoft.com/office/drawing/2014/main" id="{EB5AA3B0-AC81-473B-B66D-7A1C2D7AF6C2}"/>
              </a:ext>
            </a:extLst>
          </p:cNvPr>
          <p:cNvSpPr>
            <a:spLocks noGrp="1"/>
          </p:cNvSpPr>
          <p:nvPr/>
        </p:nvSpPr>
        <p:spPr>
          <a:xfrm>
            <a:off x="21964650" y="25307925"/>
            <a:ext cx="1200150" cy="1200150"/>
          </a:xfrm>
          <a:prstGeom prst="rect">
            <a:avLst/>
          </a:prstGeom>
          <a:solidFill>
            <a:srgbClr val="84B9B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0.37</a:t>
            </a:r>
          </a:p>
        </p:txBody>
      </p:sp>
      <p:sp>
        <p:nvSpPr>
          <p:cNvPr id="88" name="matrix-1-1">
            <a:extLst>
              <a:ext uri="{FF2B5EF4-FFF2-40B4-BE49-F238E27FC236}">
                <a16:creationId xmlns:a16="http://schemas.microsoft.com/office/drawing/2014/main" id="{24BB14FA-719A-4550-9ED0-02618FE4940E}"/>
              </a:ext>
            </a:extLst>
          </p:cNvPr>
          <p:cNvSpPr>
            <a:spLocks noGrp="1"/>
          </p:cNvSpPr>
          <p:nvPr/>
        </p:nvSpPr>
        <p:spPr>
          <a:xfrm>
            <a:off x="23164800" y="25307925"/>
            <a:ext cx="1200150" cy="1200150"/>
          </a:xfrm>
          <a:prstGeom prst="rect">
            <a:avLst/>
          </a:prstGeom>
          <a:solidFill>
            <a:srgbClr val="5DA39C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0.56</a:t>
            </a:r>
          </a:p>
        </p:txBody>
      </p:sp>
      <p:sp>
        <p:nvSpPr>
          <p:cNvPr id="89" name="matrix-1-2">
            <a:extLst>
              <a:ext uri="{FF2B5EF4-FFF2-40B4-BE49-F238E27FC236}">
                <a16:creationId xmlns:a16="http://schemas.microsoft.com/office/drawing/2014/main" id="{BD5E3C64-8A9A-458F-99F1-6DF5F1282627}"/>
              </a:ext>
            </a:extLst>
          </p:cNvPr>
          <p:cNvSpPr>
            <a:spLocks noGrp="1"/>
          </p:cNvSpPr>
          <p:nvPr/>
        </p:nvSpPr>
        <p:spPr>
          <a:xfrm>
            <a:off x="24364950" y="25307925"/>
            <a:ext cx="1200150" cy="1200150"/>
          </a:xfrm>
          <a:prstGeom prst="rect">
            <a:avLst/>
          </a:prstGeom>
          <a:solidFill>
            <a:srgbClr val="DDEDE8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0.04</a:t>
            </a:r>
          </a:p>
        </p:txBody>
      </p:sp>
      <p:sp>
        <p:nvSpPr>
          <p:cNvPr id="90" name="matrix-1-3">
            <a:extLst>
              <a:ext uri="{FF2B5EF4-FFF2-40B4-BE49-F238E27FC236}">
                <a16:creationId xmlns:a16="http://schemas.microsoft.com/office/drawing/2014/main" id="{9D71D1D3-1FFB-4DF5-9FF2-016B57176383}"/>
              </a:ext>
            </a:extLst>
          </p:cNvPr>
          <p:cNvSpPr>
            <a:spLocks noGrp="1"/>
          </p:cNvSpPr>
          <p:nvPr/>
        </p:nvSpPr>
        <p:spPr>
          <a:xfrm>
            <a:off x="25565100" y="25307925"/>
            <a:ext cx="1200150" cy="1200150"/>
          </a:xfrm>
          <a:prstGeom prst="rect">
            <a:avLst/>
          </a:prstGeom>
          <a:solidFill>
            <a:srgbClr val="EBF5F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0.01</a:t>
            </a:r>
          </a:p>
        </p:txBody>
      </p:sp>
      <p:sp>
        <p:nvSpPr>
          <p:cNvPr id="91" name="matrix-1-4">
            <a:extLst>
              <a:ext uri="{FF2B5EF4-FFF2-40B4-BE49-F238E27FC236}">
                <a16:creationId xmlns:a16="http://schemas.microsoft.com/office/drawing/2014/main" id="{1F596685-7068-40EE-8640-D2C72EBCCF42}"/>
              </a:ext>
            </a:extLst>
          </p:cNvPr>
          <p:cNvSpPr>
            <a:spLocks noGrp="1"/>
          </p:cNvSpPr>
          <p:nvPr/>
        </p:nvSpPr>
        <p:spPr>
          <a:xfrm>
            <a:off x="26765250" y="25307925"/>
            <a:ext cx="1200150" cy="1200150"/>
          </a:xfrm>
          <a:prstGeom prst="rect">
            <a:avLst/>
          </a:prstGeom>
          <a:solidFill>
            <a:srgbClr val="EBF5F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0.01</a:t>
            </a:r>
          </a:p>
        </p:txBody>
      </p:sp>
      <p:sp>
        <p:nvSpPr>
          <p:cNvPr id="92" name="matrix-2-0">
            <a:extLst>
              <a:ext uri="{FF2B5EF4-FFF2-40B4-BE49-F238E27FC236}">
                <a16:creationId xmlns:a16="http://schemas.microsoft.com/office/drawing/2014/main" id="{83590582-806D-455B-82A4-87E880F55CFA}"/>
              </a:ext>
            </a:extLst>
          </p:cNvPr>
          <p:cNvSpPr>
            <a:spLocks noGrp="1"/>
          </p:cNvSpPr>
          <p:nvPr/>
        </p:nvSpPr>
        <p:spPr>
          <a:xfrm>
            <a:off x="21964650" y="26508075"/>
            <a:ext cx="1200150" cy="1200150"/>
          </a:xfrm>
          <a:prstGeom prst="rect">
            <a:avLst/>
          </a:prstGeom>
          <a:solidFill>
            <a:srgbClr val="E5F2E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0.02</a:t>
            </a:r>
          </a:p>
        </p:txBody>
      </p:sp>
      <p:sp>
        <p:nvSpPr>
          <p:cNvPr id="93" name="matrix-2-1">
            <a:extLst>
              <a:ext uri="{FF2B5EF4-FFF2-40B4-BE49-F238E27FC236}">
                <a16:creationId xmlns:a16="http://schemas.microsoft.com/office/drawing/2014/main" id="{3A860D6C-147A-4531-92B5-213031A41D13}"/>
              </a:ext>
            </a:extLst>
          </p:cNvPr>
          <p:cNvSpPr>
            <a:spLocks noGrp="1"/>
          </p:cNvSpPr>
          <p:nvPr/>
        </p:nvSpPr>
        <p:spPr>
          <a:xfrm>
            <a:off x="23164800" y="2650807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94" name="matrix-2-2">
            <a:extLst>
              <a:ext uri="{FF2B5EF4-FFF2-40B4-BE49-F238E27FC236}">
                <a16:creationId xmlns:a16="http://schemas.microsoft.com/office/drawing/2014/main" id="{5ABB08F6-4132-4924-B5BB-5C28F562933B}"/>
              </a:ext>
            </a:extLst>
          </p:cNvPr>
          <p:cNvSpPr>
            <a:spLocks noGrp="1"/>
          </p:cNvSpPr>
          <p:nvPr/>
        </p:nvSpPr>
        <p:spPr>
          <a:xfrm>
            <a:off x="24364950" y="26508075"/>
            <a:ext cx="1200150" cy="1200150"/>
          </a:xfrm>
          <a:prstGeom prst="rect">
            <a:avLst/>
          </a:prstGeom>
          <a:solidFill>
            <a:srgbClr val="177B7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0.95</a:t>
            </a:r>
          </a:p>
        </p:txBody>
      </p:sp>
      <p:sp>
        <p:nvSpPr>
          <p:cNvPr id="95" name="matrix-2-3">
            <a:extLst>
              <a:ext uri="{FF2B5EF4-FFF2-40B4-BE49-F238E27FC236}">
                <a16:creationId xmlns:a16="http://schemas.microsoft.com/office/drawing/2014/main" id="{5E6E5A6F-54C0-4C48-A3AF-3DBACA886788}"/>
              </a:ext>
            </a:extLst>
          </p:cNvPr>
          <p:cNvSpPr>
            <a:spLocks noGrp="1"/>
          </p:cNvSpPr>
          <p:nvPr/>
        </p:nvSpPr>
        <p:spPr>
          <a:xfrm>
            <a:off x="25565100" y="26508075"/>
            <a:ext cx="1200150" cy="1200150"/>
          </a:xfrm>
          <a:prstGeom prst="rect">
            <a:avLst/>
          </a:prstGeom>
          <a:solidFill>
            <a:srgbClr val="E5F2E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0.02</a:t>
            </a:r>
          </a:p>
        </p:txBody>
      </p:sp>
      <p:sp>
        <p:nvSpPr>
          <p:cNvPr id="96" name="matrix-2-4">
            <a:extLst>
              <a:ext uri="{FF2B5EF4-FFF2-40B4-BE49-F238E27FC236}">
                <a16:creationId xmlns:a16="http://schemas.microsoft.com/office/drawing/2014/main" id="{F608C5C6-A2F2-4D36-BC1E-0BB3DE9AB3CE}"/>
              </a:ext>
            </a:extLst>
          </p:cNvPr>
          <p:cNvSpPr>
            <a:spLocks noGrp="1"/>
          </p:cNvSpPr>
          <p:nvPr/>
        </p:nvSpPr>
        <p:spPr>
          <a:xfrm>
            <a:off x="26765250" y="2650807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97" name="matrix-3-0">
            <a:extLst>
              <a:ext uri="{FF2B5EF4-FFF2-40B4-BE49-F238E27FC236}">
                <a16:creationId xmlns:a16="http://schemas.microsoft.com/office/drawing/2014/main" id="{D2F4E1B0-B833-4B13-9FB0-2291F0793637}"/>
              </a:ext>
            </a:extLst>
          </p:cNvPr>
          <p:cNvSpPr>
            <a:spLocks noGrp="1"/>
          </p:cNvSpPr>
          <p:nvPr/>
        </p:nvSpPr>
        <p:spPr>
          <a:xfrm>
            <a:off x="21964650" y="27708225"/>
            <a:ext cx="1200150" cy="1200150"/>
          </a:xfrm>
          <a:prstGeom prst="rect">
            <a:avLst/>
          </a:prstGeom>
          <a:solidFill>
            <a:srgbClr val="C8E1D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0.10</a:t>
            </a:r>
          </a:p>
        </p:txBody>
      </p:sp>
      <p:sp>
        <p:nvSpPr>
          <p:cNvPr id="98" name="matrix-3-1">
            <a:extLst>
              <a:ext uri="{FF2B5EF4-FFF2-40B4-BE49-F238E27FC236}">
                <a16:creationId xmlns:a16="http://schemas.microsoft.com/office/drawing/2014/main" id="{0BA1FDA4-FBB4-49CB-8788-AC283FC081EC}"/>
              </a:ext>
            </a:extLst>
          </p:cNvPr>
          <p:cNvSpPr>
            <a:spLocks noGrp="1"/>
          </p:cNvSpPr>
          <p:nvPr/>
        </p:nvSpPr>
        <p:spPr>
          <a:xfrm>
            <a:off x="23164800" y="2770822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99" name="matrix-3-2">
            <a:extLst>
              <a:ext uri="{FF2B5EF4-FFF2-40B4-BE49-F238E27FC236}">
                <a16:creationId xmlns:a16="http://schemas.microsoft.com/office/drawing/2014/main" id="{9936E9BC-AE5F-4927-838B-B4635C81D123}"/>
              </a:ext>
            </a:extLst>
          </p:cNvPr>
          <p:cNvSpPr>
            <a:spLocks noGrp="1"/>
          </p:cNvSpPr>
          <p:nvPr/>
        </p:nvSpPr>
        <p:spPr>
          <a:xfrm>
            <a:off x="24364950" y="27708225"/>
            <a:ext cx="1200150" cy="1200150"/>
          </a:xfrm>
          <a:prstGeom prst="rect">
            <a:avLst/>
          </a:prstGeom>
          <a:solidFill>
            <a:srgbClr val="CBE3D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0.09</a:t>
            </a:r>
          </a:p>
        </p:txBody>
      </p:sp>
      <p:sp>
        <p:nvSpPr>
          <p:cNvPr id="100" name="matrix-3-3">
            <a:extLst>
              <a:ext uri="{FF2B5EF4-FFF2-40B4-BE49-F238E27FC236}">
                <a16:creationId xmlns:a16="http://schemas.microsoft.com/office/drawing/2014/main" id="{BFD615B4-AC96-418B-97C7-C7D3A29FEBCF}"/>
              </a:ext>
            </a:extLst>
          </p:cNvPr>
          <p:cNvSpPr>
            <a:spLocks noGrp="1"/>
          </p:cNvSpPr>
          <p:nvPr/>
        </p:nvSpPr>
        <p:spPr>
          <a:xfrm>
            <a:off x="25565100" y="27708225"/>
            <a:ext cx="1200150" cy="1200150"/>
          </a:xfrm>
          <a:prstGeom prst="rect">
            <a:avLst/>
          </a:prstGeom>
          <a:solidFill>
            <a:srgbClr val="2F8981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0.81</a:t>
            </a:r>
          </a:p>
        </p:txBody>
      </p:sp>
      <p:sp>
        <p:nvSpPr>
          <p:cNvPr id="101" name="matrix-3-4">
            <a:extLst>
              <a:ext uri="{FF2B5EF4-FFF2-40B4-BE49-F238E27FC236}">
                <a16:creationId xmlns:a16="http://schemas.microsoft.com/office/drawing/2014/main" id="{BA8E1CA1-2161-4CB2-B30F-D4A3C3386F50}"/>
              </a:ext>
            </a:extLst>
          </p:cNvPr>
          <p:cNvSpPr>
            <a:spLocks noGrp="1"/>
          </p:cNvSpPr>
          <p:nvPr/>
        </p:nvSpPr>
        <p:spPr>
          <a:xfrm>
            <a:off x="26765250" y="2770822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102" name="matrix-4-0">
            <a:extLst>
              <a:ext uri="{FF2B5EF4-FFF2-40B4-BE49-F238E27FC236}">
                <a16:creationId xmlns:a16="http://schemas.microsoft.com/office/drawing/2014/main" id="{4A46AB3A-CEB7-4369-85A0-025468DFD19B}"/>
              </a:ext>
            </a:extLst>
          </p:cNvPr>
          <p:cNvSpPr>
            <a:spLocks noGrp="1"/>
          </p:cNvSpPr>
          <p:nvPr/>
        </p:nvSpPr>
        <p:spPr>
          <a:xfrm>
            <a:off x="21964650" y="28908375"/>
            <a:ext cx="1200150" cy="1200150"/>
          </a:xfrm>
          <a:prstGeom prst="rect">
            <a:avLst/>
          </a:prstGeom>
          <a:solidFill>
            <a:srgbClr val="E5F2E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0.02</a:t>
            </a:r>
          </a:p>
        </p:txBody>
      </p:sp>
      <p:sp>
        <p:nvSpPr>
          <p:cNvPr id="103" name="matrix-4-1">
            <a:extLst>
              <a:ext uri="{FF2B5EF4-FFF2-40B4-BE49-F238E27FC236}">
                <a16:creationId xmlns:a16="http://schemas.microsoft.com/office/drawing/2014/main" id="{5E1753DA-B5C9-4BC7-93FF-ECBA8608DD09}"/>
              </a:ext>
            </a:extLst>
          </p:cNvPr>
          <p:cNvSpPr>
            <a:spLocks noGrp="1"/>
          </p:cNvSpPr>
          <p:nvPr/>
        </p:nvSpPr>
        <p:spPr>
          <a:xfrm>
            <a:off x="23164800" y="2890837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104" name="matrix-4-2">
            <a:extLst>
              <a:ext uri="{FF2B5EF4-FFF2-40B4-BE49-F238E27FC236}">
                <a16:creationId xmlns:a16="http://schemas.microsoft.com/office/drawing/2014/main" id="{08FF1933-068D-413A-96A0-FBAE751184D8}"/>
              </a:ext>
            </a:extLst>
          </p:cNvPr>
          <p:cNvSpPr>
            <a:spLocks noGrp="1"/>
          </p:cNvSpPr>
          <p:nvPr/>
        </p:nvSpPr>
        <p:spPr>
          <a:xfrm>
            <a:off x="24364950" y="28908375"/>
            <a:ext cx="1200150" cy="1200150"/>
          </a:xfrm>
          <a:prstGeom prst="rect">
            <a:avLst/>
          </a:prstGeom>
          <a:solidFill>
            <a:srgbClr val="EBF5F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0.01</a:t>
            </a:r>
          </a:p>
        </p:txBody>
      </p:sp>
      <p:sp>
        <p:nvSpPr>
          <p:cNvPr id="105" name="matrix-4-3">
            <a:extLst>
              <a:ext uri="{FF2B5EF4-FFF2-40B4-BE49-F238E27FC236}">
                <a16:creationId xmlns:a16="http://schemas.microsoft.com/office/drawing/2014/main" id="{E19C3984-8F60-4FEB-B86B-0722ED882E06}"/>
              </a:ext>
            </a:extLst>
          </p:cNvPr>
          <p:cNvSpPr>
            <a:spLocks noGrp="1"/>
          </p:cNvSpPr>
          <p:nvPr/>
        </p:nvSpPr>
        <p:spPr>
          <a:xfrm>
            <a:off x="25565100" y="28908375"/>
            <a:ext cx="1200150" cy="1200150"/>
          </a:xfrm>
          <a:prstGeom prst="rect">
            <a:avLst/>
          </a:prstGeom>
          <a:solidFill>
            <a:srgbClr val="F3FAF5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172B3A"/>
                </a:solidFill>
              </a:defRPr>
            </a:pPr>
            <a:r>
              <a:rPr sz="2175" b="0">
                <a:solidFill>
                  <a:srgbClr val="172B3A"/>
                </a:solidFill>
              </a:rPr>
              <a:t>0.00</a:t>
            </a:r>
          </a:p>
        </p:txBody>
      </p:sp>
      <p:sp>
        <p:nvSpPr>
          <p:cNvPr id="106" name="matrix-4-4">
            <a:extLst>
              <a:ext uri="{FF2B5EF4-FFF2-40B4-BE49-F238E27FC236}">
                <a16:creationId xmlns:a16="http://schemas.microsoft.com/office/drawing/2014/main" id="{A0652A36-2AC9-47D0-ACA7-AB2C748C68FB}"/>
              </a:ext>
            </a:extLst>
          </p:cNvPr>
          <p:cNvSpPr>
            <a:spLocks noGrp="1"/>
          </p:cNvSpPr>
          <p:nvPr/>
        </p:nvSpPr>
        <p:spPr>
          <a:xfrm>
            <a:off x="26765250" y="28908375"/>
            <a:ext cx="1200150" cy="1200150"/>
          </a:xfrm>
          <a:prstGeom prst="rect">
            <a:avLst/>
          </a:prstGeom>
          <a:solidFill>
            <a:srgbClr val="147971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107" name="matrix-x-label">
            <a:extLst>
              <a:ext uri="{FF2B5EF4-FFF2-40B4-BE49-F238E27FC236}">
                <a16:creationId xmlns:a16="http://schemas.microsoft.com/office/drawing/2014/main" id="{5997318A-16CB-4B8F-B8C4-3666F6CD948F}"/>
              </a:ext>
            </a:extLst>
          </p:cNvPr>
          <p:cNvSpPr>
            <a:spLocks noGrp="1"/>
          </p:cNvSpPr>
          <p:nvPr/>
        </p:nvSpPr>
        <p:spPr>
          <a:xfrm>
            <a:off x="22964775" y="303466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>
                <a:solidFill>
                  <a:srgbClr val="526777"/>
                </a:solidFill>
              </a:defRPr>
            </a:pPr>
            <a:r>
              <a:rPr sz="2025" b="0">
                <a:solidFill>
                  <a:srgbClr val="526777"/>
                </a:solidFill>
              </a:rPr>
              <a:t>Predicted class</a:t>
            </a:r>
          </a:p>
        </p:txBody>
      </p:sp>
      <p:sp>
        <p:nvSpPr>
          <p:cNvPr id="108" name="matrix-insight">
            <a:extLst>
              <a:ext uri="{FF2B5EF4-FFF2-40B4-BE49-F238E27FC236}">
                <a16:creationId xmlns:a16="http://schemas.microsoft.com/office/drawing/2014/main" id="{D68088D9-56D2-4778-B889-46C3DE03D322}"/>
              </a:ext>
            </a:extLst>
          </p:cNvPr>
          <p:cNvSpPr>
            <a:spLocks noGrp="1"/>
          </p:cNvSpPr>
          <p:nvPr/>
        </p:nvSpPr>
        <p:spPr>
          <a:xfrm>
            <a:off x="20250150" y="30727650"/>
            <a:ext cx="86963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05D3A"/>
                </a:solidFill>
              </a:defRPr>
            </a:pPr>
            <a:r>
              <a:rPr sz="2550" b="1">
                <a:solidFill>
                  <a:srgbClr val="F05D3A"/>
                </a:solidFill>
              </a:rPr>
              <a:t>Class S remains hardest: 37% are confused with normal beats.</a:t>
            </a:r>
          </a:p>
        </p:txBody>
      </p:sp>
      <p:sp>
        <p:nvSpPr>
          <p:cNvPr id="109" name="deployment-title">
            <a:extLst>
              <a:ext uri="{FF2B5EF4-FFF2-40B4-BE49-F238E27FC236}">
                <a16:creationId xmlns:a16="http://schemas.microsoft.com/office/drawing/2014/main" id="{52C1ADE0-8A88-4E0E-84A2-962E7C35352C}"/>
              </a:ext>
            </a:extLst>
          </p:cNvPr>
          <p:cNvSpPr>
            <a:spLocks noGrp="1"/>
          </p:cNvSpPr>
          <p:nvPr/>
        </p:nvSpPr>
        <p:spPr>
          <a:xfrm>
            <a:off x="20257770" y="32042099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 dirty="0">
                <a:solidFill>
                  <a:srgbClr val="102A43"/>
                </a:solidFill>
              </a:rPr>
              <a:t>Deployment path</a:t>
            </a:r>
          </a:p>
        </p:txBody>
      </p:sp>
      <p:sp>
        <p:nvSpPr>
          <p:cNvPr id="110" name="deployment-arrow-1">
            <a:extLst>
              <a:ext uri="{FF2B5EF4-FFF2-40B4-BE49-F238E27FC236}">
                <a16:creationId xmlns:a16="http://schemas.microsoft.com/office/drawing/2014/main" id="{80E54D35-3CAD-4E7E-90C4-E535DD39BE21}"/>
              </a:ext>
            </a:extLst>
          </p:cNvPr>
          <p:cNvSpPr>
            <a:spLocks noGrp="1"/>
          </p:cNvSpPr>
          <p:nvPr/>
        </p:nvSpPr>
        <p:spPr>
          <a:xfrm>
            <a:off x="22917150" y="33413700"/>
            <a:ext cx="323850" cy="400050"/>
          </a:xfrm>
          <a:prstGeom prst="rightArrow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deployment-arrow-2">
            <a:extLst>
              <a:ext uri="{FF2B5EF4-FFF2-40B4-BE49-F238E27FC236}">
                <a16:creationId xmlns:a16="http://schemas.microsoft.com/office/drawing/2014/main" id="{F7184285-E899-45A3-904A-01F777418550}"/>
              </a:ext>
            </a:extLst>
          </p:cNvPr>
          <p:cNvSpPr>
            <a:spLocks noGrp="1"/>
          </p:cNvSpPr>
          <p:nvPr/>
        </p:nvSpPr>
        <p:spPr>
          <a:xfrm>
            <a:off x="25955625" y="33413700"/>
            <a:ext cx="323850" cy="400050"/>
          </a:xfrm>
          <a:prstGeom prst="rightArrow">
            <a:avLst/>
          </a:prstGeom>
          <a:solidFill>
            <a:srgbClr val="F05D3A"/>
          </a:solidFill>
          <a:ln w="952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deployment-node-1">
            <a:extLst>
              <a:ext uri="{FF2B5EF4-FFF2-40B4-BE49-F238E27FC236}">
                <a16:creationId xmlns:a16="http://schemas.microsoft.com/office/drawing/2014/main" id="{A6EFB896-9481-4086-9CDF-FB94BCC7DE65}"/>
              </a:ext>
            </a:extLst>
          </p:cNvPr>
          <p:cNvSpPr>
            <a:spLocks noGrp="1"/>
          </p:cNvSpPr>
          <p:nvPr/>
        </p:nvSpPr>
        <p:spPr>
          <a:xfrm>
            <a:off x="20250150" y="32918400"/>
            <a:ext cx="2619375" cy="1409700"/>
          </a:xfrm>
          <a:prstGeom prst="roundRect">
            <a:avLst>
              <a:gd name="adj" fmla="val 9459"/>
            </a:avLst>
          </a:prstGeom>
          <a:solidFill>
            <a:srgbClr val="DDF3EF"/>
          </a:solidFill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deployment-title-1">
            <a:extLst>
              <a:ext uri="{FF2B5EF4-FFF2-40B4-BE49-F238E27FC236}">
                <a16:creationId xmlns:a16="http://schemas.microsoft.com/office/drawing/2014/main" id="{DFD78104-5F89-44F9-A388-3F4961E49DAE}"/>
              </a:ext>
            </a:extLst>
          </p:cNvPr>
          <p:cNvSpPr>
            <a:spLocks noGrp="1"/>
          </p:cNvSpPr>
          <p:nvPr/>
        </p:nvSpPr>
        <p:spPr>
          <a:xfrm>
            <a:off x="20383500" y="33127950"/>
            <a:ext cx="2352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Float32 CNN</a:t>
            </a:r>
          </a:p>
        </p:txBody>
      </p:sp>
      <p:sp>
        <p:nvSpPr>
          <p:cNvPr id="114" name="deployment-sub-1">
            <a:extLst>
              <a:ext uri="{FF2B5EF4-FFF2-40B4-BE49-F238E27FC236}">
                <a16:creationId xmlns:a16="http://schemas.microsoft.com/office/drawing/2014/main" id="{A728D6ED-1E2D-4C6B-8D04-1A325D76D907}"/>
              </a:ext>
            </a:extLst>
          </p:cNvPr>
          <p:cNvSpPr>
            <a:spLocks noGrp="1"/>
          </p:cNvSpPr>
          <p:nvPr/>
        </p:nvSpPr>
        <p:spPr>
          <a:xfrm>
            <a:off x="20383500" y="33699450"/>
            <a:ext cx="2352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526777"/>
                </a:solidFill>
              </a:defRPr>
            </a:pPr>
            <a:r>
              <a:rPr sz="2025" b="1">
                <a:solidFill>
                  <a:srgbClr val="526777"/>
                </a:solidFill>
              </a:rPr>
              <a:t>90,361 B</a:t>
            </a:r>
          </a:p>
        </p:txBody>
      </p:sp>
      <p:sp>
        <p:nvSpPr>
          <p:cNvPr id="115" name="deployment-node-2">
            <a:extLst>
              <a:ext uri="{FF2B5EF4-FFF2-40B4-BE49-F238E27FC236}">
                <a16:creationId xmlns:a16="http://schemas.microsoft.com/office/drawing/2014/main" id="{B3BC80C7-5E80-4FA8-A7B7-EE86FF6F0F5D}"/>
              </a:ext>
            </a:extLst>
          </p:cNvPr>
          <p:cNvSpPr>
            <a:spLocks noGrp="1"/>
          </p:cNvSpPr>
          <p:nvPr/>
        </p:nvSpPr>
        <p:spPr>
          <a:xfrm>
            <a:off x="23288625" y="32918400"/>
            <a:ext cx="2619375" cy="1409700"/>
          </a:xfrm>
          <a:prstGeom prst="roundRect">
            <a:avLst>
              <a:gd name="adj" fmla="val 9459"/>
            </a:avLst>
          </a:prstGeom>
          <a:solidFill>
            <a:srgbClr val="FCE5DE"/>
          </a:solidFill>
          <a:ln w="28575">
            <a:solidFill>
              <a:srgbClr val="F0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deployment-title-2">
            <a:extLst>
              <a:ext uri="{FF2B5EF4-FFF2-40B4-BE49-F238E27FC236}">
                <a16:creationId xmlns:a16="http://schemas.microsoft.com/office/drawing/2014/main" id="{534A6DE9-F6EB-4DA1-A022-0C47B8F1E5A6}"/>
              </a:ext>
            </a:extLst>
          </p:cNvPr>
          <p:cNvSpPr>
            <a:spLocks noGrp="1"/>
          </p:cNvSpPr>
          <p:nvPr/>
        </p:nvSpPr>
        <p:spPr>
          <a:xfrm>
            <a:off x="23421975" y="33127950"/>
            <a:ext cx="2352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Full INT8 TFLite</a:t>
            </a:r>
          </a:p>
        </p:txBody>
      </p:sp>
      <p:sp>
        <p:nvSpPr>
          <p:cNvPr id="117" name="deployment-sub-2">
            <a:extLst>
              <a:ext uri="{FF2B5EF4-FFF2-40B4-BE49-F238E27FC236}">
                <a16:creationId xmlns:a16="http://schemas.microsoft.com/office/drawing/2014/main" id="{9D6A21D9-BBBE-45F7-A082-A24539098ECE}"/>
              </a:ext>
            </a:extLst>
          </p:cNvPr>
          <p:cNvSpPr>
            <a:spLocks noGrp="1"/>
          </p:cNvSpPr>
          <p:nvPr/>
        </p:nvSpPr>
        <p:spPr>
          <a:xfrm>
            <a:off x="23421975" y="33699450"/>
            <a:ext cx="2352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526777"/>
                </a:solidFill>
              </a:defRPr>
            </a:pPr>
            <a:r>
              <a:rPr sz="2025" b="1">
                <a:solidFill>
                  <a:srgbClr val="526777"/>
                </a:solidFill>
              </a:rPr>
              <a:t>23,576 B</a:t>
            </a:r>
          </a:p>
        </p:txBody>
      </p:sp>
      <p:sp>
        <p:nvSpPr>
          <p:cNvPr id="118" name="deployment-node-3">
            <a:extLst>
              <a:ext uri="{FF2B5EF4-FFF2-40B4-BE49-F238E27FC236}">
                <a16:creationId xmlns:a16="http://schemas.microsoft.com/office/drawing/2014/main" id="{00A51C9C-10FD-4D61-97EC-83EDF0BDFDA5}"/>
              </a:ext>
            </a:extLst>
          </p:cNvPr>
          <p:cNvSpPr>
            <a:spLocks noGrp="1"/>
          </p:cNvSpPr>
          <p:nvPr/>
        </p:nvSpPr>
        <p:spPr>
          <a:xfrm>
            <a:off x="26327100" y="32918400"/>
            <a:ext cx="2619375" cy="1409700"/>
          </a:xfrm>
          <a:prstGeom prst="roundRect">
            <a:avLst>
              <a:gd name="adj" fmla="val 9459"/>
            </a:avLst>
          </a:prstGeom>
          <a:solidFill>
            <a:srgbClr val="102A43"/>
          </a:solidFill>
          <a:ln w="2857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deployment-title-3">
            <a:extLst>
              <a:ext uri="{FF2B5EF4-FFF2-40B4-BE49-F238E27FC236}">
                <a16:creationId xmlns:a16="http://schemas.microsoft.com/office/drawing/2014/main" id="{1C055BF3-327A-4F9B-9729-13F35F95B8BA}"/>
              </a:ext>
            </a:extLst>
          </p:cNvPr>
          <p:cNvSpPr>
            <a:spLocks noGrp="1"/>
          </p:cNvSpPr>
          <p:nvPr/>
        </p:nvSpPr>
        <p:spPr>
          <a:xfrm>
            <a:off x="26460450" y="33127950"/>
            <a:ext cx="2352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ESP32 + TFLM</a:t>
            </a:r>
          </a:p>
        </p:txBody>
      </p:sp>
      <p:sp>
        <p:nvSpPr>
          <p:cNvPr id="120" name="deployment-sub-3">
            <a:extLst>
              <a:ext uri="{FF2B5EF4-FFF2-40B4-BE49-F238E27FC236}">
                <a16:creationId xmlns:a16="http://schemas.microsoft.com/office/drawing/2014/main" id="{E4EABB77-BFEE-4672-BD8D-45BA2221847F}"/>
              </a:ext>
            </a:extLst>
          </p:cNvPr>
          <p:cNvSpPr>
            <a:spLocks noGrp="1"/>
          </p:cNvSpPr>
          <p:nvPr/>
        </p:nvSpPr>
        <p:spPr>
          <a:xfrm>
            <a:off x="26460450" y="33699450"/>
            <a:ext cx="2352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E9C46A"/>
                </a:solidFill>
              </a:defRPr>
            </a:pPr>
            <a:r>
              <a:rPr sz="2025" b="1">
                <a:solidFill>
                  <a:srgbClr val="E9C46A"/>
                </a:solidFill>
              </a:rPr>
              <a:t>52 ms / beat</a:t>
            </a:r>
          </a:p>
        </p:txBody>
      </p:sp>
      <p:sp>
        <p:nvSpPr>
          <p:cNvPr id="121" name="deployment-details">
            <a:extLst>
              <a:ext uri="{FF2B5EF4-FFF2-40B4-BE49-F238E27FC236}">
                <a16:creationId xmlns:a16="http://schemas.microsoft.com/office/drawing/2014/main" id="{A123B3A3-933C-4BF6-9076-30C87B1380D4}"/>
              </a:ext>
            </a:extLst>
          </p:cNvPr>
          <p:cNvSpPr>
            <a:spLocks noGrp="1"/>
          </p:cNvSpPr>
          <p:nvPr/>
        </p:nvSpPr>
        <p:spPr>
          <a:xfrm>
            <a:off x="20250150" y="34537650"/>
            <a:ext cx="86963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F766E"/>
                </a:solidFill>
              </a:defRPr>
            </a:pPr>
            <a:r>
              <a:rPr sz="2175" b="1" dirty="0">
                <a:solidFill>
                  <a:srgbClr val="0F766E"/>
                </a:solidFill>
              </a:rPr>
              <a:t>80 KiB tensor arena  |  full-int8 input/output  |  real MIT-BIH beats</a:t>
            </a:r>
          </a:p>
        </p:txBody>
      </p:sp>
      <p:sp>
        <p:nvSpPr>
          <p:cNvPr id="122" name="limitations-title">
            <a:extLst>
              <a:ext uri="{FF2B5EF4-FFF2-40B4-BE49-F238E27FC236}">
                <a16:creationId xmlns:a16="http://schemas.microsoft.com/office/drawing/2014/main" id="{FAE615AC-84CF-464C-B758-C38CB7DB78CB}"/>
              </a:ext>
            </a:extLst>
          </p:cNvPr>
          <p:cNvSpPr>
            <a:spLocks noGrp="1"/>
          </p:cNvSpPr>
          <p:nvPr/>
        </p:nvSpPr>
        <p:spPr>
          <a:xfrm>
            <a:off x="20250150" y="35730180"/>
            <a:ext cx="8696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A43"/>
                </a:solidFill>
              </a:defRPr>
            </a:pPr>
            <a:r>
              <a:rPr sz="3000" b="1" dirty="0">
                <a:solidFill>
                  <a:srgbClr val="102A43"/>
                </a:solidFill>
              </a:rPr>
              <a:t>Prototype scope</a:t>
            </a:r>
          </a:p>
        </p:txBody>
      </p:sp>
      <p:sp>
        <p:nvSpPr>
          <p:cNvPr id="123" name="limitations">
            <a:extLst>
              <a:ext uri="{FF2B5EF4-FFF2-40B4-BE49-F238E27FC236}">
                <a16:creationId xmlns:a16="http://schemas.microsoft.com/office/drawing/2014/main" id="{664390BB-A8C1-4FF8-BCCE-F4FF66DBECB8}"/>
              </a:ext>
            </a:extLst>
          </p:cNvPr>
          <p:cNvSpPr>
            <a:spLocks noGrp="1"/>
          </p:cNvSpPr>
          <p:nvPr/>
        </p:nvSpPr>
        <p:spPr>
          <a:xfrm>
            <a:off x="20250150" y="36442650"/>
            <a:ext cx="86963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0">
                <a:solidFill>
                  <a:srgbClr val="526777"/>
                </a:solidFill>
              </a:defRPr>
            </a:pPr>
            <a:r>
              <a:rPr sz="2400" b="0" dirty="0">
                <a:solidFill>
                  <a:srgbClr val="526777"/>
                </a:solidFill>
              </a:rPr>
              <a:t>Validated on stored test beats. Live ADC acquisition, heartbeat segmentation, patient-wise clinical validation, and confidence handling remain future work.</a:t>
            </a:r>
          </a:p>
        </p:txBody>
      </p:sp>
      <p:sp>
        <p:nvSpPr>
          <p:cNvPr id="124" name="takeaway-band">
            <a:extLst>
              <a:ext uri="{FF2B5EF4-FFF2-40B4-BE49-F238E27FC236}">
                <a16:creationId xmlns:a16="http://schemas.microsoft.com/office/drawing/2014/main" id="{138347F3-B02A-46F7-81BC-91697A91B5AB}"/>
              </a:ext>
            </a:extLst>
          </p:cNvPr>
          <p:cNvSpPr>
            <a:spLocks noGrp="1"/>
          </p:cNvSpPr>
          <p:nvPr/>
        </p:nvSpPr>
        <p:spPr>
          <a:xfrm>
            <a:off x="1333500" y="39256335"/>
            <a:ext cx="27612975" cy="2333625"/>
          </a:xfrm>
          <a:prstGeom prst="roundRect">
            <a:avLst>
              <a:gd name="adj" fmla="val 734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akeaway-label">
            <a:extLst>
              <a:ext uri="{FF2B5EF4-FFF2-40B4-BE49-F238E27FC236}">
                <a16:creationId xmlns:a16="http://schemas.microsoft.com/office/drawing/2014/main" id="{EAB0B775-DF71-400A-813E-E8578C0102B2}"/>
              </a:ext>
            </a:extLst>
          </p:cNvPr>
          <p:cNvSpPr>
            <a:spLocks noGrp="1"/>
          </p:cNvSpPr>
          <p:nvPr/>
        </p:nvSpPr>
        <p:spPr>
          <a:xfrm>
            <a:off x="1905000" y="39780210"/>
            <a:ext cx="371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9C46A"/>
                </a:solidFill>
              </a:defRPr>
            </a:pPr>
            <a:r>
              <a:rPr sz="2850" b="1">
                <a:solidFill>
                  <a:srgbClr val="E9C46A"/>
                </a:solidFill>
              </a:rPr>
              <a:t>TAKEAWAY</a:t>
            </a:r>
          </a:p>
        </p:txBody>
      </p:sp>
      <p:sp>
        <p:nvSpPr>
          <p:cNvPr id="126" name="takeaway-text">
            <a:extLst>
              <a:ext uri="{FF2B5EF4-FFF2-40B4-BE49-F238E27FC236}">
                <a16:creationId xmlns:a16="http://schemas.microsoft.com/office/drawing/2014/main" id="{9C1DC83A-49AA-463A-832A-689F306F6D61}"/>
              </a:ext>
            </a:extLst>
          </p:cNvPr>
          <p:cNvSpPr>
            <a:spLocks noGrp="1"/>
          </p:cNvSpPr>
          <p:nvPr/>
        </p:nvSpPr>
        <p:spPr>
          <a:xfrm>
            <a:off x="5476875" y="39656385"/>
            <a:ext cx="2247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Full-int8 quantization is the deployment sweet spot: 23 KiB, 95.1% accuracy, and real-time ESP32 inference.</a:t>
            </a:r>
          </a:p>
        </p:txBody>
      </p:sp>
      <p:sp>
        <p:nvSpPr>
          <p:cNvPr id="127" name="footer-left">
            <a:extLst>
              <a:ext uri="{FF2B5EF4-FFF2-40B4-BE49-F238E27FC236}">
                <a16:creationId xmlns:a16="http://schemas.microsoft.com/office/drawing/2014/main" id="{674BE6D6-A88A-4943-BB1B-F8D2C0931C58}"/>
              </a:ext>
            </a:extLst>
          </p:cNvPr>
          <p:cNvSpPr>
            <a:spLocks noGrp="1"/>
          </p:cNvSpPr>
          <p:nvPr/>
        </p:nvSpPr>
        <p:spPr>
          <a:xfrm>
            <a:off x="1428750" y="42018585"/>
            <a:ext cx="1381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526777"/>
                </a:solidFill>
              </a:defRPr>
            </a:pPr>
            <a:r>
              <a:rPr sz="2100" b="0" dirty="0">
                <a:solidFill>
                  <a:srgbClr val="526777"/>
                </a:solidFill>
              </a:rPr>
              <a:t>github.com/</a:t>
            </a:r>
            <a:r>
              <a:rPr sz="2100" b="0" dirty="0" err="1">
                <a:solidFill>
                  <a:srgbClr val="526777"/>
                </a:solidFill>
              </a:rPr>
              <a:t>alexToslev</a:t>
            </a:r>
            <a:r>
              <a:rPr sz="2100" b="0" dirty="0">
                <a:solidFill>
                  <a:srgbClr val="526777"/>
                </a:solidFill>
              </a:rPr>
              <a:t>/</a:t>
            </a:r>
            <a:r>
              <a:rPr sz="2100" b="0" dirty="0" err="1">
                <a:solidFill>
                  <a:srgbClr val="526777"/>
                </a:solidFill>
              </a:rPr>
              <a:t>ecg</a:t>
            </a:r>
            <a:r>
              <a:rPr sz="2100" b="0" dirty="0">
                <a:solidFill>
                  <a:srgbClr val="526777"/>
                </a:solidFill>
              </a:rPr>
              <a:t>-model-compression</a:t>
            </a:r>
          </a:p>
        </p:txBody>
      </p:sp>
      <p:sp>
        <p:nvSpPr>
          <p:cNvPr id="128" name="footer-right">
            <a:extLst>
              <a:ext uri="{FF2B5EF4-FFF2-40B4-BE49-F238E27FC236}">
                <a16:creationId xmlns:a16="http://schemas.microsoft.com/office/drawing/2014/main" id="{84486A3A-2FF9-4D16-9292-1301C2C1DA89}"/>
              </a:ext>
            </a:extLst>
          </p:cNvPr>
          <p:cNvSpPr>
            <a:spLocks noGrp="1"/>
          </p:cNvSpPr>
          <p:nvPr/>
        </p:nvSpPr>
        <p:spPr>
          <a:xfrm>
            <a:off x="15240000" y="42018585"/>
            <a:ext cx="1362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025" b="0">
                <a:solidFill>
                  <a:srgbClr val="526777"/>
                </a:solidFill>
              </a:defRPr>
            </a:pPr>
            <a:r>
              <a:rPr sz="2025" b="0">
                <a:solidFill>
                  <a:srgbClr val="526777"/>
                </a:solidFill>
              </a:rPr>
              <a:t>MIT-BIH heartbeat classification  |  Academic prototype - not a medical device</a:t>
            </a:r>
          </a:p>
        </p:txBody>
      </p:sp>
      <p:sp>
        <p:nvSpPr>
          <p:cNvPr id="133" name="Straight Connector 132">
            <a:extLst>
              <a:ext uri="{FF2B5EF4-FFF2-40B4-BE49-F238E27FC236}">
                <a16:creationId xmlns:a16="http://schemas.microsoft.com/office/drawing/2014/main" id="{52B67809-57BB-A3D9-4C33-4D596C5DB67F}"/>
              </a:ext>
            </a:extLst>
          </p:cNvPr>
          <p:cNvSpPr>
            <a:spLocks noGrp="1"/>
          </p:cNvSpPr>
          <p:nvPr/>
        </p:nvSpPr>
        <p:spPr>
          <a:xfrm>
            <a:off x="10683240" y="13652178"/>
            <a:ext cx="8696325" cy="0"/>
          </a:xfrm>
          <a:prstGeom prst="line">
            <a:avLst/>
          </a:prstGeom>
          <a:noFill/>
          <a:ln w="5715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890973D-92EF-AF57-21E0-FA94481C35D1}"/>
              </a:ext>
            </a:extLst>
          </p:cNvPr>
          <p:cNvSpPr/>
          <p:nvPr/>
        </p:nvSpPr>
        <p:spPr>
          <a:xfrm>
            <a:off x="820615" y="6377354"/>
            <a:ext cx="27849635" cy="174270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CD848CB-700E-DD67-3911-6147E3AA2FA1}"/>
              </a:ext>
            </a:extLst>
          </p:cNvPr>
          <p:cNvSpPr txBox="1"/>
          <p:nvPr/>
        </p:nvSpPr>
        <p:spPr>
          <a:xfrm>
            <a:off x="937847" y="6282185"/>
            <a:ext cx="26986523" cy="2970044"/>
          </a:xfrm>
          <a:prstGeom prst="rect">
            <a:avLst/>
          </a:prstGeom>
          <a:noFill/>
        </p:spPr>
        <p:txBody>
          <a:bodyPr wrap="square" tIns="91440" rtlCol="0">
            <a:spAutoFit/>
          </a:bodyPr>
          <a:lstStyle/>
          <a:p>
            <a:r>
              <a:rPr lang="en-US" sz="6600" dirty="0">
                <a:solidFill>
                  <a:srgbClr val="F2F2F2"/>
                </a:solidFill>
              </a:rPr>
              <a:t>Project Goal         </a:t>
            </a:r>
            <a:r>
              <a:rPr lang="en-US" sz="4000" dirty="0"/>
              <a:t>Develop a </a:t>
            </a:r>
            <a:r>
              <a:rPr lang="en-US" sz="4000" b="1" dirty="0"/>
              <a:t>1D CNN from scratch </a:t>
            </a:r>
            <a:r>
              <a:rPr lang="en-US" sz="4000" dirty="0"/>
              <a:t>in NumPy to accurately classify different heartbeat types, apply </a:t>
            </a:r>
            <a:r>
              <a:rPr lang="en-US" sz="4000" b="1" dirty="0"/>
              <a:t>INT8       </a:t>
            </a:r>
            <a:r>
              <a:rPr lang="en-US" sz="4000" b="1" dirty="0">
                <a:solidFill>
                  <a:srgbClr val="F2F2F2"/>
                </a:solidFill>
              </a:rPr>
              <a:t>q</a:t>
            </a:r>
            <a:r>
              <a:rPr lang="en-US" sz="4000" b="1" dirty="0"/>
              <a:t>                                                 quantization</a:t>
            </a:r>
            <a:r>
              <a:rPr lang="en-US" sz="4000" dirty="0"/>
              <a:t> to reduce the model size, and optimize it for efficient deployment on an </a:t>
            </a:r>
            <a:r>
              <a:rPr lang="en-US" sz="4000" b="1" dirty="0"/>
              <a:t>ESP32</a:t>
            </a:r>
            <a:r>
              <a:rPr lang="en-US" sz="4000" dirty="0"/>
              <a:t>.</a:t>
            </a:r>
          </a:p>
          <a:p>
            <a:endParaRPr lang="en-US" sz="7200" dirty="0"/>
          </a:p>
        </p:txBody>
      </p:sp>
      <p:pic>
        <p:nvPicPr>
          <p:cNvPr id="140" name="Graphic 139" descr="Bullseye with solid fill">
            <a:extLst>
              <a:ext uri="{FF2B5EF4-FFF2-40B4-BE49-F238E27FC236}">
                <a16:creationId xmlns:a16="http://schemas.microsoft.com/office/drawing/2014/main" id="{067F4DBF-E219-2F8E-8893-35CB97C2D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1427" y="6672262"/>
            <a:ext cx="1120470" cy="112047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5F1357AD-9104-7B85-EAD2-1F5915668836}"/>
              </a:ext>
            </a:extLst>
          </p:cNvPr>
          <p:cNvSpPr txBox="1"/>
          <p:nvPr/>
        </p:nvSpPr>
        <p:spPr>
          <a:xfrm>
            <a:off x="997839" y="6705600"/>
            <a:ext cx="4093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Project Goal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79F96B2A-BA70-FB18-2B70-7C1B0289E7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59"/>
          <a:stretch>
            <a:fillRect/>
          </a:stretch>
        </p:blipFill>
        <p:spPr>
          <a:xfrm>
            <a:off x="1476374" y="32470728"/>
            <a:ext cx="8216531" cy="6095997"/>
          </a:xfrm>
          <a:prstGeom prst="rect">
            <a:avLst/>
          </a:prstGeom>
        </p:spPr>
      </p:pic>
      <p:sp>
        <p:nvSpPr>
          <p:cNvPr id="145" name="f1-title">
            <a:extLst>
              <a:ext uri="{FF2B5EF4-FFF2-40B4-BE49-F238E27FC236}">
                <a16:creationId xmlns:a16="http://schemas.microsoft.com/office/drawing/2014/main" id="{363185A4-C640-433B-5F76-FF8EBC88E4F4}"/>
              </a:ext>
            </a:extLst>
          </p:cNvPr>
          <p:cNvSpPr>
            <a:spLocks noGrp="1"/>
          </p:cNvSpPr>
          <p:nvPr/>
        </p:nvSpPr>
        <p:spPr>
          <a:xfrm>
            <a:off x="1524000" y="31775400"/>
            <a:ext cx="869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02A43"/>
                </a:solidFill>
              </a:defRPr>
            </a:pPr>
            <a:r>
              <a:rPr lang="en-US" sz="3150" b="1" dirty="0"/>
              <a:t>Stable convergence without clear overfitting</a:t>
            </a:r>
            <a:endParaRPr lang="en-US" sz="3150" b="1" dirty="0">
              <a:solidFill>
                <a:srgbClr val="102A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3541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895</Words>
  <Application>Microsoft Office PowerPoint</Application>
  <DocSecurity>0</DocSecurity>
  <PresentationFormat>Custom</PresentationFormat>
  <Paragraphs>117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ZOTO 5</cp:lastModifiedBy>
  <cp:revision>12</cp:revision>
  <cp:lastPrinted>2026-08-11T04:23:16Z</cp:lastPrinted>
  <dcterms:created xsi:type="dcterms:W3CDTF">2026-08-05T10:15:21Z</dcterms:created>
  <dcterms:modified xsi:type="dcterms:W3CDTF">2026-08-11T05:34:01Z</dcterms:modified>
</cp:coreProperties>
</file>