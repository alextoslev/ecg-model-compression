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Training beats</c:v>
          </c:tx>
          <c:spPr>
            <a:solidFill>
              <a:srgbClr val="102E49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EE-451A-9F72-3DE3B0F74EC2}"/>
              </c:ext>
            </c:extLst>
          </c:dPt>
          <c:dPt>
            <c:idx val="1"/>
            <c:invertIfNegative val="0"/>
            <c:bubble3D val="0"/>
            <c:spPr>
              <a:solidFill>
                <a:srgbClr val="F45B3A"/>
              </a:solidFill>
            </c:spPr>
            <c:extLst>
              <c:ext xmlns:c16="http://schemas.microsoft.com/office/drawing/2014/chart" uri="{C3380CC4-5D6E-409C-BE32-E72D297353CC}">
                <c16:uniqueId val="{00000003-E2EE-451A-9F72-3DE3B0F74EC2}"/>
              </c:ext>
            </c:extLst>
          </c:dPt>
          <c:dPt>
            <c:idx val="2"/>
            <c:invertIfNegative val="0"/>
            <c:bubble3D val="0"/>
            <c:spPr>
              <a:solidFill>
                <a:srgbClr val="13867B"/>
              </a:solidFill>
            </c:spPr>
            <c:extLst>
              <c:ext xmlns:c16="http://schemas.microsoft.com/office/drawing/2014/chart" uri="{C3380CC4-5D6E-409C-BE32-E72D297353CC}">
                <c16:uniqueId val="{00000005-E2EE-451A-9F72-3DE3B0F74EC2}"/>
              </c:ext>
            </c:extLst>
          </c:dPt>
          <c:dPt>
            <c:idx val="3"/>
            <c:invertIfNegative val="0"/>
            <c:bubble3D val="0"/>
            <c:spPr>
              <a:solidFill>
                <a:srgbClr val="F3C44E"/>
              </a:solidFill>
            </c:spPr>
            <c:extLst>
              <c:ext xmlns:c16="http://schemas.microsoft.com/office/drawing/2014/chart" uri="{C3380CC4-5D6E-409C-BE32-E72D297353CC}">
                <c16:uniqueId val="{00000007-E2EE-451A-9F72-3DE3B0F74EC2}"/>
              </c:ext>
            </c:extLst>
          </c:dPt>
          <c:dPt>
            <c:idx val="4"/>
            <c:invertIfNegative val="0"/>
            <c:bubble3D val="0"/>
            <c:spPr>
              <a:solidFill>
                <a:srgbClr val="8F58B5"/>
              </a:solidFill>
            </c:spPr>
            <c:extLst>
              <c:ext xmlns:c16="http://schemas.microsoft.com/office/drawing/2014/chart" uri="{C3380CC4-5D6E-409C-BE32-E72D297353CC}">
                <c16:uniqueId val="{00000009-E2EE-451A-9F72-3DE3B0F74E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98" b="1">
                    <a:solidFill>
                      <a:srgbClr val="102E49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0</c:formatCode>
              <c:ptCount val="5"/>
              <c:pt idx="0">
                <c:v>61600</c:v>
              </c:pt>
              <c:pt idx="1">
                <c:v>1889</c:v>
              </c:pt>
              <c:pt idx="2">
                <c:v>4920</c:v>
              </c:pt>
              <c:pt idx="3">
                <c:v>545</c:v>
              </c:pt>
              <c:pt idx="4">
                <c:v>5466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E2EE-451A-9F72-3DE3B0F74E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7968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1981" b="1">
                <a:solidFill>
                  <a:srgbClr val="102E4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000"/>
          <c:min val="0"/>
        </c:scaling>
        <c:delete val="0"/>
        <c:axPos val="l"/>
        <c:majorGridlines>
          <c:spPr>
            <a:ln w="17968">
              <a:solidFill>
                <a:srgbClr val="D5DEE3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98">
                <a:solidFill>
                  <a:srgbClr val="587084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00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Train</c:v>
          </c:tx>
          <c:spPr>
            <a:ln w="28575">
              <a:solidFill>
                <a:srgbClr val="378AC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0.0</c:formatCode>
              <c:ptCount val="20"/>
              <c:pt idx="0">
                <c:v>1.1660526830916675</c:v>
              </c:pt>
              <c:pt idx="1">
                <c:v>0.75098078518465039</c:v>
              </c:pt>
              <c:pt idx="2">
                <c:v>0.61627509617543175</c:v>
              </c:pt>
              <c:pt idx="3">
                <c:v>0.54929488408553917</c:v>
              </c:pt>
              <c:pt idx="4">
                <c:v>0.50008521284624197</c:v>
              </c:pt>
              <c:pt idx="5">
                <c:v>0.46597197252987493</c:v>
              </c:pt>
              <c:pt idx="6">
                <c:v>0.42430567657304635</c:v>
              </c:pt>
              <c:pt idx="7">
                <c:v>0.38715461421344843</c:v>
              </c:pt>
              <c:pt idx="8">
                <c:v>0.36763709299569319</c:v>
              </c:pt>
              <c:pt idx="9">
                <c:v>0.35397774590350378</c:v>
              </c:pt>
              <c:pt idx="10">
                <c:v>0.33043707085249407</c:v>
              </c:pt>
              <c:pt idx="11">
                <c:v>0.32556520274846201</c:v>
              </c:pt>
              <c:pt idx="12">
                <c:v>0.31347916710672619</c:v>
              </c:pt>
              <c:pt idx="13">
                <c:v>0.3038989105321061</c:v>
              </c:pt>
              <c:pt idx="14">
                <c:v>0.29920908247301559</c:v>
              </c:pt>
              <c:pt idx="15">
                <c:v>0.29163539162232599</c:v>
              </c:pt>
              <c:pt idx="16">
                <c:v>0.28700953218718728</c:v>
              </c:pt>
              <c:pt idx="17">
                <c:v>0.276086625656287</c:v>
              </c:pt>
              <c:pt idx="18">
                <c:v>0.27098677086652234</c:v>
              </c:pt>
              <c:pt idx="19">
                <c:v>0.26545987087315759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775-40D0-A883-4073A0BD5713}"/>
            </c:ext>
          </c:extLst>
        </c:ser>
        <c:ser>
          <c:idx val="1"/>
          <c:order val="1"/>
          <c:tx>
            <c:v>Validation</c:v>
          </c:tx>
          <c:spPr>
            <a:ln w="28575">
              <a:solidFill>
                <a:srgbClr val="F45B3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0.0</c:formatCode>
              <c:ptCount val="20"/>
              <c:pt idx="0">
                <c:v>0.80135654394750422</c:v>
              </c:pt>
              <c:pt idx="1">
                <c:v>0.58137132347002229</c:v>
              </c:pt>
              <c:pt idx="2">
                <c:v>0.51936346561610658</c:v>
              </c:pt>
              <c:pt idx="3">
                <c:v>0.45543097366893859</c:v>
              </c:pt>
              <c:pt idx="4">
                <c:v>0.43848771558915967</c:v>
              </c:pt>
              <c:pt idx="5">
                <c:v>0.39706296686923209</c:v>
              </c:pt>
              <c:pt idx="6">
                <c:v>0.36000678128841823</c:v>
              </c:pt>
              <c:pt idx="7">
                <c:v>0.34398715487349901</c:v>
              </c:pt>
              <c:pt idx="8">
                <c:v>0.31773152880033656</c:v>
              </c:pt>
              <c:pt idx="9">
                <c:v>0.29648869824460311</c:v>
              </c:pt>
              <c:pt idx="10">
                <c:v>0.293850627596908</c:v>
              </c:pt>
              <c:pt idx="11">
                <c:v>0.28887484300594019</c:v>
              </c:pt>
              <c:pt idx="12">
                <c:v>0.26679806650882987</c:v>
              </c:pt>
              <c:pt idx="13">
                <c:v>0.26672489071942473</c:v>
              </c:pt>
              <c:pt idx="14">
                <c:v>0.2591114604565693</c:v>
              </c:pt>
              <c:pt idx="15">
                <c:v>0.25443677086503935</c:v>
              </c:pt>
              <c:pt idx="16">
                <c:v>0.25179685816311737</c:v>
              </c:pt>
              <c:pt idx="17">
                <c:v>0.25685980270011288</c:v>
              </c:pt>
              <c:pt idx="18">
                <c:v>0.24331962053899589</c:v>
              </c:pt>
              <c:pt idx="19">
                <c:v>0.26813002949197923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775-40D0-A883-4073A0BD5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7968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1556">
                <a:solidFill>
                  <a:srgbClr val="5870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.2"/>
        </c:scaling>
        <c:delete val="0"/>
        <c:axPos val="l"/>
        <c:majorGridlines>
          <c:spPr>
            <a:ln w="17968">
              <a:solidFill>
                <a:srgbClr val="D5DEE3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56">
                <a:solidFill>
                  <a:srgbClr val="587084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839">
              <a:solidFill>
                <a:srgbClr val="102E49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Model size (KiB)</c:v>
          </c:tx>
          <c:spPr>
            <a:solidFill>
              <a:srgbClr val="13867B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06-4C79-9722-30E7796651EA}"/>
              </c:ext>
            </c:extLst>
          </c:dPt>
          <c:dPt>
            <c:idx val="1"/>
            <c:invertIfNegative val="0"/>
            <c:bubble3D val="0"/>
            <c:spPr>
              <a:solidFill>
                <a:srgbClr val="F45B3A"/>
              </a:solidFill>
            </c:spPr>
            <c:extLst>
              <c:ext xmlns:c16="http://schemas.microsoft.com/office/drawing/2014/chart" uri="{C3380CC4-5D6E-409C-BE32-E72D297353CC}">
                <c16:uniqueId val="{00000003-7B06-4C79-9722-30E7796651E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2687352-1EDA-41EF-AA4F-72F90054ED52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KiB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B06-4C79-9722-30E7796651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88198AD-4CEF-4850-AA0C-2EDA06C82DE1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KiB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B06-4C79-9722-30E7796651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39" b="1">
                    <a:solidFill>
                      <a:srgbClr val="102E49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Float32</c:v>
              </c:pt>
              <c:pt idx="1">
                <c:v>INT8</c:v>
              </c:pt>
            </c:strLit>
          </c:cat>
          <c:val>
            <c:numLit>
              <c:formatCode>0.0</c:formatCode>
              <c:ptCount val="2"/>
              <c:pt idx="0">
                <c:v>88.2</c:v>
              </c:pt>
              <c:pt idx="1">
                <c:v>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B06-4C79-9722-30E7796651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7968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1839" b="1">
                <a:solidFill>
                  <a:srgbClr val="102E4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17968">
              <a:solidFill>
                <a:srgbClr val="D5DEE3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56">
                <a:solidFill>
                  <a:srgbClr val="587084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7F4EE"/>
        </a:solidFill>
      </c:spPr>
    </c:plotArea>
    <c:plotVisOnly val="1"/>
    <c:dispBlanksAs val="zero"/>
    <c:showDLblsOverMax val="1"/>
  </c:chart>
  <c:spPr>
    <a:solidFill>
      <a:srgbClr val="F7F4EE"/>
    </a:solidFill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Float32</c:v>
          </c:tx>
          <c:spPr>
            <a:solidFill>
              <a:srgbClr val="14897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E49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0.000</c:formatCode>
              <c:ptCount val="5"/>
              <c:pt idx="0">
                <c:v>0.97399999999999998</c:v>
              </c:pt>
              <c:pt idx="1">
                <c:v>0.62</c:v>
              </c:pt>
              <c:pt idx="2">
                <c:v>0.86599999999999999</c:v>
              </c:pt>
              <c:pt idx="3">
                <c:v>0.60899999999999999</c:v>
              </c:pt>
              <c:pt idx="4">
                <c:v>0.95699999999999996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CC6-41DF-91BA-473BEFC5470C}"/>
            </c:ext>
          </c:extLst>
        </c:ser>
        <c:ser>
          <c:idx val="1"/>
          <c:order val="1"/>
          <c:tx>
            <c:v>INT8</c:v>
          </c:tx>
          <c:spPr>
            <a:solidFill>
              <a:srgbClr val="F45B3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E49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</c:v>
              </c:pt>
              <c:pt idx="1">
                <c:v>S</c:v>
              </c:pt>
              <c:pt idx="2">
                <c:v>V</c:v>
              </c:pt>
              <c:pt idx="3">
                <c:v>F</c:v>
              </c:pt>
              <c:pt idx="4">
                <c:v>Q</c:v>
              </c:pt>
            </c:strLit>
          </c:cat>
          <c:val>
            <c:numLit>
              <c:formatCode>0.000</c:formatCode>
              <c:ptCount val="5"/>
              <c:pt idx="0">
                <c:v>0.97299999999999998</c:v>
              </c:pt>
              <c:pt idx="1">
                <c:v>0.61099999999999999</c:v>
              </c:pt>
              <c:pt idx="2">
                <c:v>0.85599999999999998</c:v>
              </c:pt>
              <c:pt idx="3">
                <c:v>0.63300000000000001</c:v>
              </c:pt>
              <c:pt idx="4">
                <c:v>0.95399999999999996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CC6-41DF-91BA-473BEFC547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8D4DB"/>
            </a:solidFill>
            <a:prstDash val="solid"/>
          </a:ln>
        </c:spPr>
        <c:txPr>
          <a:bodyPr anchorCtr="1"/>
          <a:lstStyle/>
          <a:p>
            <a:pPr>
              <a:defRPr sz="1350" b="1">
                <a:solidFill>
                  <a:srgbClr val="102E4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7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C8D4DB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D8191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noFill/>
        <a:ln w="0">
          <a:noFill/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350">
              <a:solidFill>
                <a:srgbClr val="102E49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Luka poster reference: C:/Users/alext/Documents/heidelberg/2Semester/AP_NN/ECG_Model_Compression_A0_Poster.pdf</a:t>
            </a:r>
          </a:p>
          <a:p>
            <a:r>
              <a:t>- Dataset and class definitions: MIT-BIH Arrhythmia Database, PhysioNet, https://physionet.org/content/mitdb/</a:t>
            </a:r>
          </a:p>
          <a:p>
            <a:r>
              <a:t>- Beat representation: Kachuee et al. (2018), ECG Heartbeat Classification, https://doi.org/10.1109/ICHI.2018.00092</a:t>
            </a:r>
          </a:p>
          <a:p>
            <a:r>
              <a:t>- Final full-test metrics and model size: results/final_cap4_comparison/baseline_vs_int8_summary.md</a:t>
            </a:r>
          </a:p>
          <a:p>
            <a:r>
              <a:t>- ESP32 latency and hardware validation: results/esp32_final_cap_4/hardware_run_25_samples.md</a:t>
            </a:r>
          </a:p>
          <a:p>
            <a:r>
              <a:t>- Representative-beat image: output/pdf/8QmZg-representative-model-inputs-one-real-187-sample-beat-per-class-.png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chart" Target="../charts/chart2.xml"/><Relationship Id="rId10" Type="http://schemas.openxmlformats.org/officeDocument/2006/relationships/chart" Target="../charts/chart4.xml"/><Relationship Id="rId4" Type="http://schemas.openxmlformats.org/officeDocument/2006/relationships/chart" Target="../charts/chart1.xml"/><Relationship Id="rId9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eader-bg">
            <a:extLst>
              <a:ext uri="{FF2B5EF4-FFF2-40B4-BE49-F238E27FC236}">
                <a16:creationId xmlns:a16="http://schemas.microsoft.com/office/drawing/2014/main" id="{D08022DC-B93B-4EEC-BBD7-A260E2E626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79975" cy="5925237"/>
          </a:xfrm>
          <a:prstGeom prst="rect">
            <a:avLst/>
          </a:prstGeom>
          <a:solidFill>
            <a:srgbClr val="102E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1D1D30BE-589A-454C-A1C5-1BACE4123DD5}"/>
              </a:ext>
            </a:extLst>
          </p:cNvPr>
          <p:cNvSpPr>
            <a:spLocks noGrp="1"/>
          </p:cNvSpPr>
          <p:nvPr/>
        </p:nvSpPr>
        <p:spPr>
          <a:xfrm>
            <a:off x="12946308" y="1131182"/>
            <a:ext cx="3416387" cy="107732"/>
          </a:xfrm>
          <a:prstGeom prst="rect">
            <a:avLst/>
          </a:prstGeom>
          <a:solidFill>
            <a:srgbClr val="F45B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oster-title">
            <a:extLst>
              <a:ext uri="{FF2B5EF4-FFF2-40B4-BE49-F238E27FC236}">
                <a16:creationId xmlns:a16="http://schemas.microsoft.com/office/drawing/2014/main" id="{D8261681-3187-4143-9A6B-936889495FDE}"/>
              </a:ext>
            </a:extLst>
          </p:cNvPr>
          <p:cNvSpPr>
            <a:spLocks noGrp="1"/>
          </p:cNvSpPr>
          <p:nvPr/>
        </p:nvSpPr>
        <p:spPr>
          <a:xfrm>
            <a:off x="1798098" y="1615974"/>
            <a:ext cx="26683778" cy="1580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772" b="1">
                <a:solidFill>
                  <a:srgbClr val="FFFFFF"/>
                </a:solidFill>
              </a:defRPr>
            </a:pPr>
            <a:r>
              <a:rPr sz="8772" b="1">
                <a:solidFill>
                  <a:srgbClr val="FFFFFF"/>
                </a:solidFill>
              </a:rPr>
              <a:t>Tiny ECG Classification on ESP32</a:t>
            </a:r>
          </a:p>
        </p:txBody>
      </p:sp>
      <p:sp>
        <p:nvSpPr>
          <p:cNvPr id="4" name="poster-subtitle">
            <a:extLst>
              <a:ext uri="{FF2B5EF4-FFF2-40B4-BE49-F238E27FC236}">
                <a16:creationId xmlns:a16="http://schemas.microsoft.com/office/drawing/2014/main" id="{00E3B113-C6A0-4972-B8F4-24955B431FDB}"/>
              </a:ext>
            </a:extLst>
          </p:cNvPr>
          <p:cNvSpPr>
            <a:spLocks noGrp="1"/>
          </p:cNvSpPr>
          <p:nvPr/>
        </p:nvSpPr>
        <p:spPr>
          <a:xfrm>
            <a:off x="1798098" y="3231948"/>
            <a:ext cx="26683778" cy="861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961" b="1">
                <a:solidFill>
                  <a:srgbClr val="F3C44E"/>
                </a:solidFill>
              </a:defRPr>
            </a:pPr>
            <a:r>
              <a:rPr sz="3961" b="1">
                <a:solidFill>
                  <a:srgbClr val="F3C44E"/>
                </a:solidFill>
              </a:rPr>
              <a:t>A 23 KiB full-int8 CNN with 95.1% test accuracy and 52.09 ms ESP32 inference</a:t>
            </a:r>
          </a:p>
        </p:txBody>
      </p:sp>
      <p:sp>
        <p:nvSpPr>
          <p:cNvPr id="5" name="authors">
            <a:extLst>
              <a:ext uri="{FF2B5EF4-FFF2-40B4-BE49-F238E27FC236}">
                <a16:creationId xmlns:a16="http://schemas.microsoft.com/office/drawing/2014/main" id="{49348CE6-E91C-4CA8-BEDC-8C6E2723F594}"/>
              </a:ext>
            </a:extLst>
          </p:cNvPr>
          <p:cNvSpPr>
            <a:spLocks noGrp="1"/>
          </p:cNvSpPr>
          <p:nvPr/>
        </p:nvSpPr>
        <p:spPr>
          <a:xfrm>
            <a:off x="1528384" y="4614503"/>
            <a:ext cx="10249160" cy="502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88" b="1">
                <a:solidFill>
                  <a:srgbClr val="FFFFFF"/>
                </a:solidFill>
              </a:defRPr>
            </a:pPr>
            <a:r>
              <a:rPr sz="2688" b="1">
                <a:solidFill>
                  <a:srgbClr val="FFFFFF"/>
                </a:solidFill>
              </a:rPr>
              <a:t>Aleksandar Toslev  |  Luka Zotovikj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E7D4F7A0-0AE0-4D1B-94DC-3C18590EE709}"/>
              </a:ext>
            </a:extLst>
          </p:cNvPr>
          <p:cNvSpPr>
            <a:spLocks noGrp="1"/>
          </p:cNvSpPr>
          <p:nvPr/>
        </p:nvSpPr>
        <p:spPr>
          <a:xfrm>
            <a:off x="1528384" y="5207027"/>
            <a:ext cx="13665547" cy="430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81" b="0">
                <a:solidFill>
                  <a:srgbClr val="C9D6DF"/>
                </a:solidFill>
              </a:defRPr>
            </a:pPr>
            <a:r>
              <a:rPr sz="1981" b="0">
                <a:solidFill>
                  <a:srgbClr val="C9D6DF"/>
                </a:solidFill>
              </a:rPr>
              <a:t>Heidelberg University  |  Beginner's Practical Neural Networks from Scratch  |  2026</a:t>
            </a:r>
          </a:p>
        </p:txBody>
      </p:sp>
      <p:sp>
        <p:nvSpPr>
          <p:cNvPr id="7" name="topic-tag">
            <a:extLst>
              <a:ext uri="{FF2B5EF4-FFF2-40B4-BE49-F238E27FC236}">
                <a16:creationId xmlns:a16="http://schemas.microsoft.com/office/drawing/2014/main" id="{935E0D4D-9F12-4A2A-A4E7-ABD628EF72A8}"/>
              </a:ext>
            </a:extLst>
          </p:cNvPr>
          <p:cNvSpPr>
            <a:spLocks noGrp="1"/>
          </p:cNvSpPr>
          <p:nvPr/>
        </p:nvSpPr>
        <p:spPr>
          <a:xfrm>
            <a:off x="22656038" y="4722235"/>
            <a:ext cx="6023629" cy="430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39" b="1">
                <a:solidFill>
                  <a:srgbClr val="FFFFFF"/>
                </a:solidFill>
              </a:defRPr>
            </a:pPr>
            <a:r>
              <a:rPr sz="1839" b="1">
                <a:solidFill>
                  <a:srgbClr val="FFFFFF"/>
                </a:solidFill>
              </a:rPr>
              <a:t>FROM-SCRATCH CNN  /  TFLITE MICRO</a:t>
            </a:r>
          </a:p>
        </p:txBody>
      </p:sp>
      <p:sp>
        <p:nvSpPr>
          <p:cNvPr id="8" name="goal-band">
            <a:extLst>
              <a:ext uri="{FF2B5EF4-FFF2-40B4-BE49-F238E27FC236}">
                <a16:creationId xmlns:a16="http://schemas.microsoft.com/office/drawing/2014/main" id="{663BB460-5175-4C01-B93C-E9197E7BEAC3}"/>
              </a:ext>
            </a:extLst>
          </p:cNvPr>
          <p:cNvSpPr>
            <a:spLocks noGrp="1"/>
          </p:cNvSpPr>
          <p:nvPr/>
        </p:nvSpPr>
        <p:spPr>
          <a:xfrm>
            <a:off x="0" y="5925237"/>
            <a:ext cx="30279975" cy="2423961"/>
          </a:xfrm>
          <a:prstGeom prst="rect">
            <a:avLst/>
          </a:prstGeom>
          <a:solidFill>
            <a:srgbClr val="F1EF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oal-card">
            <a:extLst>
              <a:ext uri="{FF2B5EF4-FFF2-40B4-BE49-F238E27FC236}">
                <a16:creationId xmlns:a16="http://schemas.microsoft.com/office/drawing/2014/main" id="{24A024C2-B811-4CC8-809A-AE6507B9D970}"/>
              </a:ext>
            </a:extLst>
          </p:cNvPr>
          <p:cNvSpPr>
            <a:spLocks noGrp="1"/>
          </p:cNvSpPr>
          <p:nvPr/>
        </p:nvSpPr>
        <p:spPr>
          <a:xfrm>
            <a:off x="809144" y="6392074"/>
            <a:ext cx="28661687" cy="1508242"/>
          </a:xfrm>
          <a:prstGeom prst="roundRect">
            <a:avLst>
              <a:gd name="adj" fmla="val 5052"/>
            </a:avLst>
          </a:prstGeom>
          <a:solidFill>
            <a:srgbClr val="F5F6F6"/>
          </a:solidFill>
          <a:ln w="26952">
            <a:solidFill>
              <a:srgbClr val="102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oal-label">
            <a:extLst>
              <a:ext uri="{FF2B5EF4-FFF2-40B4-BE49-F238E27FC236}">
                <a16:creationId xmlns:a16="http://schemas.microsoft.com/office/drawing/2014/main" id="{36CB6981-3023-43C3-8B8D-4A2F56E85D37}"/>
              </a:ext>
            </a:extLst>
          </p:cNvPr>
          <p:cNvSpPr>
            <a:spLocks noGrp="1"/>
          </p:cNvSpPr>
          <p:nvPr/>
        </p:nvSpPr>
        <p:spPr>
          <a:xfrm>
            <a:off x="1168764" y="6733224"/>
            <a:ext cx="4944770" cy="772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810" b="1">
                <a:solidFill>
                  <a:srgbClr val="111111"/>
                </a:solidFill>
              </a:defRPr>
            </a:pPr>
            <a:r>
              <a:rPr sz="4810" b="1">
                <a:solidFill>
                  <a:srgbClr val="111111"/>
                </a:solidFill>
              </a:rPr>
              <a:t>Project Goal  🎯</a:t>
            </a:r>
          </a:p>
        </p:txBody>
      </p:sp>
      <p:sp>
        <p:nvSpPr>
          <p:cNvPr id="12" name="goal-copy">
            <a:extLst>
              <a:ext uri="{FF2B5EF4-FFF2-40B4-BE49-F238E27FC236}">
                <a16:creationId xmlns:a16="http://schemas.microsoft.com/office/drawing/2014/main" id="{CFD98C17-4EEC-4FC7-87EA-1468EE5C8A8D}"/>
              </a:ext>
            </a:extLst>
          </p:cNvPr>
          <p:cNvSpPr>
            <a:spLocks noGrp="1"/>
          </p:cNvSpPr>
          <p:nvPr/>
        </p:nvSpPr>
        <p:spPr>
          <a:xfrm>
            <a:off x="6473154" y="6625493"/>
            <a:ext cx="22296419" cy="987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13" b="0">
                <a:solidFill>
                  <a:srgbClr val="111111"/>
                </a:solidFill>
              </a:defRPr>
            </a:pPr>
            <a:r>
              <a:rPr sz="3113" b="0">
                <a:solidFill>
                  <a:srgbClr val="111111"/>
                </a:solidFill>
              </a:rPr>
              <a:t>Develop a </a:t>
            </a:r>
            <a:r>
              <a:rPr sz="3113" b="1">
                <a:solidFill>
                  <a:srgbClr val="111111"/>
                </a:solidFill>
              </a:rPr>
              <a:t>1D CNN from scratch</a:t>
            </a:r>
            <a:r>
              <a:rPr sz="3113" b="0">
                <a:solidFill>
                  <a:srgbClr val="111111"/>
                </a:solidFill>
              </a:rPr>
              <a:t> in NumPy to accurately classify different heartbeat types, apply </a:t>
            </a:r>
            <a:r>
              <a:rPr sz="3113" b="1">
                <a:solidFill>
                  <a:srgbClr val="111111"/>
                </a:solidFill>
              </a:rPr>
              <a:t>INT8 quantization</a:t>
            </a:r>
            <a:r>
              <a:rPr sz="3113" b="0">
                <a:solidFill>
                  <a:srgbClr val="111111"/>
                </a:solidFill>
              </a:rPr>
              <a:t> to reduce the model size, and optimize it for efficient deployment on an </a:t>
            </a:r>
            <a:r>
              <a:rPr sz="3113" b="1">
                <a:solidFill>
                  <a:srgbClr val="111111"/>
                </a:solidFill>
              </a:rPr>
              <a:t>ESP32</a:t>
            </a:r>
            <a:r>
              <a:rPr sz="3113" b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13" name="kpi-bg">
            <a:extLst>
              <a:ext uri="{FF2B5EF4-FFF2-40B4-BE49-F238E27FC236}">
                <a16:creationId xmlns:a16="http://schemas.microsoft.com/office/drawing/2014/main" id="{D5800911-9644-4BF1-B147-F124356EFCA6}"/>
              </a:ext>
            </a:extLst>
          </p:cNvPr>
          <p:cNvSpPr>
            <a:spLocks noGrp="1"/>
          </p:cNvSpPr>
          <p:nvPr/>
        </p:nvSpPr>
        <p:spPr>
          <a:xfrm>
            <a:off x="0" y="8349198"/>
            <a:ext cx="30279975" cy="305239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kpi-separator-1">
            <a:extLst>
              <a:ext uri="{FF2B5EF4-FFF2-40B4-BE49-F238E27FC236}">
                <a16:creationId xmlns:a16="http://schemas.microsoft.com/office/drawing/2014/main" id="{8E7DCEDC-593C-42B2-9DA7-71422EBD5C01}"/>
              </a:ext>
            </a:extLst>
          </p:cNvPr>
          <p:cNvSpPr>
            <a:spLocks noGrp="1"/>
          </p:cNvSpPr>
          <p:nvPr/>
        </p:nvSpPr>
        <p:spPr>
          <a:xfrm>
            <a:off x="10123293" y="8977632"/>
            <a:ext cx="35962" cy="1795526"/>
          </a:xfrm>
          <a:prstGeom prst="rect">
            <a:avLst/>
          </a:prstGeom>
          <a:solidFill>
            <a:srgbClr val="D5DE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kpi-separator-2">
            <a:extLst>
              <a:ext uri="{FF2B5EF4-FFF2-40B4-BE49-F238E27FC236}">
                <a16:creationId xmlns:a16="http://schemas.microsoft.com/office/drawing/2014/main" id="{36D46F1E-28B9-4EEB-8613-5333F4EC6146}"/>
              </a:ext>
            </a:extLst>
          </p:cNvPr>
          <p:cNvSpPr>
            <a:spLocks noGrp="1"/>
          </p:cNvSpPr>
          <p:nvPr/>
        </p:nvSpPr>
        <p:spPr>
          <a:xfrm>
            <a:off x="20138701" y="8977632"/>
            <a:ext cx="35962" cy="1795526"/>
          </a:xfrm>
          <a:prstGeom prst="rect">
            <a:avLst/>
          </a:prstGeom>
          <a:solidFill>
            <a:srgbClr val="D5DE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kpi-accuracy">
            <a:extLst>
              <a:ext uri="{FF2B5EF4-FFF2-40B4-BE49-F238E27FC236}">
                <a16:creationId xmlns:a16="http://schemas.microsoft.com/office/drawing/2014/main" id="{3A8C402A-F992-41B5-8C6F-B5CEDD1CE164}"/>
              </a:ext>
            </a:extLst>
          </p:cNvPr>
          <p:cNvSpPr>
            <a:spLocks noGrp="1"/>
          </p:cNvSpPr>
          <p:nvPr/>
        </p:nvSpPr>
        <p:spPr>
          <a:xfrm>
            <a:off x="988954" y="8887856"/>
            <a:ext cx="8451062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650" b="1">
                <a:solidFill>
                  <a:srgbClr val="13867B"/>
                </a:solidFill>
              </a:defRPr>
            </a:pPr>
            <a:r>
              <a:rPr sz="6650" b="1">
                <a:solidFill>
                  <a:srgbClr val="13867B"/>
                </a:solidFill>
              </a:rPr>
              <a:t>95.12%</a:t>
            </a:r>
          </a:p>
        </p:txBody>
      </p:sp>
      <p:sp>
        <p:nvSpPr>
          <p:cNvPr id="17" name="kpi-accuracy-label">
            <a:extLst>
              <a:ext uri="{FF2B5EF4-FFF2-40B4-BE49-F238E27FC236}">
                <a16:creationId xmlns:a16="http://schemas.microsoft.com/office/drawing/2014/main" id="{F218290F-4C27-479C-8AD9-B0A3FA426374}"/>
              </a:ext>
            </a:extLst>
          </p:cNvPr>
          <p:cNvSpPr>
            <a:spLocks noGrp="1"/>
          </p:cNvSpPr>
          <p:nvPr/>
        </p:nvSpPr>
        <p:spPr>
          <a:xfrm>
            <a:off x="988954" y="9965172"/>
            <a:ext cx="8451062" cy="502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102E49"/>
                </a:solidFill>
              </a:defRPr>
            </a:pPr>
            <a:r>
              <a:rPr sz="2264" b="1">
                <a:solidFill>
                  <a:srgbClr val="102E49"/>
                </a:solidFill>
              </a:rPr>
              <a:t>INT8 TEST ACCURACY</a:t>
            </a:r>
          </a:p>
        </p:txBody>
      </p:sp>
      <p:sp>
        <p:nvSpPr>
          <p:cNvPr id="18" name="kpi-size">
            <a:extLst>
              <a:ext uri="{FF2B5EF4-FFF2-40B4-BE49-F238E27FC236}">
                <a16:creationId xmlns:a16="http://schemas.microsoft.com/office/drawing/2014/main" id="{005E5E84-C1CB-40D3-8846-8F6C098C71F5}"/>
              </a:ext>
            </a:extLst>
          </p:cNvPr>
          <p:cNvSpPr>
            <a:spLocks noGrp="1"/>
          </p:cNvSpPr>
          <p:nvPr/>
        </p:nvSpPr>
        <p:spPr>
          <a:xfrm>
            <a:off x="10878495" y="8887856"/>
            <a:ext cx="8451062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650" b="1">
                <a:solidFill>
                  <a:srgbClr val="F45B3A"/>
                </a:solidFill>
              </a:defRPr>
            </a:pPr>
            <a:r>
              <a:rPr sz="6650" b="1">
                <a:solidFill>
                  <a:srgbClr val="F45B3A"/>
                </a:solidFill>
              </a:rPr>
              <a:t>73.9%</a:t>
            </a:r>
          </a:p>
        </p:txBody>
      </p:sp>
      <p:sp>
        <p:nvSpPr>
          <p:cNvPr id="19" name="kpi-size-label">
            <a:extLst>
              <a:ext uri="{FF2B5EF4-FFF2-40B4-BE49-F238E27FC236}">
                <a16:creationId xmlns:a16="http://schemas.microsoft.com/office/drawing/2014/main" id="{300296B3-984D-4CD3-8BE7-706545F24C78}"/>
              </a:ext>
            </a:extLst>
          </p:cNvPr>
          <p:cNvSpPr>
            <a:spLocks noGrp="1"/>
          </p:cNvSpPr>
          <p:nvPr/>
        </p:nvSpPr>
        <p:spPr>
          <a:xfrm>
            <a:off x="10878495" y="9965172"/>
            <a:ext cx="8451062" cy="502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102E49"/>
                </a:solidFill>
              </a:defRPr>
            </a:pPr>
            <a:r>
              <a:rPr sz="2264" b="1">
                <a:solidFill>
                  <a:srgbClr val="102E49"/>
                </a:solidFill>
              </a:rPr>
              <a:t>SMALLER MODEL</a:t>
            </a:r>
          </a:p>
        </p:txBody>
      </p:sp>
      <p:sp>
        <p:nvSpPr>
          <p:cNvPr id="20" name="kpi-latency">
            <a:extLst>
              <a:ext uri="{FF2B5EF4-FFF2-40B4-BE49-F238E27FC236}">
                <a16:creationId xmlns:a16="http://schemas.microsoft.com/office/drawing/2014/main" id="{80F71AE3-624F-46E2-8D9D-2D6F075AE59F}"/>
              </a:ext>
            </a:extLst>
          </p:cNvPr>
          <p:cNvSpPr>
            <a:spLocks noGrp="1"/>
          </p:cNvSpPr>
          <p:nvPr/>
        </p:nvSpPr>
        <p:spPr>
          <a:xfrm>
            <a:off x="20768035" y="8887856"/>
            <a:ext cx="8451062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650" b="1">
                <a:solidFill>
                  <a:srgbClr val="102E49"/>
                </a:solidFill>
              </a:defRPr>
            </a:pPr>
            <a:r>
              <a:rPr sz="6650" b="1">
                <a:solidFill>
                  <a:srgbClr val="102E49"/>
                </a:solidFill>
              </a:rPr>
              <a:t>52.09 ms</a:t>
            </a:r>
          </a:p>
        </p:txBody>
      </p:sp>
      <p:sp>
        <p:nvSpPr>
          <p:cNvPr id="21" name="kpi-latency-label">
            <a:extLst>
              <a:ext uri="{FF2B5EF4-FFF2-40B4-BE49-F238E27FC236}">
                <a16:creationId xmlns:a16="http://schemas.microsoft.com/office/drawing/2014/main" id="{6F3DD147-26EE-4B0A-B7D0-E3233F889DED}"/>
              </a:ext>
            </a:extLst>
          </p:cNvPr>
          <p:cNvSpPr>
            <a:spLocks noGrp="1"/>
          </p:cNvSpPr>
          <p:nvPr/>
        </p:nvSpPr>
        <p:spPr>
          <a:xfrm>
            <a:off x="20768035" y="9965172"/>
            <a:ext cx="8451062" cy="502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102E49"/>
                </a:solidFill>
              </a:defRPr>
            </a:pPr>
            <a:r>
              <a:rPr sz="2264" b="1">
                <a:solidFill>
                  <a:srgbClr val="102E49"/>
                </a:solidFill>
              </a:rPr>
              <a:t>ESP32 MEAN INFERENCE / BEAT</a:t>
            </a:r>
          </a:p>
        </p:txBody>
      </p:sp>
      <p:sp>
        <p:nvSpPr>
          <p:cNvPr id="22" name="section-1-title">
            <a:extLst>
              <a:ext uri="{FF2B5EF4-FFF2-40B4-BE49-F238E27FC236}">
                <a16:creationId xmlns:a16="http://schemas.microsoft.com/office/drawing/2014/main" id="{A140AF89-86C1-413D-A525-552E8B2942C7}"/>
              </a:ext>
            </a:extLst>
          </p:cNvPr>
          <p:cNvSpPr>
            <a:spLocks noGrp="1"/>
          </p:cNvSpPr>
          <p:nvPr/>
        </p:nvSpPr>
        <p:spPr>
          <a:xfrm>
            <a:off x="1267965" y="11850475"/>
            <a:ext cx="8810682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820" b="1">
                <a:solidFill>
                  <a:srgbClr val="13867B"/>
                </a:solidFill>
              </a:defRPr>
            </a:pPr>
            <a:r>
              <a:rPr sz="3820" b="1" dirty="0">
                <a:solidFill>
                  <a:srgbClr val="13867B"/>
                </a:solidFill>
              </a:rPr>
              <a:t>1. Heartbeat data are highly imbalanced</a:t>
            </a:r>
          </a:p>
        </p:txBody>
      </p:sp>
      <p:sp>
        <p:nvSpPr>
          <p:cNvPr id="23" name="section-1-rule">
            <a:extLst>
              <a:ext uri="{FF2B5EF4-FFF2-40B4-BE49-F238E27FC236}">
                <a16:creationId xmlns:a16="http://schemas.microsoft.com/office/drawing/2014/main" id="{D0676284-D3EB-48D0-9B25-C21235FCE9FC}"/>
              </a:ext>
            </a:extLst>
          </p:cNvPr>
          <p:cNvSpPr>
            <a:spLocks noGrp="1"/>
          </p:cNvSpPr>
          <p:nvPr/>
        </p:nvSpPr>
        <p:spPr>
          <a:xfrm>
            <a:off x="1258669" y="12945746"/>
            <a:ext cx="8810682" cy="71821"/>
          </a:xfrm>
          <a:prstGeom prst="rect">
            <a:avLst/>
          </a:prstGeom>
          <a:solidFill>
            <a:srgbClr val="13867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ata-problem-copy">
            <a:extLst>
              <a:ext uri="{FF2B5EF4-FFF2-40B4-BE49-F238E27FC236}">
                <a16:creationId xmlns:a16="http://schemas.microsoft.com/office/drawing/2014/main" id="{35D97C49-DA78-40C8-B12B-60C6CF4F30C2}"/>
              </a:ext>
            </a:extLst>
          </p:cNvPr>
          <p:cNvSpPr>
            <a:spLocks noGrp="1"/>
          </p:cNvSpPr>
          <p:nvPr/>
        </p:nvSpPr>
        <p:spPr>
          <a:xfrm>
            <a:off x="1474441" y="13107343"/>
            <a:ext cx="8379138" cy="14902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47" b="0">
                <a:solidFill>
                  <a:srgbClr val="102E49"/>
                </a:solidFill>
              </a:defRPr>
            </a:pPr>
            <a:r>
              <a:rPr sz="2547" b="0">
                <a:solidFill>
                  <a:srgbClr val="102E49"/>
                </a:solidFill>
              </a:rPr>
              <a:t>Five heartbeat types must be separated from 187-point ECG segments. Normal beats dominate training, so overall accuracy alone can hide minority-class failure.</a:t>
            </a:r>
          </a:p>
        </p:txBody>
      </p:sp>
      <p:sp>
        <p:nvSpPr>
          <p:cNvPr id="25" name="beats-title">
            <a:extLst>
              <a:ext uri="{FF2B5EF4-FFF2-40B4-BE49-F238E27FC236}">
                <a16:creationId xmlns:a16="http://schemas.microsoft.com/office/drawing/2014/main" id="{A82CF43C-CC84-439E-94FC-E54EB8F39D54}"/>
              </a:ext>
            </a:extLst>
          </p:cNvPr>
          <p:cNvSpPr>
            <a:spLocks noGrp="1"/>
          </p:cNvSpPr>
          <p:nvPr/>
        </p:nvSpPr>
        <p:spPr>
          <a:xfrm>
            <a:off x="1474441" y="14813093"/>
            <a:ext cx="8379138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Representative normalized beats</a:t>
            </a:r>
          </a:p>
        </p:txBody>
      </p:sp>
      <p:sp>
        <p:nvSpPr>
          <p:cNvPr id="26" name="beats-card">
            <a:extLst>
              <a:ext uri="{FF2B5EF4-FFF2-40B4-BE49-F238E27FC236}">
                <a16:creationId xmlns:a16="http://schemas.microsoft.com/office/drawing/2014/main" id="{366B2572-1333-40BB-B924-D18E4D353416}"/>
              </a:ext>
            </a:extLst>
          </p:cNvPr>
          <p:cNvSpPr>
            <a:spLocks noGrp="1"/>
          </p:cNvSpPr>
          <p:nvPr/>
        </p:nvSpPr>
        <p:spPr>
          <a:xfrm>
            <a:off x="1348574" y="15531304"/>
            <a:ext cx="8630872" cy="5476356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7968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2" name="Picture 17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81958" y="15710856"/>
            <a:ext cx="7764104" cy="5117250"/>
          </a:xfrm>
          <a:prstGeom prst="rect">
            <a:avLst/>
          </a:prstGeom>
        </p:spPr>
      </p:pic>
      <p:sp>
        <p:nvSpPr>
          <p:cNvPr id="28" name="beats-caption">
            <a:extLst>
              <a:ext uri="{FF2B5EF4-FFF2-40B4-BE49-F238E27FC236}">
                <a16:creationId xmlns:a16="http://schemas.microsoft.com/office/drawing/2014/main" id="{D441EDF0-562E-466E-9900-DACF32391244}"/>
              </a:ext>
            </a:extLst>
          </p:cNvPr>
          <p:cNvSpPr>
            <a:spLocks noGrp="1"/>
          </p:cNvSpPr>
          <p:nvPr/>
        </p:nvSpPr>
        <p:spPr>
          <a:xfrm>
            <a:off x="1474441" y="21151301"/>
            <a:ext cx="8379138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39" b="0">
                <a:solidFill>
                  <a:srgbClr val="587084"/>
                </a:solidFill>
              </a:defRPr>
            </a:pPr>
            <a:r>
              <a:rPr sz="1839" b="0" dirty="0">
                <a:solidFill>
                  <a:srgbClr val="587084"/>
                </a:solidFill>
              </a:rPr>
              <a:t>Stored 0-1 amplitudes; flat tails are zero-padding. One real training sample per class.</a:t>
            </a:r>
          </a:p>
          <a:p>
            <a:pPr algn="l">
              <a:buNone/>
              <a:defRPr sz="1839" b="0">
                <a:solidFill>
                  <a:srgbClr val="587084"/>
                </a:solidFill>
              </a:defRPr>
            </a:pPr>
            <a:r>
              <a:rPr sz="1839" b="0" dirty="0">
                <a:solidFill>
                  <a:srgbClr val="587084"/>
                </a:solidFill>
              </a:rPr>
              <a:t>Source: </a:t>
            </a:r>
            <a:r>
              <a:rPr sz="1839" b="1" dirty="0">
                <a:solidFill>
                  <a:srgbClr val="587084"/>
                </a:solidFill>
              </a:rPr>
              <a:t>PhysioNet MIT-BIH</a:t>
            </a:r>
            <a:r>
              <a:rPr sz="1839" b="0" dirty="0">
                <a:solidFill>
                  <a:srgbClr val="587084"/>
                </a:solidFill>
              </a:rPr>
              <a:t>; </a:t>
            </a:r>
            <a:r>
              <a:rPr sz="1839" b="0" dirty="0" err="1">
                <a:solidFill>
                  <a:srgbClr val="587084"/>
                </a:solidFill>
              </a:rPr>
              <a:t>Kachuee</a:t>
            </a:r>
            <a:r>
              <a:rPr sz="1839" b="0" dirty="0">
                <a:solidFill>
                  <a:srgbClr val="587084"/>
                </a:solidFill>
              </a:rPr>
              <a:t> et al. (2018).</a:t>
            </a:r>
          </a:p>
        </p:txBody>
      </p:sp>
      <p:sp>
        <p:nvSpPr>
          <p:cNvPr id="29" name="distribution-title">
            <a:extLst>
              <a:ext uri="{FF2B5EF4-FFF2-40B4-BE49-F238E27FC236}">
                <a16:creationId xmlns:a16="http://schemas.microsoft.com/office/drawing/2014/main" id="{EA33D2E2-7ADB-4A6F-96C2-0F724BE7500C}"/>
              </a:ext>
            </a:extLst>
          </p:cNvPr>
          <p:cNvSpPr>
            <a:spLocks noGrp="1"/>
          </p:cNvSpPr>
          <p:nvPr/>
        </p:nvSpPr>
        <p:spPr>
          <a:xfrm>
            <a:off x="1474441" y="22444080"/>
            <a:ext cx="8379138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Training class distribution</a:t>
            </a:r>
          </a:p>
        </p:txBody>
      </p:sp>
      <p:graphicFrame>
        <p:nvGraphicFramePr>
          <p:cNvPr id="175" name="Chart"/>
          <p:cNvGraphicFramePr/>
          <p:nvPr/>
        </p:nvGraphicFramePr>
        <p:xfrm>
          <a:off x="1528384" y="23126380"/>
          <a:ext cx="8181347" cy="5655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imbalance-callout">
            <a:extLst>
              <a:ext uri="{FF2B5EF4-FFF2-40B4-BE49-F238E27FC236}">
                <a16:creationId xmlns:a16="http://schemas.microsoft.com/office/drawing/2014/main" id="{D083E20B-6F0F-4145-AA81-CF39FC49DEEE}"/>
              </a:ext>
            </a:extLst>
          </p:cNvPr>
          <p:cNvSpPr>
            <a:spLocks noGrp="1"/>
          </p:cNvSpPr>
          <p:nvPr/>
        </p:nvSpPr>
        <p:spPr>
          <a:xfrm>
            <a:off x="1618288" y="28692512"/>
            <a:ext cx="8001537" cy="68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5" b="1">
                <a:solidFill>
                  <a:srgbClr val="F45B3A"/>
                </a:solidFill>
              </a:defRPr>
            </a:pPr>
            <a:r>
              <a:rPr sz="2405" b="1">
                <a:solidFill>
                  <a:srgbClr val="F45B3A"/>
                </a:solidFill>
              </a:rPr>
              <a:t>F has 113x fewer training beats than N.</a:t>
            </a:r>
          </a:p>
        </p:txBody>
      </p:sp>
      <p:sp>
        <p:nvSpPr>
          <p:cNvPr id="32" name="loss-title">
            <a:extLst>
              <a:ext uri="{FF2B5EF4-FFF2-40B4-BE49-F238E27FC236}">
                <a16:creationId xmlns:a16="http://schemas.microsoft.com/office/drawing/2014/main" id="{8BF0BB38-1F1C-489C-BD12-F5FBDF5CEF5E}"/>
              </a:ext>
            </a:extLst>
          </p:cNvPr>
          <p:cNvSpPr>
            <a:spLocks noGrp="1"/>
          </p:cNvSpPr>
          <p:nvPr/>
        </p:nvSpPr>
        <p:spPr>
          <a:xfrm>
            <a:off x="1474441" y="29895515"/>
            <a:ext cx="8379138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Stable convergence without clear overfitting</a:t>
            </a:r>
          </a:p>
        </p:txBody>
      </p:sp>
      <p:graphicFrame>
        <p:nvGraphicFramePr>
          <p:cNvPr id="178" name="Chart"/>
          <p:cNvGraphicFramePr/>
          <p:nvPr/>
        </p:nvGraphicFramePr>
        <p:xfrm>
          <a:off x="1528384" y="30613726"/>
          <a:ext cx="8181347" cy="6015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ection-2-title">
            <a:extLst>
              <a:ext uri="{FF2B5EF4-FFF2-40B4-BE49-F238E27FC236}">
                <a16:creationId xmlns:a16="http://schemas.microsoft.com/office/drawing/2014/main" id="{C7D1A9C8-F791-4EBE-82C7-6DFF6B1EF0A7}"/>
              </a:ext>
            </a:extLst>
          </p:cNvPr>
          <p:cNvSpPr>
            <a:spLocks noGrp="1"/>
          </p:cNvSpPr>
          <p:nvPr/>
        </p:nvSpPr>
        <p:spPr>
          <a:xfrm>
            <a:off x="10878495" y="11652966"/>
            <a:ext cx="8990491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820" b="1">
                <a:solidFill>
                  <a:srgbClr val="102E49"/>
                </a:solidFill>
              </a:defRPr>
            </a:pPr>
            <a:r>
              <a:rPr sz="3820" b="1" dirty="0">
                <a:solidFill>
                  <a:srgbClr val="102E49"/>
                </a:solidFill>
              </a:rPr>
              <a:t>2. Compact CNN, explicit imbalance controls</a:t>
            </a:r>
          </a:p>
        </p:txBody>
      </p:sp>
      <p:sp>
        <p:nvSpPr>
          <p:cNvPr id="35" name="section-2-rule">
            <a:extLst>
              <a:ext uri="{FF2B5EF4-FFF2-40B4-BE49-F238E27FC236}">
                <a16:creationId xmlns:a16="http://schemas.microsoft.com/office/drawing/2014/main" id="{805EED7A-349B-41BE-AFE5-DBD11ED990A2}"/>
              </a:ext>
            </a:extLst>
          </p:cNvPr>
          <p:cNvSpPr>
            <a:spLocks noGrp="1"/>
          </p:cNvSpPr>
          <p:nvPr/>
        </p:nvSpPr>
        <p:spPr>
          <a:xfrm>
            <a:off x="10788590" y="12945746"/>
            <a:ext cx="8990491" cy="71821"/>
          </a:xfrm>
          <a:prstGeom prst="rect">
            <a:avLst/>
          </a:prstGeom>
          <a:solidFill>
            <a:srgbClr val="102E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nn-copy">
            <a:extLst>
              <a:ext uri="{FF2B5EF4-FFF2-40B4-BE49-F238E27FC236}">
                <a16:creationId xmlns:a16="http://schemas.microsoft.com/office/drawing/2014/main" id="{77D057F3-4597-4A78-8F96-7330BFA72C08}"/>
              </a:ext>
            </a:extLst>
          </p:cNvPr>
          <p:cNvSpPr>
            <a:spLocks noGrp="1"/>
          </p:cNvSpPr>
          <p:nvPr/>
        </p:nvSpPr>
        <p:spPr>
          <a:xfrm>
            <a:off x="11004361" y="13107343"/>
            <a:ext cx="8558948" cy="16159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47" b="0">
                <a:solidFill>
                  <a:srgbClr val="102E49"/>
                </a:solidFill>
              </a:defRPr>
            </a:pPr>
            <a:r>
              <a:rPr sz="2547" b="0">
                <a:solidFill>
                  <a:srgbClr val="102E49"/>
                </a:solidFill>
              </a:rPr>
              <a:t>The complete forward pass, backward pass, weighted loss, and Adam updates are implemented in NumPy. Keras is used only as an export bridge.</a:t>
            </a:r>
          </a:p>
        </p:txBody>
      </p:sp>
      <p:sp>
        <p:nvSpPr>
          <p:cNvPr id="37" name="architecture-metric">
            <a:extLst>
              <a:ext uri="{FF2B5EF4-FFF2-40B4-BE49-F238E27FC236}">
                <a16:creationId xmlns:a16="http://schemas.microsoft.com/office/drawing/2014/main" id="{17AC006D-5DA2-4F9F-8AC5-3815C903E06E}"/>
              </a:ext>
            </a:extLst>
          </p:cNvPr>
          <p:cNvSpPr>
            <a:spLocks noGrp="1"/>
          </p:cNvSpPr>
          <p:nvPr/>
        </p:nvSpPr>
        <p:spPr>
          <a:xfrm>
            <a:off x="11004361" y="14866959"/>
            <a:ext cx="8558948" cy="6284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11,173 trainable parameters</a:t>
            </a:r>
          </a:p>
        </p:txBody>
      </p:sp>
      <p:sp>
        <p:nvSpPr>
          <p:cNvPr id="38" name="arch-arrow-944">
            <a:extLst>
              <a:ext uri="{FF2B5EF4-FFF2-40B4-BE49-F238E27FC236}">
                <a16:creationId xmlns:a16="http://schemas.microsoft.com/office/drawing/2014/main" id="{CBB20810-6EB9-4B2D-9CCA-5ADFD2831DE3}"/>
              </a:ext>
            </a:extLst>
          </p:cNvPr>
          <p:cNvSpPr>
            <a:spLocks noGrp="1"/>
          </p:cNvSpPr>
          <p:nvPr/>
        </p:nvSpPr>
        <p:spPr>
          <a:xfrm>
            <a:off x="14834311" y="16949769"/>
            <a:ext cx="683277" cy="646390"/>
          </a:xfrm>
          <a:prstGeom prst="down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rch-arrow-1034">
            <a:extLst>
              <a:ext uri="{FF2B5EF4-FFF2-40B4-BE49-F238E27FC236}">
                <a16:creationId xmlns:a16="http://schemas.microsoft.com/office/drawing/2014/main" id="{ECC0B435-FC57-4236-832C-B41D6BF46FF5}"/>
              </a:ext>
            </a:extLst>
          </p:cNvPr>
          <p:cNvSpPr>
            <a:spLocks noGrp="1"/>
          </p:cNvSpPr>
          <p:nvPr/>
        </p:nvSpPr>
        <p:spPr>
          <a:xfrm>
            <a:off x="14834311" y="18565743"/>
            <a:ext cx="683277" cy="646390"/>
          </a:xfrm>
          <a:prstGeom prst="down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rch-arrow-1124">
            <a:extLst>
              <a:ext uri="{FF2B5EF4-FFF2-40B4-BE49-F238E27FC236}">
                <a16:creationId xmlns:a16="http://schemas.microsoft.com/office/drawing/2014/main" id="{02C88882-809D-450B-B9FD-CED9508D1B22}"/>
              </a:ext>
            </a:extLst>
          </p:cNvPr>
          <p:cNvSpPr>
            <a:spLocks noGrp="1"/>
          </p:cNvSpPr>
          <p:nvPr/>
        </p:nvSpPr>
        <p:spPr>
          <a:xfrm>
            <a:off x="14834311" y="20181717"/>
            <a:ext cx="683277" cy="646390"/>
          </a:xfrm>
          <a:prstGeom prst="down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rch-arrow-1214">
            <a:extLst>
              <a:ext uri="{FF2B5EF4-FFF2-40B4-BE49-F238E27FC236}">
                <a16:creationId xmlns:a16="http://schemas.microsoft.com/office/drawing/2014/main" id="{CB0DA441-7F1D-4343-8613-D10C067E90F0}"/>
              </a:ext>
            </a:extLst>
          </p:cNvPr>
          <p:cNvSpPr>
            <a:spLocks noGrp="1"/>
          </p:cNvSpPr>
          <p:nvPr/>
        </p:nvSpPr>
        <p:spPr>
          <a:xfrm>
            <a:off x="14834311" y="21797691"/>
            <a:ext cx="683277" cy="646390"/>
          </a:xfrm>
          <a:prstGeom prst="down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rch-input-box">
            <a:extLst>
              <a:ext uri="{FF2B5EF4-FFF2-40B4-BE49-F238E27FC236}">
                <a16:creationId xmlns:a16="http://schemas.microsoft.com/office/drawing/2014/main" id="{8F62F763-51A4-46AF-AEC6-B5EAB2AC89EE}"/>
              </a:ext>
            </a:extLst>
          </p:cNvPr>
          <p:cNvSpPr>
            <a:spLocks noGrp="1"/>
          </p:cNvSpPr>
          <p:nvPr/>
        </p:nvSpPr>
        <p:spPr>
          <a:xfrm>
            <a:off x="11238114" y="15710856"/>
            <a:ext cx="7911632" cy="125686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5936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arch-input-title">
            <a:extLst>
              <a:ext uri="{FF2B5EF4-FFF2-40B4-BE49-F238E27FC236}">
                <a16:creationId xmlns:a16="http://schemas.microsoft.com/office/drawing/2014/main" id="{5233D612-1042-4D5D-BAEB-3B46B8D132FC}"/>
              </a:ext>
            </a:extLst>
          </p:cNvPr>
          <p:cNvSpPr>
            <a:spLocks noGrp="1"/>
          </p:cNvSpPr>
          <p:nvPr/>
        </p:nvSpPr>
        <p:spPr>
          <a:xfrm>
            <a:off x="11489848" y="15890409"/>
            <a:ext cx="740816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30" b="1">
                <a:solidFill>
                  <a:srgbClr val="102E49"/>
                </a:solidFill>
              </a:defRPr>
            </a:pPr>
            <a:r>
              <a:rPr sz="2830" b="1">
                <a:solidFill>
                  <a:srgbClr val="102E49"/>
                </a:solidFill>
              </a:rPr>
              <a:t>187 x 1 ECG beat</a:t>
            </a:r>
          </a:p>
        </p:txBody>
      </p:sp>
      <p:sp>
        <p:nvSpPr>
          <p:cNvPr id="44" name="arch-input-subtitle">
            <a:extLst>
              <a:ext uri="{FF2B5EF4-FFF2-40B4-BE49-F238E27FC236}">
                <a16:creationId xmlns:a16="http://schemas.microsoft.com/office/drawing/2014/main" id="{8A0E5AD4-0BC7-47AC-A338-AA791298692C}"/>
              </a:ext>
            </a:extLst>
          </p:cNvPr>
          <p:cNvSpPr>
            <a:spLocks noGrp="1"/>
          </p:cNvSpPr>
          <p:nvPr/>
        </p:nvSpPr>
        <p:spPr>
          <a:xfrm>
            <a:off x="11489848" y="16482933"/>
            <a:ext cx="7408165" cy="3770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normalized heartbeat segment</a:t>
            </a:r>
          </a:p>
        </p:txBody>
      </p:sp>
      <p:sp>
        <p:nvSpPr>
          <p:cNvPr id="45" name="arch-conv-box">
            <a:extLst>
              <a:ext uri="{FF2B5EF4-FFF2-40B4-BE49-F238E27FC236}">
                <a16:creationId xmlns:a16="http://schemas.microsoft.com/office/drawing/2014/main" id="{409F4589-1FEE-4D62-ACEE-0E00FC9C1614}"/>
              </a:ext>
            </a:extLst>
          </p:cNvPr>
          <p:cNvSpPr>
            <a:spLocks noGrp="1"/>
          </p:cNvSpPr>
          <p:nvPr/>
        </p:nvSpPr>
        <p:spPr>
          <a:xfrm>
            <a:off x="11238114" y="17326830"/>
            <a:ext cx="7911632" cy="125686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5936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arch-conv-title">
            <a:extLst>
              <a:ext uri="{FF2B5EF4-FFF2-40B4-BE49-F238E27FC236}">
                <a16:creationId xmlns:a16="http://schemas.microsoft.com/office/drawing/2014/main" id="{05112179-43D1-4990-BCE1-3DA7E4C60749}"/>
              </a:ext>
            </a:extLst>
          </p:cNvPr>
          <p:cNvSpPr>
            <a:spLocks noGrp="1"/>
          </p:cNvSpPr>
          <p:nvPr/>
        </p:nvSpPr>
        <p:spPr>
          <a:xfrm>
            <a:off x="11489848" y="17506383"/>
            <a:ext cx="740816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30" b="1">
                <a:solidFill>
                  <a:srgbClr val="102E49"/>
                </a:solidFill>
              </a:defRPr>
            </a:pPr>
            <a:r>
              <a:rPr sz="2830" b="1">
                <a:solidFill>
                  <a:srgbClr val="102E49"/>
                </a:solidFill>
              </a:rPr>
              <a:t>Three convolution blocks</a:t>
            </a:r>
          </a:p>
        </p:txBody>
      </p:sp>
      <p:sp>
        <p:nvSpPr>
          <p:cNvPr id="47" name="arch-conv-subtitle">
            <a:extLst>
              <a:ext uri="{FF2B5EF4-FFF2-40B4-BE49-F238E27FC236}">
                <a16:creationId xmlns:a16="http://schemas.microsoft.com/office/drawing/2014/main" id="{706C812F-062E-4AD0-80F3-39215ABB2E00}"/>
              </a:ext>
            </a:extLst>
          </p:cNvPr>
          <p:cNvSpPr>
            <a:spLocks noGrp="1"/>
          </p:cNvSpPr>
          <p:nvPr/>
        </p:nvSpPr>
        <p:spPr>
          <a:xfrm>
            <a:off x="11489848" y="18098906"/>
            <a:ext cx="7408165" cy="3770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16 (k=7) -&gt; 32 (k=5) -&gt; 64 (k=3)</a:t>
            </a:r>
          </a:p>
        </p:txBody>
      </p:sp>
      <p:sp>
        <p:nvSpPr>
          <p:cNvPr id="48" name="arch-gap-box">
            <a:extLst>
              <a:ext uri="{FF2B5EF4-FFF2-40B4-BE49-F238E27FC236}">
                <a16:creationId xmlns:a16="http://schemas.microsoft.com/office/drawing/2014/main" id="{F4AC36CB-2EB1-487E-9A36-7A98C026530B}"/>
              </a:ext>
            </a:extLst>
          </p:cNvPr>
          <p:cNvSpPr>
            <a:spLocks noGrp="1"/>
          </p:cNvSpPr>
          <p:nvPr/>
        </p:nvSpPr>
        <p:spPr>
          <a:xfrm>
            <a:off x="11238114" y="18942804"/>
            <a:ext cx="7911632" cy="125686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5936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arch-gap-title">
            <a:extLst>
              <a:ext uri="{FF2B5EF4-FFF2-40B4-BE49-F238E27FC236}">
                <a16:creationId xmlns:a16="http://schemas.microsoft.com/office/drawing/2014/main" id="{E479226E-3179-4624-ABBA-DBBE700717A0}"/>
              </a:ext>
            </a:extLst>
          </p:cNvPr>
          <p:cNvSpPr>
            <a:spLocks noGrp="1"/>
          </p:cNvSpPr>
          <p:nvPr/>
        </p:nvSpPr>
        <p:spPr>
          <a:xfrm>
            <a:off x="11489848" y="19122356"/>
            <a:ext cx="740816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30" b="1">
                <a:solidFill>
                  <a:srgbClr val="102E49"/>
                </a:solidFill>
              </a:defRPr>
            </a:pPr>
            <a:r>
              <a:rPr sz="2830" b="1">
                <a:solidFill>
                  <a:srgbClr val="102E49"/>
                </a:solidFill>
              </a:rPr>
              <a:t>Global average pooling</a:t>
            </a:r>
          </a:p>
        </p:txBody>
      </p:sp>
      <p:sp>
        <p:nvSpPr>
          <p:cNvPr id="50" name="arch-gap-subtitle">
            <a:extLst>
              <a:ext uri="{FF2B5EF4-FFF2-40B4-BE49-F238E27FC236}">
                <a16:creationId xmlns:a16="http://schemas.microsoft.com/office/drawing/2014/main" id="{0F5122EE-B035-4A1E-ADC1-5F8E4040ED29}"/>
              </a:ext>
            </a:extLst>
          </p:cNvPr>
          <p:cNvSpPr>
            <a:spLocks noGrp="1"/>
          </p:cNvSpPr>
          <p:nvPr/>
        </p:nvSpPr>
        <p:spPr>
          <a:xfrm>
            <a:off x="11489848" y="19714880"/>
            <a:ext cx="7408165" cy="3770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small representation, no large flatten layer</a:t>
            </a:r>
          </a:p>
        </p:txBody>
      </p:sp>
      <p:sp>
        <p:nvSpPr>
          <p:cNvPr id="51" name="arch-dense-box">
            <a:extLst>
              <a:ext uri="{FF2B5EF4-FFF2-40B4-BE49-F238E27FC236}">
                <a16:creationId xmlns:a16="http://schemas.microsoft.com/office/drawing/2014/main" id="{06CADF83-1298-4838-89CC-A6C4B4F7D57A}"/>
              </a:ext>
            </a:extLst>
          </p:cNvPr>
          <p:cNvSpPr>
            <a:spLocks noGrp="1"/>
          </p:cNvSpPr>
          <p:nvPr/>
        </p:nvSpPr>
        <p:spPr>
          <a:xfrm>
            <a:off x="11238114" y="20558778"/>
            <a:ext cx="7911632" cy="125686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5936">
            <a:solidFill>
              <a:srgbClr val="D5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arch-dense-title">
            <a:extLst>
              <a:ext uri="{FF2B5EF4-FFF2-40B4-BE49-F238E27FC236}">
                <a16:creationId xmlns:a16="http://schemas.microsoft.com/office/drawing/2014/main" id="{E9CD7A67-1E74-4E77-B0E6-CF387D5C2E2B}"/>
              </a:ext>
            </a:extLst>
          </p:cNvPr>
          <p:cNvSpPr>
            <a:spLocks noGrp="1"/>
          </p:cNvSpPr>
          <p:nvPr/>
        </p:nvSpPr>
        <p:spPr>
          <a:xfrm>
            <a:off x="11489848" y="20738330"/>
            <a:ext cx="740816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30" b="1">
                <a:solidFill>
                  <a:srgbClr val="102E49"/>
                </a:solidFill>
              </a:defRPr>
            </a:pPr>
            <a:r>
              <a:rPr sz="2830" b="1">
                <a:solidFill>
                  <a:srgbClr val="102E49"/>
                </a:solidFill>
              </a:rPr>
              <a:t>Dense 32 + dropout</a:t>
            </a:r>
          </a:p>
        </p:txBody>
      </p:sp>
      <p:sp>
        <p:nvSpPr>
          <p:cNvPr id="53" name="arch-dense-subtitle">
            <a:extLst>
              <a:ext uri="{FF2B5EF4-FFF2-40B4-BE49-F238E27FC236}">
                <a16:creationId xmlns:a16="http://schemas.microsoft.com/office/drawing/2014/main" id="{BA882024-3D82-421C-8CB2-452A50FB4922}"/>
              </a:ext>
            </a:extLst>
          </p:cNvPr>
          <p:cNvSpPr>
            <a:spLocks noGrp="1"/>
          </p:cNvSpPr>
          <p:nvPr/>
        </p:nvSpPr>
        <p:spPr>
          <a:xfrm>
            <a:off x="11489848" y="21330854"/>
            <a:ext cx="7408165" cy="3770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compact nonlinear classifier</a:t>
            </a:r>
          </a:p>
        </p:txBody>
      </p:sp>
      <p:sp>
        <p:nvSpPr>
          <p:cNvPr id="54" name="arch-output-box">
            <a:extLst>
              <a:ext uri="{FF2B5EF4-FFF2-40B4-BE49-F238E27FC236}">
                <a16:creationId xmlns:a16="http://schemas.microsoft.com/office/drawing/2014/main" id="{7107A722-58BE-41A7-8764-39597E654933}"/>
              </a:ext>
            </a:extLst>
          </p:cNvPr>
          <p:cNvSpPr>
            <a:spLocks noGrp="1"/>
          </p:cNvSpPr>
          <p:nvPr/>
        </p:nvSpPr>
        <p:spPr>
          <a:xfrm>
            <a:off x="11238114" y="22174751"/>
            <a:ext cx="7911632" cy="1256868"/>
          </a:xfrm>
          <a:prstGeom prst="roundRect">
            <a:avLst>
              <a:gd name="adj" fmla="val 6063"/>
            </a:avLst>
          </a:prstGeom>
          <a:solidFill>
            <a:srgbClr val="FCE2DA"/>
          </a:solidFill>
          <a:ln w="35936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rch-output-title">
            <a:extLst>
              <a:ext uri="{FF2B5EF4-FFF2-40B4-BE49-F238E27FC236}">
                <a16:creationId xmlns:a16="http://schemas.microsoft.com/office/drawing/2014/main" id="{FD1040C3-62A1-4BC1-8127-95537646FE3D}"/>
              </a:ext>
            </a:extLst>
          </p:cNvPr>
          <p:cNvSpPr>
            <a:spLocks noGrp="1"/>
          </p:cNvSpPr>
          <p:nvPr/>
        </p:nvSpPr>
        <p:spPr>
          <a:xfrm>
            <a:off x="11489848" y="22354304"/>
            <a:ext cx="740816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30" b="1">
                <a:solidFill>
                  <a:srgbClr val="102E49"/>
                </a:solidFill>
              </a:defRPr>
            </a:pPr>
            <a:r>
              <a:rPr sz="2830" b="1">
                <a:solidFill>
                  <a:srgbClr val="102E49"/>
                </a:solidFill>
              </a:rPr>
              <a:t>Five-class softmax</a:t>
            </a:r>
          </a:p>
        </p:txBody>
      </p:sp>
      <p:sp>
        <p:nvSpPr>
          <p:cNvPr id="56" name="arch-output-subtitle">
            <a:extLst>
              <a:ext uri="{FF2B5EF4-FFF2-40B4-BE49-F238E27FC236}">
                <a16:creationId xmlns:a16="http://schemas.microsoft.com/office/drawing/2014/main" id="{FDEE2A10-B181-4345-AB34-530B8BA425E8}"/>
              </a:ext>
            </a:extLst>
          </p:cNvPr>
          <p:cNvSpPr>
            <a:spLocks noGrp="1"/>
          </p:cNvSpPr>
          <p:nvPr/>
        </p:nvSpPr>
        <p:spPr>
          <a:xfrm>
            <a:off x="11489848" y="22946828"/>
            <a:ext cx="7408165" cy="3770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N / S / V / F / Q</a:t>
            </a:r>
          </a:p>
        </p:txBody>
      </p:sp>
      <p:sp>
        <p:nvSpPr>
          <p:cNvPr id="57" name="strategies-title">
            <a:extLst>
              <a:ext uri="{FF2B5EF4-FFF2-40B4-BE49-F238E27FC236}">
                <a16:creationId xmlns:a16="http://schemas.microsoft.com/office/drawing/2014/main" id="{B316ACDC-27C1-46ED-A081-DCEF93FED745}"/>
              </a:ext>
            </a:extLst>
          </p:cNvPr>
          <p:cNvSpPr>
            <a:spLocks noGrp="1"/>
          </p:cNvSpPr>
          <p:nvPr/>
        </p:nvSpPr>
        <p:spPr>
          <a:xfrm>
            <a:off x="11004361" y="24060054"/>
            <a:ext cx="8558948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Three complementary strategies</a:t>
            </a:r>
          </a:p>
        </p:txBody>
      </p:sp>
      <p:sp>
        <p:nvSpPr>
          <p:cNvPr id="58" name="strategy-1-number">
            <a:extLst>
              <a:ext uri="{FF2B5EF4-FFF2-40B4-BE49-F238E27FC236}">
                <a16:creationId xmlns:a16="http://schemas.microsoft.com/office/drawing/2014/main" id="{2510D6A8-F5FA-4198-936E-1F065126CBBA}"/>
              </a:ext>
            </a:extLst>
          </p:cNvPr>
          <p:cNvSpPr>
            <a:spLocks noGrp="1"/>
          </p:cNvSpPr>
          <p:nvPr/>
        </p:nvSpPr>
        <p:spPr>
          <a:xfrm>
            <a:off x="10986380" y="24993728"/>
            <a:ext cx="791163" cy="790032"/>
          </a:xfrm>
          <a:prstGeom prst="ellipse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trategy-1-digit">
            <a:extLst>
              <a:ext uri="{FF2B5EF4-FFF2-40B4-BE49-F238E27FC236}">
                <a16:creationId xmlns:a16="http://schemas.microsoft.com/office/drawing/2014/main" id="{F9106495-B54A-43FB-8233-2127A5B7FD23}"/>
              </a:ext>
            </a:extLst>
          </p:cNvPr>
          <p:cNvSpPr>
            <a:spLocks noGrp="1"/>
          </p:cNvSpPr>
          <p:nvPr/>
        </p:nvSpPr>
        <p:spPr>
          <a:xfrm>
            <a:off x="10986380" y="25083504"/>
            <a:ext cx="791163" cy="538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47" b="1">
                <a:solidFill>
                  <a:srgbClr val="FFFFFF"/>
                </a:solidFill>
              </a:defRPr>
            </a:pPr>
            <a:r>
              <a:rPr sz="2547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strategy-1-title">
            <a:extLst>
              <a:ext uri="{FF2B5EF4-FFF2-40B4-BE49-F238E27FC236}">
                <a16:creationId xmlns:a16="http://schemas.microsoft.com/office/drawing/2014/main" id="{162246CA-2362-4BCF-8EE7-3C5159E895B4}"/>
              </a:ext>
            </a:extLst>
          </p:cNvPr>
          <p:cNvSpPr>
            <a:spLocks noGrp="1"/>
          </p:cNvSpPr>
          <p:nvPr/>
        </p:nvSpPr>
        <p:spPr>
          <a:xfrm>
            <a:off x="12137163" y="24957817"/>
            <a:ext cx="7048545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Capped class-weighted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strategy-1-formula">
                <a:extLst>
                  <a:ext uri="{FF2B5EF4-FFF2-40B4-BE49-F238E27FC236}">
                    <a16:creationId xmlns:a16="http://schemas.microsoft.com/office/drawing/2014/main" id="{F9C9DBD8-1FC6-4192-9510-DC49A2F06F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125588" y="25640117"/>
                <a:ext cx="7048545" cy="574568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buNone/>
                  <a:defRPr sz="2122" b="1">
                    <a:solidFill>
                      <a:srgbClr val="F45B3A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45B3A"/>
                    </a:solidFill>
                  </a:rPr>
                  <a:t> = min(4,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45B3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F45B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F45B3A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45B3A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rgbClr val="F45B3A"/>
                    </a:solidFill>
                  </a:rPr>
                  <a:t>)   </a:t>
                </a:r>
                <a:r>
                  <a:rPr lang="en-US" sz="2122" b="1" dirty="0">
                    <a:solidFill>
                      <a:srgbClr val="F45B3A"/>
                    </a:solidFill>
                  </a:rPr>
                  <a:t>limits minority gradients.</a:t>
                </a:r>
                <a:endParaRPr sz="2122" b="1" dirty="0">
                  <a:solidFill>
                    <a:srgbClr val="F45B3A"/>
                  </a:solidFill>
                </a:endParaRPr>
              </a:p>
            </p:txBody>
          </p:sp>
        </mc:Choice>
        <mc:Fallback xmlns="">
          <p:sp>
            <p:nvSpPr>
              <p:cNvPr id="61" name="strategy-1-formula">
                <a:extLst>
                  <a:ext uri="{FF2B5EF4-FFF2-40B4-BE49-F238E27FC236}">
                    <a16:creationId xmlns:a16="http://schemas.microsoft.com/office/drawing/2014/main" id="{F9C9DBD8-1FC6-4192-9510-DC49A2F06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5588" y="25640117"/>
                <a:ext cx="7048545" cy="574568"/>
              </a:xfrm>
              <a:prstGeom prst="rect">
                <a:avLst/>
              </a:prstGeom>
              <a:blipFill>
                <a:blip r:embed="rId6"/>
                <a:stretch>
                  <a:fillRect b="-1914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strategy-1-detail">
            <a:extLst>
              <a:ext uri="{FF2B5EF4-FFF2-40B4-BE49-F238E27FC236}">
                <a16:creationId xmlns:a16="http://schemas.microsoft.com/office/drawing/2014/main" id="{2A500771-17E2-404C-93D9-A8426C26D631}"/>
              </a:ext>
            </a:extLst>
          </p:cNvPr>
          <p:cNvSpPr>
            <a:spLocks noGrp="1"/>
          </p:cNvSpPr>
          <p:nvPr/>
        </p:nvSpPr>
        <p:spPr>
          <a:xfrm>
            <a:off x="12137163" y="26250596"/>
            <a:ext cx="7048545" cy="861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22" b="0">
                <a:solidFill>
                  <a:srgbClr val="587084"/>
                </a:solidFill>
              </a:defRPr>
            </a:pPr>
            <a:r>
              <a:rPr sz="2122" b="0" dirty="0">
                <a:solidFill>
                  <a:srgbClr val="587084"/>
                </a:solidFill>
              </a:rPr>
              <a:t>Rare errors matter without unstable minority gradients.</a:t>
            </a:r>
          </a:p>
        </p:txBody>
      </p:sp>
      <p:sp>
        <p:nvSpPr>
          <p:cNvPr id="63" name="strategy-2-number">
            <a:extLst>
              <a:ext uri="{FF2B5EF4-FFF2-40B4-BE49-F238E27FC236}">
                <a16:creationId xmlns:a16="http://schemas.microsoft.com/office/drawing/2014/main" id="{A304E051-4378-4AF7-BE13-4288F9373F91}"/>
              </a:ext>
            </a:extLst>
          </p:cNvPr>
          <p:cNvSpPr>
            <a:spLocks noGrp="1"/>
          </p:cNvSpPr>
          <p:nvPr/>
        </p:nvSpPr>
        <p:spPr>
          <a:xfrm>
            <a:off x="10986380" y="27417689"/>
            <a:ext cx="791163" cy="790032"/>
          </a:xfrm>
          <a:prstGeom prst="ellipse">
            <a:avLst/>
          </a:prstGeom>
          <a:solidFill>
            <a:srgbClr val="13867B"/>
          </a:solidFill>
          <a:ln w="0">
            <a:solidFill>
              <a:srgbClr val="138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trategy-2-digit">
            <a:extLst>
              <a:ext uri="{FF2B5EF4-FFF2-40B4-BE49-F238E27FC236}">
                <a16:creationId xmlns:a16="http://schemas.microsoft.com/office/drawing/2014/main" id="{CC67AD46-EA7B-467E-8795-7001695329AD}"/>
              </a:ext>
            </a:extLst>
          </p:cNvPr>
          <p:cNvSpPr>
            <a:spLocks noGrp="1"/>
          </p:cNvSpPr>
          <p:nvPr/>
        </p:nvSpPr>
        <p:spPr>
          <a:xfrm>
            <a:off x="10986380" y="27507465"/>
            <a:ext cx="791163" cy="538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47" b="1">
                <a:solidFill>
                  <a:srgbClr val="FFFFFF"/>
                </a:solidFill>
              </a:defRPr>
            </a:pPr>
            <a:r>
              <a:rPr sz="2547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5" name="strategy-2-title">
            <a:extLst>
              <a:ext uri="{FF2B5EF4-FFF2-40B4-BE49-F238E27FC236}">
                <a16:creationId xmlns:a16="http://schemas.microsoft.com/office/drawing/2014/main" id="{E50B9583-D625-415B-9B16-8882CCA050D5}"/>
              </a:ext>
            </a:extLst>
          </p:cNvPr>
          <p:cNvSpPr>
            <a:spLocks noGrp="1"/>
          </p:cNvSpPr>
          <p:nvPr/>
        </p:nvSpPr>
        <p:spPr>
          <a:xfrm>
            <a:off x="12137163" y="27381778"/>
            <a:ext cx="7048545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Morphology-preserving augmentation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strategy-2-formula">
                <a:extLst>
                  <a:ext uri="{FF2B5EF4-FFF2-40B4-BE49-F238E27FC236}">
                    <a16:creationId xmlns:a16="http://schemas.microsoft.com/office/drawing/2014/main" id="{F53B30AC-FF71-4D61-8CAA-25246A7624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157484" y="28064078"/>
                <a:ext cx="7172074" cy="574568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>
                  <a:defRPr sz="2122" b="1">
                    <a:solidFill>
                      <a:srgbClr val="13867B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+∆</m:t>
                        </m:r>
                        <m:r>
                          <a:rPr lang="en-US" sz="2400" b="1" i="1" smtClean="0">
                            <a:solidFill>
                              <a:srgbClr val="13867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13867B"/>
                    </a:solidFill>
                  </a:rPr>
                  <a:t> </a:t>
                </a:r>
                <a:r>
                  <a:rPr lang="en-US" sz="2122" dirty="0">
                    <a:solidFill>
                      <a:srgbClr val="13867B"/>
                    </a:solidFill>
                  </a:rPr>
                  <a:t>		</a:t>
                </a:r>
                <a:endParaRPr lang="en-US" sz="2000" dirty="0">
                  <a:solidFill>
                    <a:srgbClr val="13867B"/>
                  </a:solidFill>
                </a:endParaRPr>
              </a:p>
              <a:p>
                <a:pPr>
                  <a:defRPr sz="2122" b="1">
                    <a:solidFill>
                      <a:srgbClr val="13867B"/>
                    </a:solidFill>
                  </a:defRPr>
                </a:pP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000" dirty="0">
                    <a:solidFill>
                      <a:srgbClr val="13867B"/>
                    </a:solidFill>
                  </a:rPr>
                  <a:t> amplitude scaling,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rgbClr val="13867B"/>
                    </a:solidFill>
                  </a:rPr>
                  <a:t> := small time shift, b := baseline shift for rare beats,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>
                        <a:solidFill>
                          <a:srgbClr val="1386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13867B"/>
                    </a:solidFill>
                  </a:rPr>
                  <a:t> := small noise </a:t>
                </a:r>
              </a:p>
            </p:txBody>
          </p:sp>
        </mc:Choice>
        <mc:Fallback xmlns="">
          <p:sp>
            <p:nvSpPr>
              <p:cNvPr id="66" name="strategy-2-formula">
                <a:extLst>
                  <a:ext uri="{FF2B5EF4-FFF2-40B4-BE49-F238E27FC236}">
                    <a16:creationId xmlns:a16="http://schemas.microsoft.com/office/drawing/2014/main" id="{F53B30AC-FF71-4D61-8CAA-25246A762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484" y="28064078"/>
                <a:ext cx="7172074" cy="574568"/>
              </a:xfrm>
              <a:prstGeom prst="rect">
                <a:avLst/>
              </a:prstGeom>
              <a:blipFill>
                <a:blip r:embed="rId7"/>
                <a:stretch>
                  <a:fillRect l="-850" b="-10531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strategy-2-detail">
            <a:extLst>
              <a:ext uri="{FF2B5EF4-FFF2-40B4-BE49-F238E27FC236}">
                <a16:creationId xmlns:a16="http://schemas.microsoft.com/office/drawing/2014/main" id="{9F759D2A-EBCF-488C-AC27-3B30A74C936C}"/>
              </a:ext>
            </a:extLst>
          </p:cNvPr>
          <p:cNvSpPr>
            <a:spLocks noGrp="1"/>
          </p:cNvSpPr>
          <p:nvPr/>
        </p:nvSpPr>
        <p:spPr>
          <a:xfrm>
            <a:off x="12137163" y="28674557"/>
            <a:ext cx="7048545" cy="861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22" b="0">
                <a:solidFill>
                  <a:srgbClr val="587084"/>
                </a:solidFill>
              </a:defRPr>
            </a:pPr>
            <a:endParaRPr lang="en-US" sz="2122" b="0" dirty="0">
              <a:solidFill>
                <a:srgbClr val="587084"/>
              </a:solidFill>
            </a:endParaRPr>
          </a:p>
          <a:p>
            <a:pPr algn="l">
              <a:buNone/>
              <a:defRPr sz="2122" b="0">
                <a:solidFill>
                  <a:srgbClr val="587084"/>
                </a:solidFill>
              </a:defRPr>
            </a:pPr>
            <a:r>
              <a:rPr sz="2122" b="0" dirty="0">
                <a:solidFill>
                  <a:srgbClr val="587084"/>
                </a:solidFill>
              </a:rPr>
              <a:t>Noise and small shifts preserve the ECG beat shape.</a:t>
            </a:r>
          </a:p>
        </p:txBody>
      </p:sp>
      <p:sp>
        <p:nvSpPr>
          <p:cNvPr id="68" name="strategy-3-number">
            <a:extLst>
              <a:ext uri="{FF2B5EF4-FFF2-40B4-BE49-F238E27FC236}">
                <a16:creationId xmlns:a16="http://schemas.microsoft.com/office/drawing/2014/main" id="{6D7EFBDD-007E-422B-A0D1-AD1A79813B26}"/>
              </a:ext>
            </a:extLst>
          </p:cNvPr>
          <p:cNvSpPr>
            <a:spLocks noGrp="1"/>
          </p:cNvSpPr>
          <p:nvPr/>
        </p:nvSpPr>
        <p:spPr>
          <a:xfrm>
            <a:off x="10986380" y="29841649"/>
            <a:ext cx="791163" cy="790032"/>
          </a:xfrm>
          <a:prstGeom prst="ellipse">
            <a:avLst/>
          </a:prstGeom>
          <a:solidFill>
            <a:srgbClr val="102E49"/>
          </a:solidFill>
          <a:ln w="0">
            <a:solidFill>
              <a:srgbClr val="102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trategy-3-digit">
            <a:extLst>
              <a:ext uri="{FF2B5EF4-FFF2-40B4-BE49-F238E27FC236}">
                <a16:creationId xmlns:a16="http://schemas.microsoft.com/office/drawing/2014/main" id="{00B1C983-150B-4A9A-A07C-1250B112A912}"/>
              </a:ext>
            </a:extLst>
          </p:cNvPr>
          <p:cNvSpPr>
            <a:spLocks noGrp="1"/>
          </p:cNvSpPr>
          <p:nvPr/>
        </p:nvSpPr>
        <p:spPr>
          <a:xfrm>
            <a:off x="10986380" y="29931426"/>
            <a:ext cx="791163" cy="538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47" b="1">
                <a:solidFill>
                  <a:srgbClr val="FFFFFF"/>
                </a:solidFill>
              </a:defRPr>
            </a:pPr>
            <a:r>
              <a:rPr sz="2547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0" name="strategy-3-title">
            <a:extLst>
              <a:ext uri="{FF2B5EF4-FFF2-40B4-BE49-F238E27FC236}">
                <a16:creationId xmlns:a16="http://schemas.microsoft.com/office/drawing/2014/main" id="{7981B82F-67B3-4A7C-BD87-1A482699CFED}"/>
              </a:ext>
            </a:extLst>
          </p:cNvPr>
          <p:cNvSpPr>
            <a:spLocks noGrp="1"/>
          </p:cNvSpPr>
          <p:nvPr/>
        </p:nvSpPr>
        <p:spPr>
          <a:xfrm>
            <a:off x="12137163" y="29805739"/>
            <a:ext cx="7048545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Tested sampler: keep shuffle</a:t>
            </a:r>
          </a:p>
        </p:txBody>
      </p:sp>
      <p:sp>
        <p:nvSpPr>
          <p:cNvPr id="71" name="strategy-3-formula">
            <a:extLst>
              <a:ext uri="{FF2B5EF4-FFF2-40B4-BE49-F238E27FC236}">
                <a16:creationId xmlns:a16="http://schemas.microsoft.com/office/drawing/2014/main" id="{575B6528-3347-4681-917F-C239770B610C}"/>
              </a:ext>
            </a:extLst>
          </p:cNvPr>
          <p:cNvSpPr>
            <a:spLocks noGrp="1"/>
          </p:cNvSpPr>
          <p:nvPr/>
        </p:nvSpPr>
        <p:spPr>
          <a:xfrm>
            <a:off x="12137163" y="30488039"/>
            <a:ext cx="7048545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22" b="1">
                <a:solidFill>
                  <a:srgbClr val="102E49"/>
                </a:solidFill>
              </a:defRPr>
            </a:pPr>
            <a:r>
              <a:rPr sz="2122" b="1">
                <a:solidFill>
                  <a:srgbClr val="102E49"/>
                </a:solidFill>
              </a:rPr>
              <a:t>Weighted and balanced mini-batches overcorrected.</a:t>
            </a:r>
          </a:p>
        </p:txBody>
      </p:sp>
      <p:sp>
        <p:nvSpPr>
          <p:cNvPr id="72" name="strategy-3-detail">
            <a:extLst>
              <a:ext uri="{FF2B5EF4-FFF2-40B4-BE49-F238E27FC236}">
                <a16:creationId xmlns:a16="http://schemas.microsoft.com/office/drawing/2014/main" id="{9F48B8A2-AAFE-4689-BA22-8FB4507FA92C}"/>
              </a:ext>
            </a:extLst>
          </p:cNvPr>
          <p:cNvSpPr>
            <a:spLocks noGrp="1"/>
          </p:cNvSpPr>
          <p:nvPr/>
        </p:nvSpPr>
        <p:spPr>
          <a:xfrm>
            <a:off x="12137163" y="31098518"/>
            <a:ext cx="7048545" cy="861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22" b="0">
                <a:solidFill>
                  <a:srgbClr val="587084"/>
                </a:solidFill>
              </a:defRPr>
            </a:pPr>
            <a:r>
              <a:rPr sz="2122" b="0" dirty="0">
                <a:solidFill>
                  <a:srgbClr val="587084"/>
                </a:solidFill>
              </a:rPr>
              <a:t>Natural shuffle retained </a:t>
            </a:r>
            <a:r>
              <a:rPr sz="2122" b="0" i="1" u="sng" dirty="0">
                <a:solidFill>
                  <a:srgbClr val="587084"/>
                </a:solidFill>
              </a:rPr>
              <a:t>95.3%</a:t>
            </a:r>
            <a:r>
              <a:rPr sz="2122" b="0" dirty="0">
                <a:solidFill>
                  <a:srgbClr val="587084"/>
                </a:solidFill>
              </a:rPr>
              <a:t> test accuracy.</a:t>
            </a:r>
          </a:p>
        </p:txBody>
      </p:sp>
      <p:sp>
        <p:nvSpPr>
          <p:cNvPr id="73" name="sampler-title">
            <a:extLst>
              <a:ext uri="{FF2B5EF4-FFF2-40B4-BE49-F238E27FC236}">
                <a16:creationId xmlns:a16="http://schemas.microsoft.com/office/drawing/2014/main" id="{4E98EBEC-6ABF-4C37-87B8-33FB2F9560B5}"/>
              </a:ext>
            </a:extLst>
          </p:cNvPr>
          <p:cNvSpPr>
            <a:spLocks noGrp="1"/>
          </p:cNvSpPr>
          <p:nvPr/>
        </p:nvSpPr>
        <p:spPr>
          <a:xfrm>
            <a:off x="11004361" y="32391297"/>
            <a:ext cx="8558948" cy="6104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Quantization preserves per-class F1</a:t>
            </a:r>
          </a:p>
        </p:txBody>
      </p:sp>
      <p:sp>
        <p:nvSpPr>
          <p:cNvPr id="75" name="section-3-title">
            <a:extLst>
              <a:ext uri="{FF2B5EF4-FFF2-40B4-BE49-F238E27FC236}">
                <a16:creationId xmlns:a16="http://schemas.microsoft.com/office/drawing/2014/main" id="{C20B403B-D27A-4AA3-A509-67324AD88D35}"/>
              </a:ext>
            </a:extLst>
          </p:cNvPr>
          <p:cNvSpPr>
            <a:spLocks noGrp="1"/>
          </p:cNvSpPr>
          <p:nvPr/>
        </p:nvSpPr>
        <p:spPr>
          <a:xfrm>
            <a:off x="20318511" y="11652965"/>
            <a:ext cx="8720777" cy="1041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820" b="1">
                <a:solidFill>
                  <a:srgbClr val="F45B3A"/>
                </a:solidFill>
              </a:defRPr>
            </a:pPr>
            <a:r>
              <a:rPr sz="3820" b="1" dirty="0">
                <a:solidFill>
                  <a:srgbClr val="F45B3A"/>
                </a:solidFill>
              </a:rPr>
              <a:t>3. Full-int8 compression keeps model quality</a:t>
            </a:r>
          </a:p>
        </p:txBody>
      </p:sp>
      <p:sp>
        <p:nvSpPr>
          <p:cNvPr id="76" name="section-3-rule">
            <a:extLst>
              <a:ext uri="{FF2B5EF4-FFF2-40B4-BE49-F238E27FC236}">
                <a16:creationId xmlns:a16="http://schemas.microsoft.com/office/drawing/2014/main" id="{98DE65E7-1CC6-4BEF-B13F-2E76BA53ABEF}"/>
              </a:ext>
            </a:extLst>
          </p:cNvPr>
          <p:cNvSpPr>
            <a:spLocks noGrp="1"/>
          </p:cNvSpPr>
          <p:nvPr/>
        </p:nvSpPr>
        <p:spPr>
          <a:xfrm>
            <a:off x="20318511" y="12945746"/>
            <a:ext cx="8720777" cy="71821"/>
          </a:xfrm>
          <a:prstGeom prst="rect">
            <a:avLst/>
          </a:prstGeom>
          <a:solidFill>
            <a:srgbClr val="F45B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quant-copy">
                <a:extLst>
                  <a:ext uri="{FF2B5EF4-FFF2-40B4-BE49-F238E27FC236}">
                    <a16:creationId xmlns:a16="http://schemas.microsoft.com/office/drawing/2014/main" id="{8954E218-BFE1-4709-A559-9C7D4E59B0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534282" y="13107343"/>
                <a:ext cx="8289233" cy="16518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buNone/>
                  <a:defRPr sz="2405" b="0">
                    <a:solidFill>
                      <a:srgbClr val="102E49"/>
                    </a:solidFill>
                  </a:defRPr>
                </a:pPr>
                <a:r>
                  <a:rPr lang="en-US" sz="2405" b="0" dirty="0">
                    <a:solidFill>
                      <a:srgbClr val="102E49"/>
                    </a:solidFill>
                  </a:rPr>
                  <a:t>Representative-data calibration quantizes weights, activations, inputs, and outputs to int8 for TensorFlow Lite Micro.</a:t>
                </a:r>
              </a:p>
              <a:p>
                <a:pPr>
                  <a:defRPr sz="2405" b="0">
                    <a:solidFill>
                      <a:srgbClr val="102E49"/>
                    </a:solidFill>
                  </a:defRPr>
                </a:pPr>
                <a:r>
                  <a:rPr lang="en-US" sz="2600" b="1" i="1" dirty="0">
                    <a:solidFill>
                      <a:srgbClr val="102E49"/>
                    </a:solidFill>
                  </a:rPr>
                  <a:t>q = clip(round(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600" b="1" i="1" smtClean="0">
                            <a:solidFill>
                              <a:srgbClr val="102E4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600" b="1" i="1" smtClean="0">
                            <a:solidFill>
                              <a:srgbClr val="102E4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600" b="1" i="1" smtClean="0">
                            <a:solidFill>
                              <a:srgbClr val="102E49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den>
                    </m:f>
                    <m:r>
                      <a:rPr lang="en-US" sz="2600" b="1" i="1" smtClean="0">
                        <a:solidFill>
                          <a:srgbClr val="102E4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b="1" i="1" smtClean="0">
                        <a:solidFill>
                          <a:srgbClr val="102E49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m:rPr>
                        <m:nor/>
                      </m:rPr>
                      <a:rPr lang="en-US" sz="2600" b="1" i="1" smtClean="0">
                        <a:solidFill>
                          <a:srgbClr val="102E4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600" b="1" i="1" dirty="0">
                        <a:solidFill>
                          <a:srgbClr val="102E49"/>
                        </a:solidFill>
                      </a:rPr>
                      <m:t>))</m:t>
                    </m:r>
                  </m:oMath>
                </a14:m>
                <a:r>
                  <a:rPr lang="en-US" sz="2600" i="1" dirty="0">
                    <a:solidFill>
                      <a:srgbClr val="102E49"/>
                    </a:solidFill>
                  </a:rPr>
                  <a:t>;</a:t>
                </a:r>
                <a:r>
                  <a:rPr lang="en-US" sz="2600" b="1" i="1" dirty="0">
                    <a:solidFill>
                      <a:srgbClr val="102E49"/>
                    </a:solidFill>
                  </a:rPr>
                  <a:t>   x ≈ s(q - z)</a:t>
                </a:r>
                <a:endParaRPr lang="ar-AE" sz="2600" b="1" i="1" dirty="0">
                  <a:solidFill>
                    <a:srgbClr val="102E49"/>
                  </a:solidFill>
                </a:endParaRPr>
              </a:p>
            </p:txBody>
          </p:sp>
        </mc:Choice>
        <mc:Fallback xmlns="">
          <p:sp>
            <p:nvSpPr>
              <p:cNvPr id="77" name="quant-copy">
                <a:extLst>
                  <a:ext uri="{FF2B5EF4-FFF2-40B4-BE49-F238E27FC236}">
                    <a16:creationId xmlns:a16="http://schemas.microsoft.com/office/drawing/2014/main" id="{8954E218-BFE1-4709-A559-9C7D4E59B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4282" y="13107343"/>
                <a:ext cx="8289233" cy="1651884"/>
              </a:xfrm>
              <a:prstGeom prst="rect">
                <a:avLst/>
              </a:prstGeom>
              <a:blipFill>
                <a:blip r:embed="rId8"/>
                <a:stretch>
                  <a:fillRect l="-1324" t="-295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size-title">
            <a:extLst>
              <a:ext uri="{FF2B5EF4-FFF2-40B4-BE49-F238E27FC236}">
                <a16:creationId xmlns:a16="http://schemas.microsoft.com/office/drawing/2014/main" id="{58D8245D-A85C-41EE-8450-2BD98444F67A}"/>
              </a:ext>
            </a:extLst>
          </p:cNvPr>
          <p:cNvSpPr>
            <a:spLocks noGrp="1"/>
          </p:cNvSpPr>
          <p:nvPr/>
        </p:nvSpPr>
        <p:spPr>
          <a:xfrm>
            <a:off x="20534282" y="15118333"/>
            <a:ext cx="8289233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Model Size</a:t>
            </a:r>
          </a:p>
        </p:txBody>
      </p:sp>
      <p:graphicFrame>
        <p:nvGraphicFramePr>
          <p:cNvPr id="223" name="Chart"/>
          <p:cNvGraphicFramePr/>
          <p:nvPr>
            <p:extLst>
              <p:ext uri="{D42A27DB-BD31-4B8C-83A1-F6EECF244321}">
                <p14:modId xmlns:p14="http://schemas.microsoft.com/office/powerpoint/2010/main" val="751982890"/>
              </p:ext>
            </p:extLst>
          </p:nvPr>
        </p:nvGraphicFramePr>
        <p:xfrm>
          <a:off x="20588225" y="15710856"/>
          <a:ext cx="8181347" cy="5476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0" name="size-callout">
            <a:extLst>
              <a:ext uri="{FF2B5EF4-FFF2-40B4-BE49-F238E27FC236}">
                <a16:creationId xmlns:a16="http://schemas.microsoft.com/office/drawing/2014/main" id="{E37DD4A3-CCA2-4B3F-A28B-8FFF5DE16FA5}"/>
              </a:ext>
            </a:extLst>
          </p:cNvPr>
          <p:cNvSpPr>
            <a:spLocks noGrp="1"/>
          </p:cNvSpPr>
          <p:nvPr/>
        </p:nvSpPr>
        <p:spPr>
          <a:xfrm>
            <a:off x="20678130" y="21007659"/>
            <a:ext cx="7911632" cy="538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F45B3A"/>
                </a:solidFill>
              </a:defRPr>
            </a:pPr>
            <a:r>
              <a:rPr sz="2264" b="1">
                <a:solidFill>
                  <a:srgbClr val="F45B3A"/>
                </a:solidFill>
              </a:rPr>
              <a:t>-73.9% size  |  -0.14 percentage points accuracy</a:t>
            </a:r>
          </a:p>
        </p:txBody>
      </p:sp>
      <p:sp>
        <p:nvSpPr>
          <p:cNvPr id="81" name="cm-title">
            <a:extLst>
              <a:ext uri="{FF2B5EF4-FFF2-40B4-BE49-F238E27FC236}">
                <a16:creationId xmlns:a16="http://schemas.microsoft.com/office/drawing/2014/main" id="{7965C5F7-80CA-4B69-A59F-55F81D4D7199}"/>
              </a:ext>
            </a:extLst>
          </p:cNvPr>
          <p:cNvSpPr>
            <a:spLocks noGrp="1"/>
          </p:cNvSpPr>
          <p:nvPr/>
        </p:nvSpPr>
        <p:spPr>
          <a:xfrm>
            <a:off x="20534282" y="21995199"/>
            <a:ext cx="8289233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INT8 normalized confusion matrix</a:t>
            </a:r>
          </a:p>
        </p:txBody>
      </p:sp>
      <p:sp>
        <p:nvSpPr>
          <p:cNvPr id="83" name="cm-axis">
            <a:extLst>
              <a:ext uri="{FF2B5EF4-FFF2-40B4-BE49-F238E27FC236}">
                <a16:creationId xmlns:a16="http://schemas.microsoft.com/office/drawing/2014/main" id="{37FA437A-BB62-457F-9325-1476312287DB}"/>
              </a:ext>
            </a:extLst>
          </p:cNvPr>
          <p:cNvSpPr>
            <a:spLocks noGrp="1"/>
          </p:cNvSpPr>
          <p:nvPr/>
        </p:nvSpPr>
        <p:spPr>
          <a:xfrm>
            <a:off x="22386324" y="29931426"/>
            <a:ext cx="4585151" cy="430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39" b="0">
                <a:solidFill>
                  <a:srgbClr val="587084"/>
                </a:solidFill>
              </a:defRPr>
            </a:pPr>
            <a:r>
              <a:rPr sz="1839" b="0">
                <a:solidFill>
                  <a:srgbClr val="587084"/>
                </a:solidFill>
              </a:rPr>
              <a:t>Predicted class</a:t>
            </a:r>
          </a:p>
        </p:txBody>
      </p:sp>
      <p:sp>
        <p:nvSpPr>
          <p:cNvPr id="84" name="cm-insight">
            <a:extLst>
              <a:ext uri="{FF2B5EF4-FFF2-40B4-BE49-F238E27FC236}">
                <a16:creationId xmlns:a16="http://schemas.microsoft.com/office/drawing/2014/main" id="{616DF3B8-ABF1-41D8-A0EF-52685FF52862}"/>
              </a:ext>
            </a:extLst>
          </p:cNvPr>
          <p:cNvSpPr>
            <a:spLocks noGrp="1"/>
          </p:cNvSpPr>
          <p:nvPr/>
        </p:nvSpPr>
        <p:spPr>
          <a:xfrm>
            <a:off x="20642168" y="30434173"/>
            <a:ext cx="8091442" cy="861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F45B3A"/>
                </a:solidFill>
              </a:defRPr>
            </a:pPr>
            <a:r>
              <a:rPr sz="2264" b="1" dirty="0">
                <a:solidFill>
                  <a:srgbClr val="F45B3A"/>
                </a:solidFill>
              </a:rPr>
              <a:t>Class S remains hardest: </a:t>
            </a:r>
            <a:r>
              <a:rPr lang="en-US" sz="2264" u="sng" dirty="0">
                <a:solidFill>
                  <a:srgbClr val="F45B3A"/>
                </a:solidFill>
              </a:rPr>
              <a:t>37%</a:t>
            </a:r>
            <a:r>
              <a:rPr sz="2264" b="1" dirty="0">
                <a:solidFill>
                  <a:srgbClr val="F45B3A"/>
                </a:solidFill>
              </a:rPr>
              <a:t> are confused with normal beats.</a:t>
            </a:r>
          </a:p>
        </p:txBody>
      </p:sp>
      <p:sp>
        <p:nvSpPr>
          <p:cNvPr id="85" name="deployment-title">
            <a:extLst>
              <a:ext uri="{FF2B5EF4-FFF2-40B4-BE49-F238E27FC236}">
                <a16:creationId xmlns:a16="http://schemas.microsoft.com/office/drawing/2014/main" id="{60E98827-3D8F-48C7-9711-892A3F304AA0}"/>
              </a:ext>
            </a:extLst>
          </p:cNvPr>
          <p:cNvSpPr>
            <a:spLocks noGrp="1"/>
          </p:cNvSpPr>
          <p:nvPr/>
        </p:nvSpPr>
        <p:spPr>
          <a:xfrm>
            <a:off x="20534282" y="31870594"/>
            <a:ext cx="8289233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Deployment path</a:t>
            </a:r>
          </a:p>
        </p:txBody>
      </p:sp>
      <p:sp>
        <p:nvSpPr>
          <p:cNvPr id="86" name="deploy-arrow-1">
            <a:extLst>
              <a:ext uri="{FF2B5EF4-FFF2-40B4-BE49-F238E27FC236}">
                <a16:creationId xmlns:a16="http://schemas.microsoft.com/office/drawing/2014/main" id="{0E60EE15-64B5-4177-8F89-012E5621E2D2}"/>
              </a:ext>
            </a:extLst>
          </p:cNvPr>
          <p:cNvSpPr>
            <a:spLocks noGrp="1"/>
          </p:cNvSpPr>
          <p:nvPr/>
        </p:nvSpPr>
        <p:spPr>
          <a:xfrm>
            <a:off x="22656038" y="33181328"/>
            <a:ext cx="683277" cy="610479"/>
          </a:xfrm>
          <a:prstGeom prst="right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deploy-arrow-2">
            <a:extLst>
              <a:ext uri="{FF2B5EF4-FFF2-40B4-BE49-F238E27FC236}">
                <a16:creationId xmlns:a16="http://schemas.microsoft.com/office/drawing/2014/main" id="{D7C04842-2E12-40C4-85DB-BB4B8E0AB43B}"/>
              </a:ext>
            </a:extLst>
          </p:cNvPr>
          <p:cNvSpPr>
            <a:spLocks noGrp="1"/>
          </p:cNvSpPr>
          <p:nvPr/>
        </p:nvSpPr>
        <p:spPr>
          <a:xfrm>
            <a:off x="25784729" y="33181328"/>
            <a:ext cx="683277" cy="610479"/>
          </a:xfrm>
          <a:prstGeom prst="rightArrow">
            <a:avLst/>
          </a:prstGeom>
          <a:solidFill>
            <a:srgbClr val="F45B3A"/>
          </a:solidFill>
          <a:ln w="0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deploy-f32-box">
            <a:extLst>
              <a:ext uri="{FF2B5EF4-FFF2-40B4-BE49-F238E27FC236}">
                <a16:creationId xmlns:a16="http://schemas.microsoft.com/office/drawing/2014/main" id="{58BF5978-037E-4D36-9979-5CB48AA59C3F}"/>
              </a:ext>
            </a:extLst>
          </p:cNvPr>
          <p:cNvSpPr>
            <a:spLocks noGrp="1"/>
          </p:cNvSpPr>
          <p:nvPr/>
        </p:nvSpPr>
        <p:spPr>
          <a:xfrm>
            <a:off x="20408415" y="32768357"/>
            <a:ext cx="2247623" cy="1436421"/>
          </a:xfrm>
          <a:prstGeom prst="roundRect">
            <a:avLst>
              <a:gd name="adj" fmla="val 5305"/>
            </a:avLst>
          </a:prstGeom>
          <a:solidFill>
            <a:srgbClr val="DFF3F0"/>
          </a:solidFill>
          <a:ln w="35936">
            <a:solidFill>
              <a:srgbClr val="138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deploy-f32-title">
            <a:extLst>
              <a:ext uri="{FF2B5EF4-FFF2-40B4-BE49-F238E27FC236}">
                <a16:creationId xmlns:a16="http://schemas.microsoft.com/office/drawing/2014/main" id="{83651D50-60B7-4EC2-A306-DB1786EE7BEE}"/>
              </a:ext>
            </a:extLst>
          </p:cNvPr>
          <p:cNvSpPr>
            <a:spLocks noGrp="1"/>
          </p:cNvSpPr>
          <p:nvPr/>
        </p:nvSpPr>
        <p:spPr>
          <a:xfrm>
            <a:off x="20660149" y="32947910"/>
            <a:ext cx="174415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102E49"/>
                </a:solidFill>
              </a:defRPr>
            </a:pPr>
            <a:r>
              <a:rPr sz="2264" b="1" dirty="0">
                <a:solidFill>
                  <a:srgbClr val="102E49"/>
                </a:solidFill>
              </a:rPr>
              <a:t>Float32 CNN</a:t>
            </a:r>
          </a:p>
        </p:txBody>
      </p:sp>
      <p:sp>
        <p:nvSpPr>
          <p:cNvPr id="90" name="deploy-f32-subtitle">
            <a:extLst>
              <a:ext uri="{FF2B5EF4-FFF2-40B4-BE49-F238E27FC236}">
                <a16:creationId xmlns:a16="http://schemas.microsoft.com/office/drawing/2014/main" id="{D0F9A8F7-6497-4094-9CB9-E3658F88808B}"/>
              </a:ext>
            </a:extLst>
          </p:cNvPr>
          <p:cNvSpPr>
            <a:spLocks noGrp="1"/>
          </p:cNvSpPr>
          <p:nvPr/>
        </p:nvSpPr>
        <p:spPr>
          <a:xfrm>
            <a:off x="20660149" y="33540434"/>
            <a:ext cx="1744155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>
                <a:solidFill>
                  <a:srgbClr val="587084"/>
                </a:solidFill>
              </a:rPr>
              <a:t>90,361 B</a:t>
            </a:r>
          </a:p>
        </p:txBody>
      </p:sp>
      <p:sp>
        <p:nvSpPr>
          <p:cNvPr id="91" name="deploy-int8-box">
            <a:extLst>
              <a:ext uri="{FF2B5EF4-FFF2-40B4-BE49-F238E27FC236}">
                <a16:creationId xmlns:a16="http://schemas.microsoft.com/office/drawing/2014/main" id="{5CB95424-A9B6-4697-8A0B-D5EDD4CB456A}"/>
              </a:ext>
            </a:extLst>
          </p:cNvPr>
          <p:cNvSpPr>
            <a:spLocks noGrp="1"/>
          </p:cNvSpPr>
          <p:nvPr/>
        </p:nvSpPr>
        <p:spPr>
          <a:xfrm>
            <a:off x="23339316" y="32768357"/>
            <a:ext cx="2445414" cy="1436421"/>
          </a:xfrm>
          <a:prstGeom prst="roundRect">
            <a:avLst>
              <a:gd name="adj" fmla="val 5305"/>
            </a:avLst>
          </a:prstGeom>
          <a:solidFill>
            <a:srgbClr val="FFF1EC"/>
          </a:solidFill>
          <a:ln w="35936">
            <a:solidFill>
              <a:srgbClr val="F45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deploy-int8-title">
            <a:extLst>
              <a:ext uri="{FF2B5EF4-FFF2-40B4-BE49-F238E27FC236}">
                <a16:creationId xmlns:a16="http://schemas.microsoft.com/office/drawing/2014/main" id="{F97802E8-6317-4B7A-B633-38FD849CEF4F}"/>
              </a:ext>
            </a:extLst>
          </p:cNvPr>
          <p:cNvSpPr>
            <a:spLocks noGrp="1"/>
          </p:cNvSpPr>
          <p:nvPr/>
        </p:nvSpPr>
        <p:spPr>
          <a:xfrm>
            <a:off x="23591049" y="32947910"/>
            <a:ext cx="1941946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102E49"/>
                </a:solidFill>
              </a:defRPr>
            </a:pPr>
            <a:r>
              <a:rPr sz="2100" b="1" dirty="0">
                <a:solidFill>
                  <a:srgbClr val="102E49"/>
                </a:solidFill>
              </a:rPr>
              <a:t>Full INT8 </a:t>
            </a:r>
            <a:r>
              <a:rPr sz="2100" b="1" dirty="0" err="1">
                <a:solidFill>
                  <a:srgbClr val="102E49"/>
                </a:solidFill>
              </a:rPr>
              <a:t>TFLite</a:t>
            </a:r>
            <a:endParaRPr sz="2100" b="1" dirty="0">
              <a:solidFill>
                <a:srgbClr val="102E49"/>
              </a:solidFill>
            </a:endParaRPr>
          </a:p>
        </p:txBody>
      </p:sp>
      <p:sp>
        <p:nvSpPr>
          <p:cNvPr id="93" name="deploy-int8-subtitle">
            <a:extLst>
              <a:ext uri="{FF2B5EF4-FFF2-40B4-BE49-F238E27FC236}">
                <a16:creationId xmlns:a16="http://schemas.microsoft.com/office/drawing/2014/main" id="{80B8737E-22D3-44DD-990C-1A475E7AA69E}"/>
              </a:ext>
            </a:extLst>
          </p:cNvPr>
          <p:cNvSpPr>
            <a:spLocks noGrp="1"/>
          </p:cNvSpPr>
          <p:nvPr/>
        </p:nvSpPr>
        <p:spPr>
          <a:xfrm>
            <a:off x="23591049" y="33540434"/>
            <a:ext cx="1941946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981" b="0" dirty="0">
                <a:solidFill>
                  <a:srgbClr val="587084"/>
                </a:solidFill>
              </a:rPr>
              <a:t>23,576 B</a:t>
            </a:r>
          </a:p>
        </p:txBody>
      </p:sp>
      <p:sp>
        <p:nvSpPr>
          <p:cNvPr id="94" name="deploy-esp-box">
            <a:extLst>
              <a:ext uri="{FF2B5EF4-FFF2-40B4-BE49-F238E27FC236}">
                <a16:creationId xmlns:a16="http://schemas.microsoft.com/office/drawing/2014/main" id="{591C6249-80B6-48B3-A26B-BE2D96369756}"/>
              </a:ext>
            </a:extLst>
          </p:cNvPr>
          <p:cNvSpPr>
            <a:spLocks noGrp="1"/>
          </p:cNvSpPr>
          <p:nvPr/>
        </p:nvSpPr>
        <p:spPr>
          <a:xfrm>
            <a:off x="26468007" y="32768357"/>
            <a:ext cx="2517338" cy="1436421"/>
          </a:xfrm>
          <a:prstGeom prst="roundRect">
            <a:avLst>
              <a:gd name="adj" fmla="val 5305"/>
            </a:avLst>
          </a:prstGeom>
          <a:solidFill>
            <a:srgbClr val="102E49"/>
          </a:solidFill>
          <a:ln w="35936">
            <a:solidFill>
              <a:srgbClr val="102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deploy-esp-title">
            <a:extLst>
              <a:ext uri="{FF2B5EF4-FFF2-40B4-BE49-F238E27FC236}">
                <a16:creationId xmlns:a16="http://schemas.microsoft.com/office/drawing/2014/main" id="{100A6DB5-C466-4317-9E4A-268B5370CFAB}"/>
              </a:ext>
            </a:extLst>
          </p:cNvPr>
          <p:cNvSpPr>
            <a:spLocks noGrp="1"/>
          </p:cNvSpPr>
          <p:nvPr/>
        </p:nvSpPr>
        <p:spPr>
          <a:xfrm>
            <a:off x="26719740" y="32947910"/>
            <a:ext cx="2013870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64" b="1">
                <a:solidFill>
                  <a:srgbClr val="F3C44E"/>
                </a:solidFill>
              </a:defRPr>
            </a:pPr>
            <a:r>
              <a:rPr sz="2264" b="1">
                <a:solidFill>
                  <a:srgbClr val="F3C44E"/>
                </a:solidFill>
              </a:rPr>
              <a:t>ESP32 + TFLM</a:t>
            </a:r>
          </a:p>
        </p:txBody>
      </p:sp>
      <p:sp>
        <p:nvSpPr>
          <p:cNvPr id="96" name="deploy-esp-subtitle">
            <a:extLst>
              <a:ext uri="{FF2B5EF4-FFF2-40B4-BE49-F238E27FC236}">
                <a16:creationId xmlns:a16="http://schemas.microsoft.com/office/drawing/2014/main" id="{A9B01288-524B-4C1F-9197-98B9AF564DB5}"/>
              </a:ext>
            </a:extLst>
          </p:cNvPr>
          <p:cNvSpPr>
            <a:spLocks noGrp="1"/>
          </p:cNvSpPr>
          <p:nvPr/>
        </p:nvSpPr>
        <p:spPr>
          <a:xfrm>
            <a:off x="26719740" y="33540434"/>
            <a:ext cx="2013870" cy="556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0">
                <a:solidFill>
                  <a:srgbClr val="587084"/>
                </a:solidFill>
              </a:defRPr>
            </a:pPr>
            <a:r>
              <a:rPr sz="1700" b="1" dirty="0">
                <a:solidFill>
                  <a:srgbClr val="F4C44E"/>
                </a:solidFill>
              </a:rPr>
              <a:t>52.09 </a:t>
            </a:r>
            <a:r>
              <a:rPr sz="1700" b="1" dirty="0" err="1">
                <a:solidFill>
                  <a:srgbClr val="F4C44E"/>
                </a:solidFill>
              </a:rPr>
              <a:t>ms</a:t>
            </a:r>
            <a:r>
              <a:rPr sz="1700" b="1" dirty="0">
                <a:solidFill>
                  <a:srgbClr val="F4C44E"/>
                </a:solidFill>
              </a:rPr>
              <a:t> / beat</a:t>
            </a:r>
          </a:p>
        </p:txBody>
      </p:sp>
      <p:sp>
        <p:nvSpPr>
          <p:cNvPr id="97" name="deployment-proof">
            <a:extLst>
              <a:ext uri="{FF2B5EF4-FFF2-40B4-BE49-F238E27FC236}">
                <a16:creationId xmlns:a16="http://schemas.microsoft.com/office/drawing/2014/main" id="{089E3939-C468-461E-8638-480C7F196496}"/>
              </a:ext>
            </a:extLst>
          </p:cNvPr>
          <p:cNvSpPr>
            <a:spLocks noGrp="1"/>
          </p:cNvSpPr>
          <p:nvPr/>
        </p:nvSpPr>
        <p:spPr>
          <a:xfrm>
            <a:off x="20588225" y="34438197"/>
            <a:ext cx="8181347" cy="718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81" b="1">
                <a:solidFill>
                  <a:srgbClr val="13867B"/>
                </a:solidFill>
              </a:defRPr>
            </a:pPr>
            <a:r>
              <a:rPr sz="1981" b="1">
                <a:solidFill>
                  <a:srgbClr val="13867B"/>
                </a:solidFill>
              </a:rPr>
              <a:t>80 KiB tensor arena  |  full-int8 input/output  |  real MIT-BIH beats</a:t>
            </a:r>
          </a:p>
        </p:txBody>
      </p:sp>
      <p:sp>
        <p:nvSpPr>
          <p:cNvPr id="98" name="scope-title">
            <a:extLst>
              <a:ext uri="{FF2B5EF4-FFF2-40B4-BE49-F238E27FC236}">
                <a16:creationId xmlns:a16="http://schemas.microsoft.com/office/drawing/2014/main" id="{716A4F4C-CCC9-48E2-8509-3021BD7D159B}"/>
              </a:ext>
            </a:extLst>
          </p:cNvPr>
          <p:cNvSpPr>
            <a:spLocks noGrp="1"/>
          </p:cNvSpPr>
          <p:nvPr/>
        </p:nvSpPr>
        <p:spPr>
          <a:xfrm>
            <a:off x="20534282" y="35551423"/>
            <a:ext cx="8289233" cy="574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1" b="1">
                <a:solidFill>
                  <a:srgbClr val="102E49"/>
                </a:solidFill>
              </a:defRPr>
            </a:pPr>
            <a:r>
              <a:rPr sz="2971" b="1">
                <a:solidFill>
                  <a:srgbClr val="102E49"/>
                </a:solidFill>
              </a:rPr>
              <a:t>Prototype scope</a:t>
            </a:r>
          </a:p>
        </p:txBody>
      </p:sp>
      <p:sp>
        <p:nvSpPr>
          <p:cNvPr id="99" name="scope-copy">
            <a:extLst>
              <a:ext uri="{FF2B5EF4-FFF2-40B4-BE49-F238E27FC236}">
                <a16:creationId xmlns:a16="http://schemas.microsoft.com/office/drawing/2014/main" id="{24566E3F-E27A-4363-824C-F3ED8EDAEF8B}"/>
              </a:ext>
            </a:extLst>
          </p:cNvPr>
          <p:cNvSpPr>
            <a:spLocks noGrp="1"/>
          </p:cNvSpPr>
          <p:nvPr/>
        </p:nvSpPr>
        <p:spPr>
          <a:xfrm>
            <a:off x="20534282" y="36269634"/>
            <a:ext cx="8289233" cy="18314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5" b="0">
                <a:solidFill>
                  <a:srgbClr val="587084"/>
                </a:solidFill>
              </a:defRPr>
            </a:pPr>
            <a:r>
              <a:rPr sz="2405" b="0">
                <a:solidFill>
                  <a:srgbClr val="587084"/>
                </a:solidFill>
              </a:rPr>
              <a:t>Validated on stored test beats. Live ADC acquisition, heartbeat segmentation, patient-wise clinical validation, and confidence handling remain future work.</a:t>
            </a:r>
          </a:p>
        </p:txBody>
      </p:sp>
      <p:sp>
        <p:nvSpPr>
          <p:cNvPr id="100" name="takeaway-bg">
            <a:extLst>
              <a:ext uri="{FF2B5EF4-FFF2-40B4-BE49-F238E27FC236}">
                <a16:creationId xmlns:a16="http://schemas.microsoft.com/office/drawing/2014/main" id="{0D70F301-867B-45E9-9551-B13C92177100}"/>
              </a:ext>
            </a:extLst>
          </p:cNvPr>
          <p:cNvSpPr>
            <a:spLocks noGrp="1"/>
          </p:cNvSpPr>
          <p:nvPr/>
        </p:nvSpPr>
        <p:spPr>
          <a:xfrm>
            <a:off x="1294631" y="39142476"/>
            <a:ext cx="27690713" cy="2244408"/>
          </a:xfrm>
          <a:prstGeom prst="roundRect">
            <a:avLst>
              <a:gd name="adj" fmla="val 3395"/>
            </a:avLst>
          </a:prstGeom>
          <a:solidFill>
            <a:srgbClr val="102E49"/>
          </a:solidFill>
          <a:ln w="0">
            <a:solidFill>
              <a:srgbClr val="102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akeaway-label">
            <a:extLst>
              <a:ext uri="{FF2B5EF4-FFF2-40B4-BE49-F238E27FC236}">
                <a16:creationId xmlns:a16="http://schemas.microsoft.com/office/drawing/2014/main" id="{829A3C31-EFAE-4FC8-A99D-D3840293F268}"/>
              </a:ext>
            </a:extLst>
          </p:cNvPr>
          <p:cNvSpPr>
            <a:spLocks noGrp="1"/>
          </p:cNvSpPr>
          <p:nvPr/>
        </p:nvSpPr>
        <p:spPr>
          <a:xfrm>
            <a:off x="1888003" y="39824776"/>
            <a:ext cx="3326482" cy="538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47" b="1">
                <a:solidFill>
                  <a:srgbClr val="F3C44E"/>
                </a:solidFill>
              </a:defRPr>
            </a:pPr>
            <a:r>
              <a:rPr sz="2547" b="1">
                <a:solidFill>
                  <a:srgbClr val="F3C44E"/>
                </a:solidFill>
              </a:rPr>
              <a:t>TAKEAWAY</a:t>
            </a:r>
          </a:p>
        </p:txBody>
      </p:sp>
      <p:sp>
        <p:nvSpPr>
          <p:cNvPr id="102" name="takeaway-copy">
            <a:extLst>
              <a:ext uri="{FF2B5EF4-FFF2-40B4-BE49-F238E27FC236}">
                <a16:creationId xmlns:a16="http://schemas.microsoft.com/office/drawing/2014/main" id="{0A51D7AF-3ABF-4A12-BD1E-EA9B63DDD6F4}"/>
              </a:ext>
            </a:extLst>
          </p:cNvPr>
          <p:cNvSpPr>
            <a:spLocks noGrp="1"/>
          </p:cNvSpPr>
          <p:nvPr/>
        </p:nvSpPr>
        <p:spPr>
          <a:xfrm>
            <a:off x="5394295" y="39645223"/>
            <a:ext cx="22656038" cy="987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54" b="1">
                <a:solidFill>
                  <a:srgbClr val="FFFFFF"/>
                </a:solidFill>
              </a:defRPr>
            </a:pPr>
            <a:r>
              <a:rPr sz="3254" b="1">
                <a:solidFill>
                  <a:srgbClr val="FFFFFF"/>
                </a:solidFill>
              </a:rPr>
              <a:t>Full-int8 quantization is the deployment sweet spot: 23 KiB, 95.1% accuracy, and 52.09 ms ESP32 inference.</a:t>
            </a:r>
          </a:p>
        </p:txBody>
      </p:sp>
      <p:sp>
        <p:nvSpPr>
          <p:cNvPr id="103" name="footer-right">
            <a:extLst>
              <a:ext uri="{FF2B5EF4-FFF2-40B4-BE49-F238E27FC236}">
                <a16:creationId xmlns:a16="http://schemas.microsoft.com/office/drawing/2014/main" id="{AEA2F13C-FF89-42CC-99E2-DA48069A921F}"/>
              </a:ext>
            </a:extLst>
          </p:cNvPr>
          <p:cNvSpPr>
            <a:spLocks noGrp="1"/>
          </p:cNvSpPr>
          <p:nvPr/>
        </p:nvSpPr>
        <p:spPr>
          <a:xfrm>
            <a:off x="15643455" y="41871676"/>
            <a:ext cx="13126117" cy="395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39" b="0">
                <a:solidFill>
                  <a:srgbClr val="587084"/>
                </a:solidFill>
              </a:defRPr>
            </a:pPr>
            <a:r>
              <a:rPr sz="1839" b="0">
                <a:solidFill>
                  <a:srgbClr val="587084"/>
                </a:solidFill>
              </a:rPr>
              <a:t>MIT-BIH heartbeat classification  |  Academic prototype - not a medical device</a:t>
            </a:r>
          </a:p>
        </p:txBody>
      </p:sp>
      <p:graphicFrame>
        <p:nvGraphicFramePr>
          <p:cNvPr id="247" name="Chart"/>
          <p:cNvGraphicFramePr/>
          <p:nvPr/>
        </p:nvGraphicFramePr>
        <p:xfrm>
          <a:off x="11148251" y="33037653"/>
          <a:ext cx="8181308" cy="4668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2" name="matrix-col-0">
            <a:extLst>
              <a:ext uri="{FF2B5EF4-FFF2-40B4-BE49-F238E27FC236}">
                <a16:creationId xmlns:a16="http://schemas.microsoft.com/office/drawing/2014/main" id="{E3889E91-E495-43C9-A72C-FC6FA1C23F0B}"/>
              </a:ext>
            </a:extLst>
          </p:cNvPr>
          <p:cNvSpPr>
            <a:spLocks noGrp="1"/>
          </p:cNvSpPr>
          <p:nvPr/>
        </p:nvSpPr>
        <p:spPr>
          <a:xfrm>
            <a:off x="22002750" y="230505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N</a:t>
            </a:r>
          </a:p>
        </p:txBody>
      </p:sp>
      <p:sp>
        <p:nvSpPr>
          <p:cNvPr id="113" name="matrix-col-1">
            <a:extLst>
              <a:ext uri="{FF2B5EF4-FFF2-40B4-BE49-F238E27FC236}">
                <a16:creationId xmlns:a16="http://schemas.microsoft.com/office/drawing/2014/main" id="{4AD08612-75D6-4C82-B5B8-D4DF43262C8E}"/>
              </a:ext>
            </a:extLst>
          </p:cNvPr>
          <p:cNvSpPr>
            <a:spLocks noGrp="1"/>
          </p:cNvSpPr>
          <p:nvPr/>
        </p:nvSpPr>
        <p:spPr>
          <a:xfrm>
            <a:off x="23126700" y="230505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S</a:t>
            </a:r>
          </a:p>
        </p:txBody>
      </p:sp>
      <p:sp>
        <p:nvSpPr>
          <p:cNvPr id="114" name="matrix-col-2">
            <a:extLst>
              <a:ext uri="{FF2B5EF4-FFF2-40B4-BE49-F238E27FC236}">
                <a16:creationId xmlns:a16="http://schemas.microsoft.com/office/drawing/2014/main" id="{B6E83185-E57C-434E-A932-AFA1B385F3F9}"/>
              </a:ext>
            </a:extLst>
          </p:cNvPr>
          <p:cNvSpPr>
            <a:spLocks noGrp="1"/>
          </p:cNvSpPr>
          <p:nvPr/>
        </p:nvSpPr>
        <p:spPr>
          <a:xfrm>
            <a:off x="24250650" y="230505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V</a:t>
            </a:r>
          </a:p>
        </p:txBody>
      </p:sp>
      <p:sp>
        <p:nvSpPr>
          <p:cNvPr id="115" name="matrix-col-3">
            <a:extLst>
              <a:ext uri="{FF2B5EF4-FFF2-40B4-BE49-F238E27FC236}">
                <a16:creationId xmlns:a16="http://schemas.microsoft.com/office/drawing/2014/main" id="{8D0061AB-56AA-4857-8868-98FE694E8A82}"/>
              </a:ext>
            </a:extLst>
          </p:cNvPr>
          <p:cNvSpPr>
            <a:spLocks noGrp="1"/>
          </p:cNvSpPr>
          <p:nvPr/>
        </p:nvSpPr>
        <p:spPr>
          <a:xfrm>
            <a:off x="25374600" y="230505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F</a:t>
            </a:r>
          </a:p>
        </p:txBody>
      </p:sp>
      <p:sp>
        <p:nvSpPr>
          <p:cNvPr id="116" name="matrix-col-4">
            <a:extLst>
              <a:ext uri="{FF2B5EF4-FFF2-40B4-BE49-F238E27FC236}">
                <a16:creationId xmlns:a16="http://schemas.microsoft.com/office/drawing/2014/main" id="{32968E32-EDFA-4DE3-B276-B99E596A05CF}"/>
              </a:ext>
            </a:extLst>
          </p:cNvPr>
          <p:cNvSpPr>
            <a:spLocks noGrp="1"/>
          </p:cNvSpPr>
          <p:nvPr/>
        </p:nvSpPr>
        <p:spPr>
          <a:xfrm>
            <a:off x="26498550" y="23050500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Q</a:t>
            </a:r>
          </a:p>
        </p:txBody>
      </p:sp>
      <p:sp>
        <p:nvSpPr>
          <p:cNvPr id="117" name="matrix-row-0">
            <a:extLst>
              <a:ext uri="{FF2B5EF4-FFF2-40B4-BE49-F238E27FC236}">
                <a16:creationId xmlns:a16="http://schemas.microsoft.com/office/drawing/2014/main" id="{5A5A8D65-DF8C-40ED-90AD-598EBF5F73B2}"/>
              </a:ext>
            </a:extLst>
          </p:cNvPr>
          <p:cNvSpPr>
            <a:spLocks noGrp="1"/>
          </p:cNvSpPr>
          <p:nvPr/>
        </p:nvSpPr>
        <p:spPr>
          <a:xfrm>
            <a:off x="21355050" y="23641050"/>
            <a:ext cx="47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N</a:t>
            </a:r>
          </a:p>
        </p:txBody>
      </p:sp>
      <p:sp>
        <p:nvSpPr>
          <p:cNvPr id="118" name="matrix-0-0">
            <a:extLst>
              <a:ext uri="{FF2B5EF4-FFF2-40B4-BE49-F238E27FC236}">
                <a16:creationId xmlns:a16="http://schemas.microsoft.com/office/drawing/2014/main" id="{3F9BDF5F-9252-4D3C-92E7-D4C19E9BEEEF}"/>
              </a:ext>
            </a:extLst>
          </p:cNvPr>
          <p:cNvSpPr>
            <a:spLocks noGrp="1"/>
          </p:cNvSpPr>
          <p:nvPr/>
        </p:nvSpPr>
        <p:spPr>
          <a:xfrm>
            <a:off x="22002750" y="23641050"/>
            <a:ext cx="1123950" cy="1123950"/>
          </a:xfrm>
          <a:prstGeom prst="rect">
            <a:avLst/>
          </a:prstGeom>
          <a:solidFill>
            <a:srgbClr val="1A8C82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0.96</a:t>
            </a:r>
          </a:p>
        </p:txBody>
      </p:sp>
      <p:sp>
        <p:nvSpPr>
          <p:cNvPr id="119" name="matrix-0-1">
            <a:extLst>
              <a:ext uri="{FF2B5EF4-FFF2-40B4-BE49-F238E27FC236}">
                <a16:creationId xmlns:a16="http://schemas.microsoft.com/office/drawing/2014/main" id="{5B3C0C34-2DEF-4F14-A390-5811C81B7E92}"/>
              </a:ext>
            </a:extLst>
          </p:cNvPr>
          <p:cNvSpPr>
            <a:spLocks noGrp="1"/>
          </p:cNvSpPr>
          <p:nvPr/>
        </p:nvSpPr>
        <p:spPr>
          <a:xfrm>
            <a:off x="23126700" y="23641050"/>
            <a:ext cx="1123950" cy="1123950"/>
          </a:xfrm>
          <a:prstGeom prst="rect">
            <a:avLst/>
          </a:prstGeom>
          <a:solidFill>
            <a:srgbClr val="E7F2F0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0.01</a:t>
            </a:r>
          </a:p>
        </p:txBody>
      </p:sp>
      <p:sp>
        <p:nvSpPr>
          <p:cNvPr id="120" name="matrix-0-2">
            <a:extLst>
              <a:ext uri="{FF2B5EF4-FFF2-40B4-BE49-F238E27FC236}">
                <a16:creationId xmlns:a16="http://schemas.microsoft.com/office/drawing/2014/main" id="{4A9541D6-F247-4B1C-B17E-CB098981D108}"/>
              </a:ext>
            </a:extLst>
          </p:cNvPr>
          <p:cNvSpPr>
            <a:spLocks noGrp="1"/>
          </p:cNvSpPr>
          <p:nvPr/>
        </p:nvSpPr>
        <p:spPr>
          <a:xfrm>
            <a:off x="24250650" y="23641050"/>
            <a:ext cx="1123950" cy="1123950"/>
          </a:xfrm>
          <a:prstGeom prst="rect">
            <a:avLst/>
          </a:prstGeom>
          <a:solidFill>
            <a:srgbClr val="E2EFED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0.02</a:t>
            </a:r>
          </a:p>
        </p:txBody>
      </p:sp>
      <p:sp>
        <p:nvSpPr>
          <p:cNvPr id="121" name="matrix-0-3">
            <a:extLst>
              <a:ext uri="{FF2B5EF4-FFF2-40B4-BE49-F238E27FC236}">
                <a16:creationId xmlns:a16="http://schemas.microsoft.com/office/drawing/2014/main" id="{B6E53B3F-3807-469A-B00B-EA68DFFFC32B}"/>
              </a:ext>
            </a:extLst>
          </p:cNvPr>
          <p:cNvSpPr>
            <a:spLocks noGrp="1"/>
          </p:cNvSpPr>
          <p:nvPr/>
        </p:nvSpPr>
        <p:spPr>
          <a:xfrm>
            <a:off x="25374600" y="23641050"/>
            <a:ext cx="1123950" cy="1123950"/>
          </a:xfrm>
          <a:prstGeom prst="rect">
            <a:avLst/>
          </a:prstGeom>
          <a:solidFill>
            <a:srgbClr val="E7F2F0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0.01</a:t>
            </a:r>
          </a:p>
        </p:txBody>
      </p:sp>
      <p:sp>
        <p:nvSpPr>
          <p:cNvPr id="122" name="matrix-0-4">
            <a:extLst>
              <a:ext uri="{FF2B5EF4-FFF2-40B4-BE49-F238E27FC236}">
                <a16:creationId xmlns:a16="http://schemas.microsoft.com/office/drawing/2014/main" id="{E16B07E9-D4C2-4710-BAA9-0FCF2229324C}"/>
              </a:ext>
            </a:extLst>
          </p:cNvPr>
          <p:cNvSpPr>
            <a:spLocks noGrp="1"/>
          </p:cNvSpPr>
          <p:nvPr/>
        </p:nvSpPr>
        <p:spPr>
          <a:xfrm>
            <a:off x="26498550" y="2364105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23" name="matrix-row-1">
            <a:extLst>
              <a:ext uri="{FF2B5EF4-FFF2-40B4-BE49-F238E27FC236}">
                <a16:creationId xmlns:a16="http://schemas.microsoft.com/office/drawing/2014/main" id="{42C88244-7FF0-4B22-ADC0-515ACCFCD0F1}"/>
              </a:ext>
            </a:extLst>
          </p:cNvPr>
          <p:cNvSpPr>
            <a:spLocks noGrp="1"/>
          </p:cNvSpPr>
          <p:nvPr/>
        </p:nvSpPr>
        <p:spPr>
          <a:xfrm>
            <a:off x="21355050" y="24765000"/>
            <a:ext cx="47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S</a:t>
            </a:r>
          </a:p>
        </p:txBody>
      </p:sp>
      <p:sp>
        <p:nvSpPr>
          <p:cNvPr id="124" name="matrix-1-0">
            <a:extLst>
              <a:ext uri="{FF2B5EF4-FFF2-40B4-BE49-F238E27FC236}">
                <a16:creationId xmlns:a16="http://schemas.microsoft.com/office/drawing/2014/main" id="{F4523010-B575-4925-B455-D79A6FC042D8}"/>
              </a:ext>
            </a:extLst>
          </p:cNvPr>
          <p:cNvSpPr>
            <a:spLocks noGrp="1"/>
          </p:cNvSpPr>
          <p:nvPr/>
        </p:nvSpPr>
        <p:spPr>
          <a:xfrm>
            <a:off x="22002750" y="24765000"/>
            <a:ext cx="1123950" cy="1123950"/>
          </a:xfrm>
          <a:prstGeom prst="rect">
            <a:avLst/>
          </a:prstGeom>
          <a:solidFill>
            <a:srgbClr val="84C1BB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0.37</a:t>
            </a:r>
          </a:p>
        </p:txBody>
      </p:sp>
      <p:sp>
        <p:nvSpPr>
          <p:cNvPr id="125" name="matrix-1-1">
            <a:extLst>
              <a:ext uri="{FF2B5EF4-FFF2-40B4-BE49-F238E27FC236}">
                <a16:creationId xmlns:a16="http://schemas.microsoft.com/office/drawing/2014/main" id="{ABBF9DBB-5038-42FD-9AE7-F5CE034E72B5}"/>
              </a:ext>
            </a:extLst>
          </p:cNvPr>
          <p:cNvSpPr>
            <a:spLocks noGrp="1"/>
          </p:cNvSpPr>
          <p:nvPr/>
        </p:nvSpPr>
        <p:spPr>
          <a:xfrm>
            <a:off x="23126700" y="24765000"/>
            <a:ext cx="1123950" cy="1123950"/>
          </a:xfrm>
          <a:prstGeom prst="rect">
            <a:avLst/>
          </a:prstGeom>
          <a:solidFill>
            <a:srgbClr val="5FAEA7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0.56</a:t>
            </a:r>
          </a:p>
        </p:txBody>
      </p:sp>
      <p:sp>
        <p:nvSpPr>
          <p:cNvPr id="126" name="matrix-1-2">
            <a:extLst>
              <a:ext uri="{FF2B5EF4-FFF2-40B4-BE49-F238E27FC236}">
                <a16:creationId xmlns:a16="http://schemas.microsoft.com/office/drawing/2014/main" id="{93965E1E-52CE-482D-BA2F-668A232A9333}"/>
              </a:ext>
            </a:extLst>
          </p:cNvPr>
          <p:cNvSpPr>
            <a:spLocks noGrp="1"/>
          </p:cNvSpPr>
          <p:nvPr/>
        </p:nvSpPr>
        <p:spPr>
          <a:xfrm>
            <a:off x="24250650" y="24765000"/>
            <a:ext cx="1123950" cy="1123950"/>
          </a:xfrm>
          <a:prstGeom prst="rect">
            <a:avLst/>
          </a:prstGeom>
          <a:solidFill>
            <a:srgbClr val="D9EBE8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0.04</a:t>
            </a:r>
          </a:p>
        </p:txBody>
      </p:sp>
      <p:sp>
        <p:nvSpPr>
          <p:cNvPr id="127" name="matrix-1-3">
            <a:extLst>
              <a:ext uri="{FF2B5EF4-FFF2-40B4-BE49-F238E27FC236}">
                <a16:creationId xmlns:a16="http://schemas.microsoft.com/office/drawing/2014/main" id="{9AFAF820-7F06-4A86-8C93-99CD974D8F31}"/>
              </a:ext>
            </a:extLst>
          </p:cNvPr>
          <p:cNvSpPr>
            <a:spLocks noGrp="1"/>
          </p:cNvSpPr>
          <p:nvPr/>
        </p:nvSpPr>
        <p:spPr>
          <a:xfrm>
            <a:off x="25374600" y="24765000"/>
            <a:ext cx="1123950" cy="1123950"/>
          </a:xfrm>
          <a:prstGeom prst="rect">
            <a:avLst/>
          </a:prstGeom>
          <a:solidFill>
            <a:srgbClr val="E7F2F0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0.01</a:t>
            </a:r>
          </a:p>
        </p:txBody>
      </p:sp>
      <p:sp>
        <p:nvSpPr>
          <p:cNvPr id="128" name="matrix-1-4">
            <a:extLst>
              <a:ext uri="{FF2B5EF4-FFF2-40B4-BE49-F238E27FC236}">
                <a16:creationId xmlns:a16="http://schemas.microsoft.com/office/drawing/2014/main" id="{64DB5566-C0C0-4DB3-BAA0-A5A0CA5B9697}"/>
              </a:ext>
            </a:extLst>
          </p:cNvPr>
          <p:cNvSpPr>
            <a:spLocks noGrp="1"/>
          </p:cNvSpPr>
          <p:nvPr/>
        </p:nvSpPr>
        <p:spPr>
          <a:xfrm>
            <a:off x="26498550" y="24765000"/>
            <a:ext cx="1123950" cy="1123950"/>
          </a:xfrm>
          <a:prstGeom prst="rect">
            <a:avLst/>
          </a:prstGeom>
          <a:solidFill>
            <a:srgbClr val="E7F2F0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0.01</a:t>
            </a:r>
          </a:p>
        </p:txBody>
      </p:sp>
      <p:sp>
        <p:nvSpPr>
          <p:cNvPr id="129" name="matrix-row-2">
            <a:extLst>
              <a:ext uri="{FF2B5EF4-FFF2-40B4-BE49-F238E27FC236}">
                <a16:creationId xmlns:a16="http://schemas.microsoft.com/office/drawing/2014/main" id="{59451FDC-F623-4D60-B7A8-BF6ABB38475A}"/>
              </a:ext>
            </a:extLst>
          </p:cNvPr>
          <p:cNvSpPr>
            <a:spLocks noGrp="1"/>
          </p:cNvSpPr>
          <p:nvPr/>
        </p:nvSpPr>
        <p:spPr>
          <a:xfrm>
            <a:off x="21355050" y="25888950"/>
            <a:ext cx="47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V</a:t>
            </a:r>
          </a:p>
        </p:txBody>
      </p:sp>
      <p:sp>
        <p:nvSpPr>
          <p:cNvPr id="130" name="matrix-2-0">
            <a:extLst>
              <a:ext uri="{FF2B5EF4-FFF2-40B4-BE49-F238E27FC236}">
                <a16:creationId xmlns:a16="http://schemas.microsoft.com/office/drawing/2014/main" id="{45A5A795-1C3D-4E7D-83F9-191489C4CE28}"/>
              </a:ext>
            </a:extLst>
          </p:cNvPr>
          <p:cNvSpPr>
            <a:spLocks noGrp="1"/>
          </p:cNvSpPr>
          <p:nvPr/>
        </p:nvSpPr>
        <p:spPr>
          <a:xfrm>
            <a:off x="22002750" y="25888950"/>
            <a:ext cx="1123950" cy="1123950"/>
          </a:xfrm>
          <a:prstGeom prst="rect">
            <a:avLst/>
          </a:prstGeom>
          <a:solidFill>
            <a:srgbClr val="E2EFED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0.02</a:t>
            </a:r>
          </a:p>
        </p:txBody>
      </p:sp>
      <p:sp>
        <p:nvSpPr>
          <p:cNvPr id="131" name="matrix-2-1">
            <a:extLst>
              <a:ext uri="{FF2B5EF4-FFF2-40B4-BE49-F238E27FC236}">
                <a16:creationId xmlns:a16="http://schemas.microsoft.com/office/drawing/2014/main" id="{38E40788-C0EE-4ED1-99A3-099A9DCD5594}"/>
              </a:ext>
            </a:extLst>
          </p:cNvPr>
          <p:cNvSpPr>
            <a:spLocks noGrp="1"/>
          </p:cNvSpPr>
          <p:nvPr/>
        </p:nvSpPr>
        <p:spPr>
          <a:xfrm>
            <a:off x="23126700" y="2588895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32" name="matrix-2-2">
            <a:extLst>
              <a:ext uri="{FF2B5EF4-FFF2-40B4-BE49-F238E27FC236}">
                <a16:creationId xmlns:a16="http://schemas.microsoft.com/office/drawing/2014/main" id="{06BC3CE0-5D19-4319-8CF3-68A9AAE6C9D2}"/>
              </a:ext>
            </a:extLst>
          </p:cNvPr>
          <p:cNvSpPr>
            <a:spLocks noGrp="1"/>
          </p:cNvSpPr>
          <p:nvPr/>
        </p:nvSpPr>
        <p:spPr>
          <a:xfrm>
            <a:off x="24250650" y="25888950"/>
            <a:ext cx="1123950" cy="1123950"/>
          </a:xfrm>
          <a:prstGeom prst="rect">
            <a:avLst/>
          </a:prstGeom>
          <a:solidFill>
            <a:srgbClr val="1C8D83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133" name="matrix-2-3">
            <a:extLst>
              <a:ext uri="{FF2B5EF4-FFF2-40B4-BE49-F238E27FC236}">
                <a16:creationId xmlns:a16="http://schemas.microsoft.com/office/drawing/2014/main" id="{21FAFF16-39BE-4803-BB7E-369DAB9F5E52}"/>
              </a:ext>
            </a:extLst>
          </p:cNvPr>
          <p:cNvSpPr>
            <a:spLocks noGrp="1"/>
          </p:cNvSpPr>
          <p:nvPr/>
        </p:nvSpPr>
        <p:spPr>
          <a:xfrm>
            <a:off x="25374600" y="25888950"/>
            <a:ext cx="1123950" cy="1123950"/>
          </a:xfrm>
          <a:prstGeom prst="rect">
            <a:avLst/>
          </a:prstGeom>
          <a:solidFill>
            <a:srgbClr val="E2EFED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0.02</a:t>
            </a:r>
          </a:p>
        </p:txBody>
      </p:sp>
      <p:sp>
        <p:nvSpPr>
          <p:cNvPr id="134" name="matrix-2-4">
            <a:extLst>
              <a:ext uri="{FF2B5EF4-FFF2-40B4-BE49-F238E27FC236}">
                <a16:creationId xmlns:a16="http://schemas.microsoft.com/office/drawing/2014/main" id="{280A09EB-4F6C-49C0-816E-B75B319D93BC}"/>
              </a:ext>
            </a:extLst>
          </p:cNvPr>
          <p:cNvSpPr>
            <a:spLocks noGrp="1"/>
          </p:cNvSpPr>
          <p:nvPr/>
        </p:nvSpPr>
        <p:spPr>
          <a:xfrm>
            <a:off x="26498550" y="2588895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35" name="matrix-row-3">
            <a:extLst>
              <a:ext uri="{FF2B5EF4-FFF2-40B4-BE49-F238E27FC236}">
                <a16:creationId xmlns:a16="http://schemas.microsoft.com/office/drawing/2014/main" id="{BCA266BA-CE4B-4C16-8C77-E04977C2D2C6}"/>
              </a:ext>
            </a:extLst>
          </p:cNvPr>
          <p:cNvSpPr>
            <a:spLocks noGrp="1"/>
          </p:cNvSpPr>
          <p:nvPr/>
        </p:nvSpPr>
        <p:spPr>
          <a:xfrm>
            <a:off x="21355050" y="27012900"/>
            <a:ext cx="47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F</a:t>
            </a:r>
          </a:p>
        </p:txBody>
      </p:sp>
      <p:sp>
        <p:nvSpPr>
          <p:cNvPr id="136" name="matrix-3-0">
            <a:extLst>
              <a:ext uri="{FF2B5EF4-FFF2-40B4-BE49-F238E27FC236}">
                <a16:creationId xmlns:a16="http://schemas.microsoft.com/office/drawing/2014/main" id="{32FB77A7-B67C-401A-9310-C3DDBBD22AA2}"/>
              </a:ext>
            </a:extLst>
          </p:cNvPr>
          <p:cNvSpPr>
            <a:spLocks noGrp="1"/>
          </p:cNvSpPr>
          <p:nvPr/>
        </p:nvSpPr>
        <p:spPr>
          <a:xfrm>
            <a:off x="22002750" y="27012900"/>
            <a:ext cx="1123950" cy="1123950"/>
          </a:xfrm>
          <a:prstGeom prst="rect">
            <a:avLst/>
          </a:prstGeom>
          <a:solidFill>
            <a:srgbClr val="C5E1DE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0.10</a:t>
            </a:r>
          </a:p>
        </p:txBody>
      </p:sp>
      <p:sp>
        <p:nvSpPr>
          <p:cNvPr id="137" name="matrix-3-1">
            <a:extLst>
              <a:ext uri="{FF2B5EF4-FFF2-40B4-BE49-F238E27FC236}">
                <a16:creationId xmlns:a16="http://schemas.microsoft.com/office/drawing/2014/main" id="{A5DE8021-742F-43C0-B1BD-A877B1EF289C}"/>
              </a:ext>
            </a:extLst>
          </p:cNvPr>
          <p:cNvSpPr>
            <a:spLocks noGrp="1"/>
          </p:cNvSpPr>
          <p:nvPr/>
        </p:nvSpPr>
        <p:spPr>
          <a:xfrm>
            <a:off x="23126700" y="2701290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38" name="matrix-3-2">
            <a:extLst>
              <a:ext uri="{FF2B5EF4-FFF2-40B4-BE49-F238E27FC236}">
                <a16:creationId xmlns:a16="http://schemas.microsoft.com/office/drawing/2014/main" id="{C56CC4FE-EFF2-4FC6-A426-2D0A0FC13F91}"/>
              </a:ext>
            </a:extLst>
          </p:cNvPr>
          <p:cNvSpPr>
            <a:spLocks noGrp="1"/>
          </p:cNvSpPr>
          <p:nvPr/>
        </p:nvSpPr>
        <p:spPr>
          <a:xfrm>
            <a:off x="24250650" y="27012900"/>
            <a:ext cx="1123950" cy="1123950"/>
          </a:xfrm>
          <a:prstGeom prst="rect">
            <a:avLst/>
          </a:prstGeom>
          <a:solidFill>
            <a:srgbClr val="C8E3DF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0.09</a:t>
            </a:r>
          </a:p>
        </p:txBody>
      </p:sp>
      <p:sp>
        <p:nvSpPr>
          <p:cNvPr id="139" name="matrix-3-3">
            <a:extLst>
              <a:ext uri="{FF2B5EF4-FFF2-40B4-BE49-F238E27FC236}">
                <a16:creationId xmlns:a16="http://schemas.microsoft.com/office/drawing/2014/main" id="{B2D1B1B0-3085-41AE-9A1A-7BDB4872C673}"/>
              </a:ext>
            </a:extLst>
          </p:cNvPr>
          <p:cNvSpPr>
            <a:spLocks noGrp="1"/>
          </p:cNvSpPr>
          <p:nvPr/>
        </p:nvSpPr>
        <p:spPr>
          <a:xfrm>
            <a:off x="25374600" y="27012900"/>
            <a:ext cx="1123950" cy="1123950"/>
          </a:xfrm>
          <a:prstGeom prst="rect">
            <a:avLst/>
          </a:prstGeom>
          <a:solidFill>
            <a:srgbClr val="33988F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0.81</a:t>
            </a:r>
          </a:p>
        </p:txBody>
      </p:sp>
      <p:sp>
        <p:nvSpPr>
          <p:cNvPr id="140" name="matrix-3-4">
            <a:extLst>
              <a:ext uri="{FF2B5EF4-FFF2-40B4-BE49-F238E27FC236}">
                <a16:creationId xmlns:a16="http://schemas.microsoft.com/office/drawing/2014/main" id="{2B788AB7-8E8B-48E0-8B24-C8622BFFC125}"/>
              </a:ext>
            </a:extLst>
          </p:cNvPr>
          <p:cNvSpPr>
            <a:spLocks noGrp="1"/>
          </p:cNvSpPr>
          <p:nvPr/>
        </p:nvSpPr>
        <p:spPr>
          <a:xfrm>
            <a:off x="26498550" y="2701290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41" name="matrix-row-4">
            <a:extLst>
              <a:ext uri="{FF2B5EF4-FFF2-40B4-BE49-F238E27FC236}">
                <a16:creationId xmlns:a16="http://schemas.microsoft.com/office/drawing/2014/main" id="{8EF4BFB4-A9F2-49FF-9BC0-BCD74ABCCC95}"/>
              </a:ext>
            </a:extLst>
          </p:cNvPr>
          <p:cNvSpPr>
            <a:spLocks noGrp="1"/>
          </p:cNvSpPr>
          <p:nvPr/>
        </p:nvSpPr>
        <p:spPr>
          <a:xfrm>
            <a:off x="21355050" y="28136850"/>
            <a:ext cx="47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02E49"/>
                </a:solidFill>
              </a:defRPr>
            </a:pPr>
            <a:r>
              <a:rPr sz="1650" b="1">
                <a:solidFill>
                  <a:srgbClr val="102E49"/>
                </a:solidFill>
              </a:rPr>
              <a:t>Q</a:t>
            </a:r>
          </a:p>
        </p:txBody>
      </p:sp>
      <p:sp>
        <p:nvSpPr>
          <p:cNvPr id="142" name="matrix-4-0">
            <a:extLst>
              <a:ext uri="{FF2B5EF4-FFF2-40B4-BE49-F238E27FC236}">
                <a16:creationId xmlns:a16="http://schemas.microsoft.com/office/drawing/2014/main" id="{7C1727E6-2FF7-4A26-9151-D49D13BF608F}"/>
              </a:ext>
            </a:extLst>
          </p:cNvPr>
          <p:cNvSpPr>
            <a:spLocks noGrp="1"/>
          </p:cNvSpPr>
          <p:nvPr/>
        </p:nvSpPr>
        <p:spPr>
          <a:xfrm>
            <a:off x="22002750" y="28136850"/>
            <a:ext cx="1123950" cy="1123950"/>
          </a:xfrm>
          <a:prstGeom prst="rect">
            <a:avLst/>
          </a:prstGeom>
          <a:solidFill>
            <a:srgbClr val="E2EFED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0.02</a:t>
            </a:r>
          </a:p>
        </p:txBody>
      </p:sp>
      <p:sp>
        <p:nvSpPr>
          <p:cNvPr id="143" name="matrix-4-1">
            <a:extLst>
              <a:ext uri="{FF2B5EF4-FFF2-40B4-BE49-F238E27FC236}">
                <a16:creationId xmlns:a16="http://schemas.microsoft.com/office/drawing/2014/main" id="{E1DAB732-4992-48E7-871F-56582919C698}"/>
              </a:ext>
            </a:extLst>
          </p:cNvPr>
          <p:cNvSpPr>
            <a:spLocks noGrp="1"/>
          </p:cNvSpPr>
          <p:nvPr/>
        </p:nvSpPr>
        <p:spPr>
          <a:xfrm>
            <a:off x="23126700" y="2813685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44" name="matrix-4-2">
            <a:extLst>
              <a:ext uri="{FF2B5EF4-FFF2-40B4-BE49-F238E27FC236}">
                <a16:creationId xmlns:a16="http://schemas.microsoft.com/office/drawing/2014/main" id="{E23277E2-5057-4DC5-A841-1030CB20407B}"/>
              </a:ext>
            </a:extLst>
          </p:cNvPr>
          <p:cNvSpPr>
            <a:spLocks noGrp="1"/>
          </p:cNvSpPr>
          <p:nvPr/>
        </p:nvSpPr>
        <p:spPr>
          <a:xfrm>
            <a:off x="24250650" y="28136850"/>
            <a:ext cx="1123950" cy="1123950"/>
          </a:xfrm>
          <a:prstGeom prst="rect">
            <a:avLst/>
          </a:prstGeom>
          <a:solidFill>
            <a:srgbClr val="E7F2F0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0.01</a:t>
            </a:r>
          </a:p>
        </p:txBody>
      </p:sp>
      <p:sp>
        <p:nvSpPr>
          <p:cNvPr id="145" name="matrix-4-3">
            <a:extLst>
              <a:ext uri="{FF2B5EF4-FFF2-40B4-BE49-F238E27FC236}">
                <a16:creationId xmlns:a16="http://schemas.microsoft.com/office/drawing/2014/main" id="{7255265F-F8C1-45EE-8EBB-612A6E130621}"/>
              </a:ext>
            </a:extLst>
          </p:cNvPr>
          <p:cNvSpPr>
            <a:spLocks noGrp="1"/>
          </p:cNvSpPr>
          <p:nvPr/>
        </p:nvSpPr>
        <p:spPr>
          <a:xfrm>
            <a:off x="25374600" y="28136850"/>
            <a:ext cx="1123950" cy="1123950"/>
          </a:xfrm>
          <a:prstGeom prst="rect">
            <a:avLst/>
          </a:prstGeom>
          <a:solidFill>
            <a:srgbClr val="EFF6F4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102E49"/>
                </a:solidFill>
              </a:defRPr>
            </a:pPr>
            <a:r>
              <a:rPr sz="1575" b="0">
                <a:solidFill>
                  <a:srgbClr val="102E49"/>
                </a:solidFill>
              </a:rPr>
              <a:t>0.00</a:t>
            </a:r>
          </a:p>
        </p:txBody>
      </p:sp>
      <p:sp>
        <p:nvSpPr>
          <p:cNvPr id="146" name="matrix-4-4">
            <a:extLst>
              <a:ext uri="{FF2B5EF4-FFF2-40B4-BE49-F238E27FC236}">
                <a16:creationId xmlns:a16="http://schemas.microsoft.com/office/drawing/2014/main" id="{D48D1EF1-513A-46F6-ACDA-F43306949C9D}"/>
              </a:ext>
            </a:extLst>
          </p:cNvPr>
          <p:cNvSpPr>
            <a:spLocks noGrp="1"/>
          </p:cNvSpPr>
          <p:nvPr/>
        </p:nvSpPr>
        <p:spPr>
          <a:xfrm>
            <a:off x="26498550" y="28136850"/>
            <a:ext cx="1123950" cy="1123950"/>
          </a:xfrm>
          <a:prstGeom prst="rect">
            <a:avLst/>
          </a:prstGeom>
          <a:solidFill>
            <a:srgbClr val="198B82"/>
          </a:solidFill>
          <a:ln w="23813">
            <a:solidFill>
              <a:srgbClr val="FFFFF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0.97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6AE09B8-2134-F4EE-54F2-EE002808B6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5987" y="30464183"/>
            <a:ext cx="897522" cy="31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195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729</Words>
  <Application>Microsoft Office PowerPoint</Application>
  <DocSecurity>0</DocSecurity>
  <PresentationFormat>Custom</PresentationFormat>
  <Paragraphs>117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Cambria Math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ZOTO 5</cp:lastModifiedBy>
  <cp:revision>24</cp:revision>
  <dcterms:created xsi:type="dcterms:W3CDTF">2026-08-11T13:00:51Z</dcterms:created>
  <dcterms:modified xsi:type="dcterms:W3CDTF">2026-08-22T08:10:09Z</dcterms:modified>
</cp:coreProperties>
</file>