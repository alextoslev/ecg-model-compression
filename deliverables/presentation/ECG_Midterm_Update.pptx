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c188df1ed9450a" /><Relationship Type="http://schemas.openxmlformats.org/officeDocument/2006/relationships/extended-properties" Target="/docProps/app.xml" Id="Rd86decdd4a104c91" /><Relationship Type="http://schemas.openxmlformats.org/officeDocument/2006/relationships/officeDocument" Target="/ppt/presentation.xml" Id="R4d79c8ab14c343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9e5523f8e14dee"/>
  </p:sldMasterIdLst>
  <p:notesMasterIdLst>
    <p:notesMasterId xmlns:r="http://schemas.openxmlformats.org/officeDocument/2006/relationships" r:id="Rd3a6dcef76514fbd"/>
  </p:notesMasterIdLst>
  <p:sldIdLst>
    <p:sldId xmlns:r="http://schemas.openxmlformats.org/officeDocument/2006/relationships" id="256" r:id="R386fe55c06fc4d08"/>
    <p:sldId xmlns:r="http://schemas.openxmlformats.org/officeDocument/2006/relationships" id="257" r:id="Rceb81fdd617f40cd"/>
    <p:sldId xmlns:r="http://schemas.openxmlformats.org/officeDocument/2006/relationships" id="258" r:id="Re8d61a80463748bb"/>
    <p:sldId xmlns:r="http://schemas.openxmlformats.org/officeDocument/2006/relationships" id="259" r:id="R998b959ba9364c4a"/>
    <p:sldId xmlns:r="http://schemas.openxmlformats.org/officeDocument/2006/relationships" id="260" r:id="Rc4e9e826648e440b"/>
    <p:sldId xmlns:r="http://schemas.openxmlformats.org/officeDocument/2006/relationships" id="261" r:id="R4e697e0494eb4453"/>
    <p:sldId xmlns:r="http://schemas.openxmlformats.org/officeDocument/2006/relationships" id="262" r:id="R6cbbcac0599245ff"/>
    <p:sldId xmlns:r="http://schemas.openxmlformats.org/officeDocument/2006/relationships" id="263" r:id="Re89a9cf923ba4738"/>
    <p:sldId xmlns:r="http://schemas.openxmlformats.org/officeDocument/2006/relationships" id="264" r:id="R802907291c1743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fc39b356e34675" /><Relationship Type="http://schemas.openxmlformats.org/officeDocument/2006/relationships/slideMaster" Target="/ppt/slideMasters/slideMaster1.xml" Id="R619e5523f8e14dee" /><Relationship Type="http://schemas.openxmlformats.org/officeDocument/2006/relationships/notesMaster" Target="/ppt/notesMasters/notesMaster1.xml" Id="Rd3a6dcef76514fbd" /><Relationship Type="http://schemas.openxmlformats.org/officeDocument/2006/relationships/presProps" Target="/ppt/presProps.xml" Id="Rf63378bc806e4a11" /><Relationship Type="http://schemas.openxmlformats.org/officeDocument/2006/relationships/tableStyles" Target="/ppt/tableStyles.xml" Id="R055fc3293ed242d5" /><Relationship Type="http://schemas.openxmlformats.org/officeDocument/2006/relationships/slide" Target="/ppt/slides/slide1.xml" Id="R386fe55c06fc4d08" /><Relationship Type="http://schemas.openxmlformats.org/officeDocument/2006/relationships/slide" Target="/ppt/slides/slide2.xml" Id="Rceb81fdd617f40cd" /><Relationship Type="http://schemas.openxmlformats.org/officeDocument/2006/relationships/slide" Target="/ppt/slides/slide3.xml" Id="Re8d61a80463748bb" /><Relationship Type="http://schemas.openxmlformats.org/officeDocument/2006/relationships/slide" Target="/ppt/slides/slide4.xml" Id="R998b959ba9364c4a" /><Relationship Type="http://schemas.openxmlformats.org/officeDocument/2006/relationships/slide" Target="/ppt/slides/slide5.xml" Id="Rc4e9e826648e440b" /><Relationship Type="http://schemas.openxmlformats.org/officeDocument/2006/relationships/slide" Target="/ppt/slides/slide6.xml" Id="R4e697e0494eb4453" /><Relationship Type="http://schemas.openxmlformats.org/officeDocument/2006/relationships/slide" Target="/ppt/slides/slide7.xml" Id="R6cbbcac0599245ff" /><Relationship Type="http://schemas.openxmlformats.org/officeDocument/2006/relationships/slide" Target="/ppt/slides/slide8.xml" Id="Re89a9cf923ba4738" /><Relationship Type="http://schemas.openxmlformats.org/officeDocument/2006/relationships/slide" Target="/ppt/slides/slide9.xml" Id="R802907291c1743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73f7909ae343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9afee6261f4f49" /><Relationship Type="http://schemas.openxmlformats.org/officeDocument/2006/relationships/notesMaster" Target="/ppt/notesMasters/notesMaster1.xml" Id="R36a2e561200f43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8fef9ad7a54927" /><Relationship Type="http://schemas.openxmlformats.org/officeDocument/2006/relationships/notesMaster" Target="/ppt/notesMasters/notesMaster1.xml" Id="R20d2436fb63d42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7863d41b024449" /><Relationship Type="http://schemas.openxmlformats.org/officeDocument/2006/relationships/notesMaster" Target="/ppt/notesMasters/notesMaster1.xml" Id="R924c27ad00a54f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87c7223a6d4095" /><Relationship Type="http://schemas.openxmlformats.org/officeDocument/2006/relationships/notesMaster" Target="/ppt/notesMasters/notesMaster1.xml" Id="R7ee622a7b44846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f1c48dc72c464d" /><Relationship Type="http://schemas.openxmlformats.org/officeDocument/2006/relationships/notesMaster" Target="/ppt/notesMasters/notesMaster1.xml" Id="R0878dd93a2e54a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113a52847a4a18" /><Relationship Type="http://schemas.openxmlformats.org/officeDocument/2006/relationships/notesMaster" Target="/ppt/notesMasters/notesMaster1.xml" Id="R60490058057643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96b65f897a4d49" /><Relationship Type="http://schemas.openxmlformats.org/officeDocument/2006/relationships/notesMaster" Target="/ppt/notesMasters/notesMaster1.xml" Id="Ra2bf665ff63549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e63b3059e448ec" /><Relationship Type="http://schemas.openxmlformats.org/officeDocument/2006/relationships/notesMaster" Target="/ppt/notesMasters/notesMaster1.xml" Id="R18745ab4808547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8f3c43ee6e4717" /><Relationship Type="http://schemas.openxmlformats.org/officeDocument/2006/relationships/notesMaster" Target="/ppt/notesMasters/notesMaster1.xml" Id="Rdab4dfe26dd34c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will give a short update on where the project is now.</a:t>
            </a:r>
          </a:p>
          <a:p xmlns:a="http://schemas.openxmlformats.org/drawingml/2006/main">
            <a:r>
              <a:t>The main story is: the CNN pipeline works, but rare classes are still difficult.</a:t>
            </a:r>
          </a:p>
          <a:p xmlns:a="http://schemas.openxmlformats.org/drawingml/2006/main">
            <a:r>
              <a:t>ESP32 is not presented as finished deployment; it is planned feasibility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heartbeat is a short one-dimensional signal.</a:t>
            </a:r>
          </a:p>
          <a:p xmlns:a="http://schemas.openxmlformats.org/drawingml/2006/main">
            <a:r>
              <a:t>Accuracy alone is dangerous here because normal beats dominate the data.</a:t>
            </a:r>
          </a:p>
          <a:p xmlns:a="http://schemas.openxmlformats.org/drawingml/2006/main">
            <a:r>
              <a:t>So I focus on per-class metrics, especially classes 1 and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project pipeline so far.</a:t>
            </a:r>
          </a:p>
          <a:p xmlns:a="http://schemas.openxmlformats.org/drawingml/2006/main">
            <a:r>
              <a:t>The code now covers training, evaluation, quantization, and early hardware preparation.</a:t>
            </a:r>
          </a:p>
          <a:p xmlns:a="http://schemas.openxmlformats.org/drawingml/2006/main">
            <a:r>
              <a:t>The newest work is about improving the CNN behavior on rare classes.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good news is that quantization is not causing a big accuracy drop.</a:t>
            </a:r>
          </a:p>
          <a:p xmlns:a="http://schemas.openxmlformats.org/drawingml/2006/main">
            <a:r>
              <a:t>The compressed model is much smaller.</a:t>
            </a:r>
          </a:p>
          <a:p xmlns:a="http://schemas.openxmlformats.org/drawingml/2006/main">
            <a:r>
              <a:t>So the next question is not only size, but whether the CNN predicts all classes well enough.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problem in the project.</a:t>
            </a:r>
          </a:p>
          <a:p xmlns:a="http://schemas.openxmlformats.org/drawingml/2006/main">
            <a:r>
              <a:t>The model can look good overall while ignoring rare classes.</a:t>
            </a:r>
          </a:p>
          <a:p xmlns:a="http://schemas.openxmlformats.org/drawingml/2006/main">
            <a:r>
              <a:t>That is why we need confusion matrices and per-class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Here we tried to force the model to pay attention to rare classes.</a:t>
            </a:r>
          </a:p>
          <a:p xmlns:a="http://schemas.openxmlformats.org/drawingml/2006/main">
            <a:r>
              <a:t>This helped recall a lot.</a:t>
            </a:r>
          </a:p>
          <a:p xmlns:a="http://schemas.openxmlformats.org/drawingml/2006/main">
            <a:r>
              <a:t>But the tradeoff is more false positives, especially normal beats predicted as rare classes.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honest result.</a:t>
            </a:r>
          </a:p>
          <a:p xmlns:a="http://schemas.openxmlformats.org/drawingml/2006/main">
            <a:r>
              <a:t>We solved one side of the problem: rare classes are detected more often.</a:t>
            </a:r>
          </a:p>
          <a:p xmlns:a="http://schemas.openxmlformats.org/drawingml/2006/main">
            <a:r>
              <a:t>But now we must reduce false alarms, otherwise the model is not practically useful.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want to be careful with wording here: this is not finished ESP32 deployment.</a:t>
            </a:r>
          </a:p>
          <a:p xmlns:a="http://schemas.openxmlformats.org/drawingml/2006/main">
            <a:r>
              <a:t>The ESP32 will not train the model. It only runs inference with an already trained quantized model.</a:t>
            </a:r>
          </a:p>
          <a:p xmlns:a="http://schemas.openxmlformats.org/drawingml/2006/main">
            <a:r>
              <a:t>Next we need to calculate and test whether the chosen CNN fits in memory and runs fast enough.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next work package, I would tune the data imbalance strategies first.</a:t>
            </a:r>
          </a:p>
          <a:p xmlns:a="http://schemas.openxmlformats.org/drawingml/2006/main">
            <a:r>
              <a:t>Weighted sampling is another way to make rare classes appear more often during training.</a:t>
            </a:r>
          </a:p>
          <a:p xmlns:a="http://schemas.openxmlformats.org/drawingml/2006/main">
            <a:r>
              <a:t>After choosing the best CNN, I would quantize it and do a careful ESP32 fit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36fb871fb43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81fd764011458c" /><Relationship Type="http://schemas.openxmlformats.org/officeDocument/2006/relationships/slideLayout" Target="/ppt/slideLayouts/slideLayout1.xml" Id="R97bbe3c5a6de45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bbe3c5a6de45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e1a3f99314998" /><Relationship Type="http://schemas.openxmlformats.org/officeDocument/2006/relationships/image" Target="/ppt/media/image.png" Id="R0b6a3e9ebea64020" /><Relationship Type="http://schemas.openxmlformats.org/officeDocument/2006/relationships/notesSlide" Target="/ppt/notesSlides/notesSlide1.xml" Id="R22e08f66dfd84d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b92e232e248e6" /><Relationship Type="http://schemas.openxmlformats.org/officeDocument/2006/relationships/notesSlide" Target="/ppt/notesSlides/notesSlide2.xml" Id="R2a4c1558686643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b46fb3712470d" /><Relationship Type="http://schemas.openxmlformats.org/officeDocument/2006/relationships/notesSlide" Target="/ppt/notesSlides/notesSlide3.xml" Id="Rd587ba53143340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3bf0caf0f4f4f" /><Relationship Type="http://schemas.openxmlformats.org/officeDocument/2006/relationships/image" Target="/ppt/media/image2.png" Id="R37d71f46ebed44ee" /><Relationship Type="http://schemas.openxmlformats.org/officeDocument/2006/relationships/notesSlide" Target="/ppt/notesSlides/notesSlide4.xml" Id="Rcff656a279bf44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8c79f95974a64" /><Relationship Type="http://schemas.openxmlformats.org/officeDocument/2006/relationships/image" Target="/ppt/media/image3.png" Id="Rd72a72b946ef4d47" /><Relationship Type="http://schemas.openxmlformats.org/officeDocument/2006/relationships/image" Target="/ppt/media/image4.png" Id="R16452b277a3544b0" /><Relationship Type="http://schemas.openxmlformats.org/officeDocument/2006/relationships/notesSlide" Target="/ppt/notesSlides/notesSlide5.xml" Id="R9661cb464edd43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976b6419648a5" /><Relationship Type="http://schemas.openxmlformats.org/officeDocument/2006/relationships/chart" Target="/ppt/slides/charts/chart1.xml" Id="Rc9d42571e3d1402e" /><Relationship Type="http://schemas.openxmlformats.org/officeDocument/2006/relationships/notesSlide" Target="/ppt/notesSlides/notesSlide6.xml" Id="Rb1410569f2bf43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a8160f6bd4a6a" /><Relationship Type="http://schemas.openxmlformats.org/officeDocument/2006/relationships/image" Target="/ppt/media/image5.png" Id="Rd534be47461d4225" /><Relationship Type="http://schemas.openxmlformats.org/officeDocument/2006/relationships/notesSlide" Target="/ppt/notesSlides/notesSlide7.xml" Id="Ra3e1da2f4ee549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da71d1de9419f" /><Relationship Type="http://schemas.openxmlformats.org/officeDocument/2006/relationships/notesSlide" Target="/ppt/notesSlides/notesSlide8.xml" Id="Rccf32bf48c0a47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271e8416e4ecb" /><Relationship Type="http://schemas.openxmlformats.org/officeDocument/2006/relationships/notesSlide" Target="/ppt/notesSlides/notesSlide9.xml" Id="Rde861d827693480f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0084D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Accuracy</c:v>
              </c:pt>
              <c:pt idx="1">
                <c:v>Macro F1</c:v>
              </c:pt>
              <c:pt idx="2">
                <c:v>Class 1 recall</c:v>
              </c:pt>
              <c:pt idx="3">
                <c:v>Class 3 recall</c:v>
              </c:pt>
            </c:strLit>
          </c:cat>
          <c:val>
            <c:numLit>
              <c:formatCode>General</c:formatCode>
              <c:ptCount val="4"/>
              <c:pt idx="0">
                <c:v>0.8753272718617604</c:v>
              </c:pt>
              <c:pt idx="1">
                <c:v>0.4039900613697231</c:v>
              </c:pt>
              <c:pt idx="2">
                <c:v>0</c:v>
              </c:pt>
              <c:pt idx="3">
                <c:v>0</c:v>
              </c:pt>
            </c:numLit>
          </c:val>
        </c:ser>
        <c:ser>
          <c:idx val="1"/>
          <c:order val="1"/>
          <c:tx>
            <c:v>Improved scratch</c:v>
          </c:tx>
          <c:spPr>
            <a:solidFill xmlns:a="http://schemas.openxmlformats.org/drawingml/2006/main">
              <a:srgbClr val="00786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Accuracy</c:v>
              </c:pt>
              <c:pt idx="1">
                <c:v>Macro F1</c:v>
              </c:pt>
              <c:pt idx="2">
                <c:v>Class 1 recall</c:v>
              </c:pt>
              <c:pt idx="3">
                <c:v>Class 3 recall</c:v>
              </c:pt>
            </c:strLit>
          </c:cat>
          <c:val>
            <c:numLit>
              <c:formatCode>General</c:formatCode>
              <c:ptCount val="4"/>
              <c:pt idx="0">
                <c:v>0.8736067970034715</c:v>
              </c:pt>
              <c:pt idx="1">
                <c:v>0.6731120277293234</c:v>
              </c:pt>
              <c:pt idx="2">
                <c:v>0.7446043165467626</c:v>
              </c:pt>
              <c:pt idx="3">
                <c:v>0.8703703703703703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411564-CF23-4172-91FC-4F610E94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82E77-BE2C-4FAB-BD8F-39DE47D8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DA8E7-9FE0-42AA-841D-459627E2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86F"/>
                </a:solidFill>
              </a:defRPr>
            </a:pPr>
            <a:r>
              <a:rPr sz="1050" b="1">
                <a:solidFill>
                  <a:srgbClr val="00786F"/>
                </a:solidFill>
              </a:rPr>
              <a:t>MIDTERM UPDATE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5B6DE-2892-4F3D-ACF6-8AF820D0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876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1D CNN Improvements for MIT-BIH Heartbeat 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35F04-83FD-479A-ABEF-622ED0AF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Current focus: improve the 1D CNN under class imbalance, keep quantization ready, and plan realistic ESP32 feasibility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1F12B-132E-4D86-B891-41E1C1C7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17352-926E-4645-9C1D-E5A4ED8D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86F"/>
                </a:solidFill>
              </a:defRPr>
            </a:pPr>
            <a:r>
              <a:rPr sz="2250" b="1">
                <a:solidFill>
                  <a:srgbClr val="00786F"/>
                </a:solidFill>
              </a:rPr>
              <a:t>11.9 KB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E230E-66F2-4EE6-A316-675644F6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quantized model 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CE400-EF0C-445C-A02D-7E56BAF7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small enough for first feasibility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FFC1B-1DA3-4EF2-9850-19660732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95750"/>
            <a:ext cx="2952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49B65-F83A-425E-96DE-C7BD5F38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862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17100"/>
                </a:solidFill>
              </a:defRPr>
            </a:pPr>
            <a:r>
              <a:rPr sz="2250" b="1">
                <a:solidFill>
                  <a:srgbClr val="E17100"/>
                </a:solidFill>
              </a:rPr>
              <a:t>87.0%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5E9BC-F54C-4986-B608-ED88F112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86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best rare-class 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9ADD7-E2DE-411A-8D55-45AF3D79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33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class 3 recall after weighting/augmentation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FBCAB-3C0A-4E62-83C3-5685E8A9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2667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BC277-CCDF-42D3-B28D-8EF387DB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862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70036"/>
                </a:solidFill>
              </a:defRPr>
            </a:pPr>
            <a:r>
              <a:rPr sz="2250" b="1">
                <a:solidFill>
                  <a:srgbClr val="C70036"/>
                </a:solidFill>
              </a:rPr>
              <a:t>23.8%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575FD-7ADD-4E9A-BE0A-5AFA4483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86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current limitation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FDFF6-C752-4713-80A7-068DE008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33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class 1 precision remains low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a3e9ebea64020"/>
          <a:srcRect xmlns:a="http://schemas.openxmlformats.org/drawingml/2006/main" l="9625" t="0" r="9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1143000"/>
            <a:ext cx="2381250" cy="40957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59954-C69D-4DCD-B3D7-61D4A35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48E"/>
                </a:solidFill>
              </a:defRPr>
            </a:pPr>
            <a:r>
              <a:rPr sz="1125">
                <a:solidFill>
                  <a:srgbClr val="62748E"/>
                </a:solidFill>
              </a:rPr>
              <a:t>Assistants meeting | 10 min presentation + 10 min Q&amp;A</a:t>
            </a:r>
          </a:p>
        </p:txBody>
      </p:sp>
    </p:spTree>
    <p:extLst>
      <p:ext uri="{BB962C8B-B14F-4D97-AF65-F5344CB8AC3E}">
        <p14:creationId xmlns:p14="http://schemas.microsoft.com/office/powerpoint/2010/main" val="249384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CF5498-7268-48B6-9E0B-88A5FEAF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8096B-6B6D-4BAE-A151-90EC3E36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ECG MODEL COMPRESSION MIDTERM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78927-6293-4DCC-99F4-6E35B037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1-slide topic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27583-AC1E-44F9-B44C-AE739BA6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MIT-BIH heartbeat classification | 1D CNN | quantization | ESP32-WROOM-32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FBE7A-89E0-4BD3-BB59-CD5D68E6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5147A-E5EA-422B-8C9A-5894BE70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Input and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7A7DE-B86C-43BC-84B0-C3962470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4267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MIT-BIH heartbeat CSV data: 187 signal values + class label per heartbeat.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Five labels: 0=N normal, 1=S supraventricular, 2=V ventricular, 3=F fusion, 4=Q unknown/paced/other.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Main challenge: very strong class imbalance, especially classes 1 and 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E9FB2-4F42-4A70-A3B0-D7A8483E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240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C28B4-1BDC-4B74-BC3F-92F7428F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95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Model 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D4B70-AC18-4AD5-8255-8C8C6FA3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4267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Train a compact 1D CNN for heartbeat classification.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Compare baseline, improved Keras, and from-scratch CNN behavior.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Keep the model simple enough to quantize and later test on ESP32.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54934-806F-43C9-A5FD-47451995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33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FB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CC93E-8CFB-4166-BC1F-82CBE9AB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10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17100"/>
                </a:solidFill>
              </a:defRPr>
            </a:pPr>
            <a:r>
              <a:rPr sz="1050" b="1">
                <a:solidFill>
                  <a:srgbClr val="E17100"/>
                </a:solidFill>
              </a:rPr>
              <a:t>metric focus: per-class recall + precision, not only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97ECC-E7C4-4222-B840-BCCF3211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4095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F0F9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DBCEE-20BC-4810-9C36-C273FC5F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10200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9A8"/>
                </a:solidFill>
              </a:defRPr>
            </a:pPr>
            <a:r>
              <a:rPr sz="1050" b="1">
                <a:solidFill>
                  <a:srgbClr val="0069A8"/>
                </a:solidFill>
              </a:rPr>
              <a:t>later hardware focus: size, RAM, latency</a:t>
            </a:r>
          </a:p>
        </p:txBody>
      </p:sp>
    </p:spTree>
    <p:extLst>
      <p:ext uri="{BB962C8B-B14F-4D97-AF65-F5344CB8AC3E}">
        <p14:creationId xmlns:p14="http://schemas.microsoft.com/office/powerpoint/2010/main" val="5483909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91419E-1540-4443-AC8C-30828329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48927-8138-422E-81D3-B0BFC060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ECG MODEL COMPRESSION MIDTERM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B4F43-EDFC-486A-AE9C-CB1EAB22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What has been done so far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C7248-A196-43E6-A570-04FE0DA2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MIT-BIH heartbeat classification | 1D CNN | quantization | ESP32-WROOM-32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B125C-A9F1-4EEF-9B03-18372E53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28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2E80C-A57E-4FCD-A5D3-3C4394EE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0E880-E4D4-4874-AC38-9CCD5239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573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Baseline data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FA36E-162C-4CEB-BF23-5A0C0378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Load processed MIT-BIH CSVs, train/test split handling, metrics + reports.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01AFA-EC16-46B1-908E-806B77CA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028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D2FE4-C032-4126-AE39-E0D23A48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0F602-B250-46B8-AA7E-F95E95BE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955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Manual/from-scratch CNN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28355-8345-4444-B543-42A8CE7F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622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Forward/backward passes for Conv1D, ReLU, pooling, dense, loss, and updates.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8E26B-4B65-491C-B372-03BCEA7C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028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FA38F-2029-478F-A6F2-3058E649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59A01-6F49-4459-A5C3-715858B7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33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Quantization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4D453-6149-4C71-A100-49FBE22D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004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Export Keras-compatible model, convert to int8 TFLite, evaluate int8 accuracy and size.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E5C49-C7BE-41F6-84C9-4EDD50B0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1028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C5A30-1542-4249-8A96-37A137BF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435DB-9213-4320-8E8B-5C34ACC0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719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ESP32 setup started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4C67F2-ADF6-453F-8EFA-1ABF24DE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386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Board connection and simple sketches/quantization path checked; full model deployment is planned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7DCDB-4B6F-4AC8-9E4E-EB79B697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028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3BFA8-8CED-4ED3-AF4E-EEE0FA86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08B81B-612D-4354-8CE6-AB6171D6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101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Imbalance experiments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77814-CD36-4FF9-B639-BBDF103A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76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Class weights, rare-class augmentation, smaller improved CNN structure, macro-F1 reporting.</a:t>
            </a:r>
          </a:p>
        </p:txBody>
      </p:sp>
    </p:spTree>
    <p:extLst>
      <p:ext uri="{BB962C8B-B14F-4D97-AF65-F5344CB8AC3E}">
        <p14:creationId xmlns:p14="http://schemas.microsoft.com/office/powerpoint/2010/main" val="12900525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0276E9-5A19-4717-92B1-2F12C6E5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AFEF4-FA9C-4DFA-81CA-AEB4C4F6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ECG MODEL COMPRESSION MIDTERM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66DEB-3050-4A54-9A53-8E175E62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What worked well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1A35E-E8A9-4310-9329-8DE6B821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MIT-BIH heartbeat classification | 1D CNN | quantization | ESP32-WROOM-32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F4AF2-E6D4-4BFD-AE2A-599166A7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E0565-6735-4188-BFFC-D76A49BB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69A8"/>
                </a:solidFill>
              </a:defRPr>
            </a:pPr>
            <a:r>
              <a:rPr sz="2250" b="1">
                <a:solidFill>
                  <a:srgbClr val="0069A8"/>
                </a:solidFill>
              </a:rPr>
              <a:t>87.5%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2628C-F02A-4466-A624-ACC8ED03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baseline test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ADBE1-830A-4635-9D0B-1F39C259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from-scratch baseline, but imbalanced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ED9FF-8E64-4D39-BC82-A29E3D1D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24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105D0-0A8D-4F60-ABB1-85045A1B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A55"/>
                </a:solidFill>
              </a:defRPr>
            </a:pPr>
            <a:r>
              <a:rPr sz="2250" b="1">
                <a:solidFill>
                  <a:srgbClr val="007A55"/>
                </a:solidFill>
              </a:rPr>
              <a:t>90.9%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0507B-377F-438D-A330-424AA7E8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improved Keras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8911C-7E80-464C-B7EC-77B3EA30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62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macro F1 improved strongly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3B802-9F41-45AD-A8BC-ED726B74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E6FFC-F981-419D-93D8-455A9A3F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86F"/>
                </a:solidFill>
              </a:defRPr>
            </a:pPr>
            <a:r>
              <a:rPr sz="2250" b="1">
                <a:solidFill>
                  <a:srgbClr val="00786F"/>
                </a:solidFill>
              </a:rPr>
              <a:t>87.9%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38DC9-4717-4C71-8285-DF812634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improved scratch int8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1BF4A-44C4-4189-AFC5-0E01D0FF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int8 did not hurt accuracy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71DE0-2F0C-41B4-BBFD-DFD30D69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24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90A19-5922-43A7-AA4D-0348C6D5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14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17100"/>
                </a:solidFill>
              </a:defRPr>
            </a:pPr>
            <a:r>
              <a:rPr sz="2250" b="1">
                <a:solidFill>
                  <a:srgbClr val="E17100"/>
                </a:solidFill>
              </a:rPr>
              <a:t>23.0 KB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98F91-C1C0-4D4D-A49C-C821BEA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int8 size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1A599-6C01-4B6D-AB20-5494C592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62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about 74% smaller than Keras export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71f46ebed44ee"/>
          <a:stretch xmlns:a="http://schemas.openxmlformats.org/drawingml/2006/main"/>
        </p:blipFill>
        <p:spPr>
          <a:xfrm xmlns:a="http://schemas.openxmlformats.org/drawingml/2006/main">
            <a:off x="1166813" y="3143250"/>
            <a:ext cx="4143375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352302-36AB-4C91-832A-D0805A43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99790E-0BD0-4B3E-96F4-5E8C90EF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Takeaway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1B554C-769F-4598-B812-86CE3DC1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43325"/>
            <a:ext cx="39814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The CNN training and evaluation loop is reproducible.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Quantization seems feasible and does not destroy accuracy on this run.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The model size suggests ESP32 testing is realistic, but still needs careful memory/latency checks.</a:t>
            </a:r>
          </a:p>
        </p:txBody>
      </p:sp>
    </p:spTree>
    <p:extLst>
      <p:ext uri="{BB962C8B-B14F-4D97-AF65-F5344CB8AC3E}">
        <p14:creationId xmlns:p14="http://schemas.microsoft.com/office/powerpoint/2010/main" val="628141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3308D5-2CA2-4C11-9FB2-84C10B84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DBD1C-D4C8-42D6-A506-C3AEC34F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ECG MODEL COMPRESSION MIDTERM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3CEFF-3DCF-43DE-A6DE-0980D22A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What did not work well: class imbalance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DE369-BE75-47C9-8917-AA76D5DE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MIT-BIH heartbeat classification | 1D CNN | quantization | ESP32-WROOM-32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a72b946ef4d47"/>
          <a:stretch xmlns:a="http://schemas.openxmlformats.org/drawingml/2006/main"/>
        </p:blipFill>
        <p:spPr>
          <a:xfrm xmlns:a="http://schemas.openxmlformats.org/drawingml/2006/main">
            <a:off x="685800" y="1976438"/>
            <a:ext cx="4762500" cy="2381250"/>
          </a:xfrm>
          <a:prstGeom xmlns:a="http://schemas.openxmlformats.org/drawingml/2006/main" prst="roundRect">
            <a:avLst>
              <a:gd name="adj" fmla="val 2254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52b277a3544b0"/>
          <a:stretch xmlns:a="http://schemas.openxmlformats.org/drawingml/2006/main"/>
        </p:blipFill>
        <p:spPr>
          <a:xfrm xmlns:a="http://schemas.openxmlformats.org/drawingml/2006/main">
            <a:off x="5953125" y="1976438"/>
            <a:ext cx="4762500" cy="2381250"/>
          </a:xfrm>
          <a:prstGeom xmlns:a="http://schemas.openxmlformats.org/drawingml/2006/main" prst="roundRect">
            <a:avLst>
              <a:gd name="adj" fmla="val 225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047E-3277-46E2-BD86-EAEA46D9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334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C016A-0767-432C-8045-FA7FC973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14950"/>
            <a:ext cx="891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Baseline symptom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FA35D-8456-48D0-811B-E5C948B8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959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Overall accuracy: 87.5% looks acceptable.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Class 1 recall: 0.0%; class 3 recall: 0.0%.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Conclusion: accuracy alone hides clinically important rare-class failures.</a:t>
            </a:r>
          </a:p>
        </p:txBody>
      </p:sp>
    </p:spTree>
    <p:extLst>
      <p:ext uri="{BB962C8B-B14F-4D97-AF65-F5344CB8AC3E}">
        <p14:creationId xmlns:p14="http://schemas.microsoft.com/office/powerpoint/2010/main" val="13587582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9C402D-05CC-40DD-98DE-9E446B47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A47F5-50A1-47B6-9208-E170A491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ECG MODEL COMPRESSION MIDTERM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16B56-EDCF-4A36-AE57-E6A0F4D5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Improvement experiment: weights + augmentation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D769B-4C73-4F1A-B536-5B8BBDE5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MIT-BIH heartbeat classification | 1D CNN | quantization | ESP32-WROOM-32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FCF9C-BE8C-4EFA-9422-746D8A2A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381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94E4E-4C21-4FC0-A7D6-620AF870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Changes made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FB586-B658-4146-B3D9-40CA52D7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3886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Class-weighted softmax cross entropy: mistakes on rare classes cost more.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Rare-class augmentation only for minority classes: small noise, shift, scaling, baseline drift.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Smaller improved CNN: Conv1D blocks + global average pooling + dropout + dense head.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Macro F1 added because it treats all classes more equally than accuracy.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DC51C-501A-4C28-B70D-C6FB3310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2400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953125" y="1952625"/>
          <a:ext xmlns:a="http://schemas.openxmlformats.org/drawingml/2006/main" cx="4381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d42571e3d1402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D545C-BD20-4BC4-A061-A1761FDD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19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0036"/>
                </a:solidFill>
              </a:defRPr>
            </a:pPr>
            <a:r>
              <a:rPr sz="1200" b="1">
                <a:solidFill>
                  <a:srgbClr val="C70036"/>
                </a:solidFill>
              </a:rPr>
              <a:t>Rare-class recall improved clearly, but this creates more false positives.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1B228-5B8F-4D7D-B442-23475403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2667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FF1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DC430-5E74-4FA4-8F18-28FA4C76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36"/>
                </a:solidFill>
              </a:defRPr>
            </a:pPr>
            <a:r>
              <a:rPr sz="1050" b="1">
                <a:solidFill>
                  <a:srgbClr val="C70036"/>
                </a:solidFill>
              </a:rPr>
              <a:t>class 3 weight capped at 10x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3948-520E-4381-A61C-2FE924F7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86375"/>
            <a:ext cx="3143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FB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8F87D-1B78-4A76-9925-D40DF79E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62575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17100"/>
                </a:solidFill>
              </a:defRPr>
            </a:pPr>
            <a:r>
              <a:rPr sz="1050" b="1">
                <a:solidFill>
                  <a:srgbClr val="E17100"/>
                </a:solidFill>
              </a:rPr>
              <a:t>augmented class 3: +1455 samples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33ED8-78E7-4AD9-9AB1-B2A026FF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86375"/>
            <a:ext cx="2667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F0F9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33482-618D-4C82-AF5B-66E13F90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3625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9A8"/>
                </a:solidFill>
              </a:defRPr>
            </a:pPr>
            <a:r>
              <a:rPr sz="1050" b="1">
                <a:solidFill>
                  <a:srgbClr val="0069A8"/>
                </a:solidFill>
              </a:rPr>
              <a:t>scratch training time: 73 min</a:t>
            </a:r>
          </a:p>
        </p:txBody>
      </p:sp>
    </p:spTree>
    <p:extLst>
      <p:ext uri="{BB962C8B-B14F-4D97-AF65-F5344CB8AC3E}">
        <p14:creationId xmlns:p14="http://schemas.microsoft.com/office/powerpoint/2010/main" val="16742769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935DF-0CC3-4123-BCDA-71ABAABF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36300-23AB-4C68-A51E-296D705A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ECG MODEL COMPRESSION MIDTERM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8BBBC-E2E4-4D19-8CCC-1A3B25C4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Current result and remaining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11718-8BA6-4FEE-9722-A1EE6B12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MIT-BIH heartbeat classification | 1D CNN | quantization | ESP32-WROOM-32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4be47461d4225"/>
          <a:stretch xmlns:a="http://schemas.openxmlformats.org/drawingml/2006/main"/>
        </p:blipFill>
        <p:spPr>
          <a:xfrm xmlns:a="http://schemas.openxmlformats.org/drawingml/2006/main">
            <a:off x="914400" y="1428750"/>
            <a:ext cx="445770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21DA2-0F0C-4C06-963C-A1B1395F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47800"/>
            <a:ext cx="43338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43DC7-2D00-4D24-8A24-92939523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19250"/>
            <a:ext cx="391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What improved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EEF4C-CAED-4892-9F4E-3E9FF451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38385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Class 1 recall reached 74.5%.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Class 3 recall reached 87.0%.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Macro recall is now 87.8%.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53F24-0C8F-4E48-8528-6143C0D0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4333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8A399-1863-4CAE-B413-81D08A7E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14700"/>
            <a:ext cx="391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What is still weak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0FE92-C499-403F-8A27-09B38118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95700"/>
            <a:ext cx="3838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Class 1 precision is only 23.8%.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Class 3 precision is only 20.6%.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Many normal beats are now predicted as rare abnormal classes.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B8AC3-8882-4551-A051-969BAFB8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Interpretation: the model became more sensitive to rare classes, but less specific. The next tuning step is to find a better balance.</a:t>
            </a:r>
          </a:p>
        </p:txBody>
      </p:sp>
    </p:spTree>
    <p:extLst>
      <p:ext uri="{BB962C8B-B14F-4D97-AF65-F5344CB8AC3E}">
        <p14:creationId xmlns:p14="http://schemas.microsoft.com/office/powerpoint/2010/main" val="1981879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072BF2-C3E6-4305-AD8D-5C8348A7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BD32E-48A8-4197-AA49-8E06EBA2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ECG MODEL COMPRESSION MIDTERM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2DA0B-AC7F-491B-846C-81133128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ESP32 feasibility: planned work, not final 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6D4E8-A838-45D7-90CE-2EC7D9C1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MIT-BIH heartbeat classification | 1D CNN | quantization | ESP32-WROOM-32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13D3C-02FE-45C5-9229-2ED057B4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B7A36-81D5-452F-8066-3047730B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Current hardware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4F230-1C6D-4CE2-AB4D-B73DC480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42672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ESP32-WROOM-32 board connection and simple sketches were checked.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Quantized model export exists and is small enough for first experiments.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Next step is a controlled TinyML test with a selected CNN candidate.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A060F-6E04-4DC9-B549-5283930E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24000"/>
            <a:ext cx="2190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8049E-E38F-42F2-96C8-3BDFE86B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14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86F"/>
                </a:solidFill>
              </a:defRPr>
            </a:pPr>
            <a:r>
              <a:rPr sz="2250" b="1">
                <a:solidFill>
                  <a:srgbClr val="00786F"/>
                </a:solidFill>
              </a:rPr>
              <a:t>11.9 KB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2FCD9-E64E-417C-BBD7-6C8863D1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14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small int8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739BC-2C3D-4A7C-B5DF-B050FC4F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62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candidate size for feasibility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0CB11-9C0B-4CB6-A9F0-F448AC9E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24000"/>
            <a:ext cx="2190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C2AA1-4698-4F5D-B733-FD519B6F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14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17100"/>
                </a:solidFill>
              </a:defRPr>
            </a:pPr>
            <a:r>
              <a:rPr sz="2250" b="1">
                <a:solidFill>
                  <a:srgbClr val="E17100"/>
                </a:solidFill>
              </a:rPr>
              <a:t>latency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94DBF-CA2B-4157-867A-D8B2563B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14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target to measure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E15AF-521E-400D-9C8D-DDEBA7C0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62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must be tested reliably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36B75-F52B-4073-9AD7-C18C101D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52750"/>
            <a:ext cx="2190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45859-8F3B-4E79-A03B-6044B51F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43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70036"/>
                </a:solidFill>
              </a:defRPr>
            </a:pPr>
            <a:r>
              <a:rPr sz="2250" b="1">
                <a:solidFill>
                  <a:srgbClr val="C70036"/>
                </a:solidFill>
              </a:rPr>
              <a:t>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666CA-3737-4070-B062-4C8C6C68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target to measure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1A64B-769C-4F8C-83AE-34B78B84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90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arena/free heap budget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47CB2-0625-43DA-ADB9-9E280AF2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52750"/>
            <a:ext cx="2190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415199-6B1C-414C-A859-4E613D9C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43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69A8"/>
                </a:solidFill>
              </a:defRPr>
            </a:pPr>
            <a:r>
              <a:rPr sz="2250" b="1">
                <a:solidFill>
                  <a:srgbClr val="0069A8"/>
                </a:solidFill>
              </a:rPr>
              <a:t>fit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0BF1B-0813-4334-A485-C2762356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planned analysis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E47DED-5F7A-41F6-9084-5F3B9DA5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90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estimate ops + arena before testing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B1250-32B9-48E0-AC7E-409F295D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99345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7205A-64C6-495B-AC9D-2860D137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9515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Meaning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8B84F-8A45-4BA6-BB32-0395127C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91075"/>
            <a:ext cx="9439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ESP32 testing should not be presented as finished deployment yet.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We first need to estimate model size, tensor arena/RAM, and runtime for the chosen CNN.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Then upload the trained int8 model and read predictions from the serial monitor.</a:t>
            </a:r>
          </a:p>
        </p:txBody>
      </p:sp>
    </p:spTree>
    <p:extLst>
      <p:ext uri="{BB962C8B-B14F-4D97-AF65-F5344CB8AC3E}">
        <p14:creationId xmlns:p14="http://schemas.microsoft.com/office/powerpoint/2010/main" val="8636164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B0C6A6-82AB-407C-B37C-3E76E9BA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6B400-CF49-4AC2-9F94-66393869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ECG MODEL COMPRESSION MIDTERM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67143-AC3B-4C8F-9D6E-27AE0457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Next planned steps and open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BA80E-6D81-43CA-8A8B-9DCCD2F8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MIT-BIH heartbeat classification | 1D CNN | quantization | ESP32-WROOM-32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36B4F-5C88-4C3C-87BE-544839F5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32D19-5248-4A32-8890-B25EABF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Next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36EA3-2EBE-4C30-8FF6-AE191C82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4577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Tune class-weight cap and augmentation amount to reduce false positives.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Add weighted sampling: draw rare-class examples more often during training.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Compare candidates fairly: tiny quantized CNN, improved Keras CNN, improved from-scratch CNN.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Estimate ESP32 fit: model size, tensor arena/RAM, latency, supported operators.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741CD-F611-4D68-B8EC-6D7974CB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BB273-82B5-409B-8AA7-D9B523CA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Open questions for Q&amp;A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39A41-2353-4042-8A41-A34348FF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76450"/>
            <a:ext cx="44577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Which metric should be primary: overall accuracy, macro F1, rare-class recall, or false-alarm rate?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How much loss of normal-class precision is acceptable when improving rare-class recall?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Should we stay strictly with MIT-BIH CSVs or include another dataset only for comparison?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- What ESP32 latency/memory target would be considered good enough for this project?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44CFD-4AE8-4CA0-9148-EB3D6876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6F"/>
                </a:solidFill>
              </a:defRPr>
            </a:pPr>
            <a:r>
              <a:rPr sz="1800" b="1">
                <a:solidFill>
                  <a:srgbClr val="00786F"/>
                </a:solidFill>
              </a:rPr>
              <a:t>Main message: the CNN can be improved, but the key challenge is balancing rare-class detection against false alarms.</a:t>
            </a:r>
          </a:p>
        </p:txBody>
      </p:sp>
    </p:spTree>
    <p:extLst>
      <p:ext uri="{BB962C8B-B14F-4D97-AF65-F5344CB8AC3E}">
        <p14:creationId xmlns:p14="http://schemas.microsoft.com/office/powerpoint/2010/main" val="239135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2026-06-26T15:11:53.5660000Z</dcterms:created>
  <dcterms:modified xsi:type="dcterms:W3CDTF">2026-06-26T15:11:53.5660000Z</dcterms:modified>
</coreProperties>
</file>